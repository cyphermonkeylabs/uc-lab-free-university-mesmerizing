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g" ContentType="image/jpeg"/>
  <Default Extension="jpeg" ContentType="image/jpeg"/>
  <Default Extension="gif" ContentType="image/gif"/>
  <Default Extension="svg" ContentType="image/svg+xml"/>
  <Default Extension="fntdata" ContentType="application/x-fontdata"/>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71"/>
  </p:sldIdLst>
  <p:sldSz cx="12192000" cy="7310000" type="custom"/>
  <p:notesSz cx="12192000" cy="6858000"/>
  <p:embeddedFontLst>
    <p:embeddedFont>
      <p:font typeface="Liter" charset="-122" pitchFamily="34"/>
      <p:regular r:id="rId65"/>
    </p:embeddedFont>
    <p:embeddedFont>
      <p:font typeface="MiSans" charset="-122" pitchFamily="34"/>
      <p:regular r:id="rId66"/>
    </p:embeddedFont>
    <p:embeddedFont>
      <p:font typeface="JetBrains Mono" charset="-122" pitchFamily="34"/>
      <p:regular r:id="rId6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ableStyles" Target="tableStyles.xml"/><Relationship Id="rId71" Type="http://schemas.openxmlformats.org/officeDocument/2006/relationships/slide" Target="slides/slide63.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cml-github.png"/><Relationship Id="rId3" Type="http://schemas.openxmlformats.org/officeDocument/2006/relationships/hyperlink" Target="https://github.com/cipher0x9" TargetMode="External"/><Relationship Id="rId4" Type="http://schemas.openxmlformats.org/officeDocument/2006/relationships/hyperlink" Target="https://github.com/CypherMonkeyLabs" TargetMode="External"/><Relationship Id="rId5" Type="http://schemas.openxmlformats.org/officeDocument/2006/relationships/image" Target="../media/cml-globe.png"/><Relationship Id="rId6" Type="http://schemas.openxmlformats.org/officeDocument/2006/relationships/hyperlink" Target="https://cyphermonkeylabs.com" TargetMode="External"/><Relationship Id="rId7" Type="http://schemas.openxmlformats.org/officeDocument/2006/relationships/image" Target="../media/cml-x.png"/><Relationship Id="rId8" Type="http://schemas.openxmlformats.org/officeDocument/2006/relationships/hyperlink" Target="https://x.com/Cypher0x9" TargetMode="External"/><Relationship Id="rId9" Type="http://schemas.openxmlformats.org/officeDocument/2006/relationships/image" Target="../media/cml-linkedin.png"/><Relationship Id="rId10" Type="http://schemas.openxmlformats.org/officeDocument/2006/relationships/hyperlink" Target="https://www.linkedin.com/in/luckylakshmanucwebex" TargetMode="External"/><Relationship Id="rId11" Type="http://schemas.openxmlformats.org/officeDocument/2006/relationships/image" Target="../media/cml-huggingface.png"/><Relationship Id="rId12" Type="http://schemas.openxmlformats.org/officeDocument/2006/relationships/hyperlink" Target="https://huggingface.co/Cypher0x9" TargetMode="Externa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www.cisco.com/c/en/us/support/unified-communications/unified-communications-manager-callmanager/products-implementation-design-guides-list.html" TargetMode="External"/><Relationship Id="rId3" Type="http://schemas.openxmlformats.org/officeDocument/2006/relationships/hyperlink" Target="https://help.webex.com" TargetMode="External"/><Relationship Id="rId4" Type="http://schemas.openxmlformats.org/officeDocument/2006/relationships/image" Target="../media/cml-github.png"/><Relationship Id="rId5" Type="http://schemas.openxmlformats.org/officeDocument/2006/relationships/hyperlink" Target="https://github.com/cipher0x9" TargetMode="External"/><Relationship Id="rId6" Type="http://schemas.openxmlformats.org/officeDocument/2006/relationships/hyperlink" Target="https://github.com/CypherMonkeyLabs" TargetMode="External"/><Relationship Id="rId7" Type="http://schemas.openxmlformats.org/officeDocument/2006/relationships/image" Target="../media/cml-globe.png"/><Relationship Id="rId8" Type="http://schemas.openxmlformats.org/officeDocument/2006/relationships/hyperlink" Target="https://cyphermonkeylabs.com" TargetMode="External"/><Relationship Id="rId9" Type="http://schemas.openxmlformats.org/officeDocument/2006/relationships/image" Target="../media/cml-x.png"/><Relationship Id="rId10" Type="http://schemas.openxmlformats.org/officeDocument/2006/relationships/hyperlink" Target="https://x.com/Cypher0x9" TargetMode="External"/><Relationship Id="rId11" Type="http://schemas.openxmlformats.org/officeDocument/2006/relationships/image" Target="../media/cml-linkedin.png"/><Relationship Id="rId12" Type="http://schemas.openxmlformats.org/officeDocument/2006/relationships/hyperlink" Target="https://www.linkedin.com/in/luckylakshmanucwebex" TargetMode="External"/><Relationship Id="rId13" Type="http://schemas.openxmlformats.org/officeDocument/2006/relationships/image" Target="../media/cml-huggingface.png"/><Relationship Id="rId14" Type="http://schemas.openxmlformats.org/officeDocument/2006/relationships/hyperlink" Target="https://huggingface.co/Cypher0x9" TargetMode="Externa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yphermonkeylabs.com/uc-lab-free-university-mesmerizing/" TargetMode="External"/><Relationship Id="rId3" Type="http://schemas.openxmlformats.org/officeDocument/2006/relationships/image" Target="../media/cml-github.png"/><Relationship Id="rId4" Type="http://schemas.openxmlformats.org/officeDocument/2006/relationships/hyperlink" Target="https://github.com/cipher0x9" TargetMode="External"/><Relationship Id="rId5" Type="http://schemas.openxmlformats.org/officeDocument/2006/relationships/hyperlink" Target="https://github.com/CypherMonkeyLabs" TargetMode="External"/><Relationship Id="rId6" Type="http://schemas.openxmlformats.org/officeDocument/2006/relationships/image" Target="../media/cml-globe.png"/><Relationship Id="rId7" Type="http://schemas.openxmlformats.org/officeDocument/2006/relationships/hyperlink" Target="https://cyphermonkeylabs.com" TargetMode="External"/><Relationship Id="rId8" Type="http://schemas.openxmlformats.org/officeDocument/2006/relationships/image" Target="../media/cml-x.png"/><Relationship Id="rId9" Type="http://schemas.openxmlformats.org/officeDocument/2006/relationships/hyperlink" Target="https://x.com/Cypher0x9" TargetMode="External"/><Relationship Id="rId10" Type="http://schemas.openxmlformats.org/officeDocument/2006/relationships/image" Target="../media/cml-linkedin.png"/><Relationship Id="rId11" Type="http://schemas.openxmlformats.org/officeDocument/2006/relationships/hyperlink" Target="https://www.linkedin.com/in/luckylakshmanucwebex" TargetMode="External"/><Relationship Id="rId12" Type="http://schemas.openxmlformats.org/officeDocument/2006/relationships/image" Target="../media/cml-huggingface.png"/><Relationship Id="rId13" Type="http://schemas.openxmlformats.org/officeDocument/2006/relationships/hyperlink" Target="https://huggingface.co/Cypher0x9" TargetMode="External"/></Relationships>
</file>

<file path=ppt/slides/slide1.xml><?xml version="1.0" encoding="utf-8"?>
<p:sld xmlns:a="http://schemas.openxmlformats.org/drawingml/2006/main" xmlns:p="http://schemas.openxmlformats.org/presentationml/2006/main" xmlns:pptd="urn:uc-lab:pptd"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id="2" name="label-square"/>
          <p:cNvSpPr/>
          <p:nvPr/>
        </p:nvSpPr>
        <p:spPr>
          <a:xfrm>
            <a:off x="609600" y="508000"/>
            <a:ext cx="431800" cy="431800"/>
          </a:xfrm>
          <a:prstGeom prst="rect">
            <a:avLst/>
          </a:prstGeom>
          <a:solidFill>
            <a:srgbClr val="820000"/>
          </a:solidFill>
          <a:ln>
            <a:noFill/>
          </a:ln>
        </p:spPr>
      </p:sp>
      <p:sp>
        <p:nvSpPr>
          <p:cNvPr id="3" name="label-square-text"/>
          <p:cNvSpPr txBox="1"/>
          <p:nvPr/>
        </p:nvSpPr>
        <p:spPr>
          <a:xfrm>
            <a:off x="609600" y="508000"/>
            <a:ext cx="431800" cy="431800"/>
          </a:xfrm>
          <a:prstGeom prst="rect">
            <a:avLst/>
          </a:prstGeom>
          <a:noFill/>
          <a:ln>
            <a:noFill/>
          </a:ln>
        </p:spPr>
        <p:txBody>
          <a:bodyPr lIns="0" rIns="0" tIns="0" bIns="0" wrap="none" rtlCol="0" anchor="ctr"/>
          <a:lstStyle/>
          <a:p>
            <a:pPr algn="ctr">
              <a:lnSpc>
                <a:spcPct val="120000"/>
              </a:lnSpc>
            </a:pPr>
            <a:r>
              <a:rPr lang="en-US" sz="1000" noProof="1" b="1">
                <a:solidFill>
                  <a:srgbClr val="FFFFFF"/>
                </a:solidFill>
                <a:latin typeface="Liter"/>
                <a:ea typeface="MiSans"/>
              </a:rPr>
              <a:t>UC</a:t>
            </a:r>
            <a:endParaRPr lang="en-US" sz="1000" noProof="1"/>
          </a:p>
        </p:txBody>
      </p:sp>
      <p:sp>
        <p:nvSpPr>
          <p:cNvPr id="4" name="kicker"/>
          <p:cNvSpPr txBox="1"/>
          <p:nvPr/>
        </p:nvSpPr>
        <p:spPr>
          <a:xfrm>
            <a:off x="1168400" y="584200"/>
            <a:ext cx="5080000" cy="279400"/>
          </a:xfrm>
          <a:prstGeom prst="rect">
            <a:avLst/>
          </a:prstGeom>
          <a:noFill/>
          <a:ln>
            <a:noFill/>
          </a:ln>
        </p:spPr>
        <p:txBody>
          <a:bodyPr lIns="0" rIns="0" tIns="0" bIns="0" wrap="none" rtlCol="0"/>
          <a:lstStyle/>
          <a:p>
            <a:pPr>
              <a:lnSpc>
                <a:spcPct val="120000"/>
              </a:lnSpc>
            </a:pPr>
            <a:r>
              <a:rPr lang="en-US" sz="1100" noProof="1" spc="100" kern="0">
                <a:solidFill>
                  <a:srgbClr val="5A5A5A"/>
                </a:solidFill>
                <a:latin typeface="Liter"/>
                <a:ea typeface="MiSans"/>
              </a:rPr>
              <a:t>TECHNICAL BRIEFING / ENTERPRISE VOICE &amp; COLLABORATION</a:t>
            </a:r>
            <a:endParaRPr lang="en-US" sz="1100" noProof="1"/>
          </a:p>
        </p:txBody>
      </p:sp>
      <p:sp>
        <p:nvSpPr>
          <p:cNvPr id="5" name="title"/>
          <p:cNvSpPr txBox="1"/>
          <p:nvPr/>
        </p:nvSpPr>
        <p:spPr>
          <a:xfrm>
            <a:off x="609600" y="1371600"/>
            <a:ext cx="7112000" cy="1524000"/>
          </a:xfrm>
          <a:prstGeom prst="rect">
            <a:avLst/>
          </a:prstGeom>
          <a:noFill/>
          <a:ln>
            <a:noFill/>
          </a:ln>
        </p:spPr>
        <p:txBody>
          <a:bodyPr lIns="0" rIns="0" tIns="0" bIns="0" wrap="square" rtlCol="0"/>
          <a:lstStyle/>
          <a:p>
            <a:pPr>
              <a:lnSpc>
                <a:spcPct val="115000"/>
              </a:lnSpc>
            </a:pPr>
            <a:r>
              <a:rPr lang="en-US" sz="3300" noProof="1" b="1">
                <a:solidFill>
                  <a:srgbClr val="000000"/>
                </a:solidFill>
                <a:latin typeface="Liter"/>
                <a:ea typeface="MiSans"/>
              </a:rPr>
              <a:t>Enterprise Voice with Cisco</a:t>
            </a:r>
            <a:endParaRPr lang="en-US" sz="3300" noProof="1"/>
          </a:p>
          <a:p>
            <a:pPr>
              <a:lnSpc>
                <a:spcPct val="115000"/>
              </a:lnSpc>
              <a:spcBef>
                <a:spcPts val="600"/>
              </a:spcBef>
            </a:pPr>
            <a:r>
              <a:rPr lang="en-US" sz="3300" noProof="1" b="1">
                <a:solidFill>
                  <a:srgbClr val="000000"/>
                </a:solidFill>
                <a:latin typeface="Liter"/>
                <a:ea typeface="MiSans"/>
              </a:rPr>
              <a:t>Technologies, Contact Center</a:t>
            </a:r>
            <a:endParaRPr lang="en-US" sz="3300" noProof="1"/>
          </a:p>
          <a:p>
            <a:pPr>
              <a:lnSpc>
                <a:spcPct val="115000"/>
              </a:lnSpc>
              <a:spcBef>
                <a:spcPts val="600"/>
              </a:spcBef>
            </a:pPr>
            <a:r>
              <a:rPr lang="en-US" sz="3300" noProof="1" b="1">
                <a:solidFill>
                  <a:srgbClr val="000000"/>
                </a:solidFill>
                <a:latin typeface="Liter"/>
                <a:ea typeface="MiSans"/>
              </a:rPr>
              <a:t>&amp; Cloud Migration</a:t>
            </a:r>
            <a:endParaRPr lang="en-US" sz="3300" noProof="1"/>
          </a:p>
        </p:txBody>
      </p:sp>
      <p:sp>
        <p:nvSpPr>
          <p:cNvPr id="6" name="keyline"/>
          <p:cNvSpPr txBox="1"/>
          <p:nvPr/>
        </p:nvSpPr>
        <p:spPr>
          <a:xfrm>
            <a:off x="609600" y="3327400"/>
            <a:ext cx="6858000" cy="838200"/>
          </a:xfrm>
          <a:prstGeom prst="rect">
            <a:avLst/>
          </a:prstGeom>
          <a:noFill/>
          <a:ln>
            <a:noFill/>
          </a:ln>
        </p:spPr>
        <p:txBody>
          <a:bodyPr lIns="0" rIns="0" tIns="0" bIns="0" wrap="square" rtlCol="0"/>
          <a:lstStyle/>
          <a:p>
            <a:pPr>
              <a:lnSpc>
                <a:spcPct val="150000"/>
              </a:lnSpc>
            </a:pPr>
            <a:r>
              <a:rPr lang="en-US" sz="1300" noProof="1">
                <a:solidFill>
                  <a:srgbClr val="000000"/>
                </a:solidFill>
                <a:latin typeface="Liter"/>
                <a:ea typeface="MiSans"/>
              </a:rPr>
              <a:t>From codecs and SIP signaling to CUCM configuration, contact center routing</a:t>
            </a:r>
            <a:endParaRPr lang="en-US" sz="1300" noProof="1"/>
          </a:p>
          <a:p>
            <a:pPr>
              <a:lnSpc>
                <a:spcPct val="150000"/>
              </a:lnSpc>
            </a:pPr>
            <a:r>
              <a:rPr lang="en-US" sz="1300" noProof="1">
                <a:solidFill>
                  <a:srgbClr val="000000"/>
                </a:solidFill>
                <a:latin typeface="Liter"/>
                <a:ea typeface="MiSans"/>
              </a:rPr>
              <a:t>and Webex migration — </a:t>
            </a:r>
            <a:r>
              <a:rPr lang="en-US" sz="1300" noProof="1" b="1">
                <a:solidFill>
                  <a:srgbClr val="000000"/>
                </a:solidFill>
                <a:latin typeface="Liter"/>
                <a:ea typeface="MiSans"/>
              </a:rPr>
              <a:t>one complete expert lifecycle</a:t>
            </a:r>
            <a:r>
              <a:rPr lang="en-US" sz="1300" noProof="1">
                <a:solidFill>
                  <a:srgbClr val="000000"/>
                </a:solidFill>
                <a:latin typeface="Liter"/>
                <a:ea typeface="MiSans"/>
              </a:rPr>
              <a:t>,</a:t>
            </a:r>
            <a:endParaRPr lang="en-US" sz="1300" noProof="1"/>
          </a:p>
          <a:p>
            <a:pPr>
              <a:lnSpc>
                <a:spcPct val="150000"/>
              </a:lnSpc>
            </a:pPr>
            <a:r>
              <a:rPr lang="en-US" sz="1300" noProof="1">
                <a:solidFill>
                  <a:srgbClr val="000000"/>
                </a:solidFill>
                <a:latin typeface="Liter"/>
                <a:ea typeface="MiSans"/>
              </a:rPr>
              <a:t>covering hardware, software, features and services.</a:t>
            </a:r>
            <a:endParaRPr lang="en-US" sz="1300" noProof="1"/>
          </a:p>
        </p:txBody>
      </p:sp>
      <p:sp>
        <p:nvSpPr>
          <p:cNvPr id="7" name="meta"/>
          <p:cNvSpPr txBox="1"/>
          <p:nvPr/>
        </p:nvSpPr>
        <p:spPr>
          <a:xfrm>
            <a:off x="609600" y="4521200"/>
            <a:ext cx="6858000" cy="609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Scope: voice protocols · Cisco Unified Communications Manager · UCCX / UCCE ·</a:t>
            </a:r>
            <a:endParaRPr lang="en-US" sz="1000" noProof="1"/>
          </a:p>
          <a:p>
            <a:pPr>
              <a:lnSpc>
                <a:spcPct val="135000"/>
              </a:lnSpc>
            </a:pPr>
            <a:r>
              <a:rPr lang="en-US" sz="1000" noProof="1">
                <a:solidFill>
                  <a:srgbClr val="5A5A5A"/>
                </a:solidFill>
                <a:latin typeface="Liter"/>
                <a:ea typeface="MiSans"/>
              </a:rPr>
              <a:t>Webex Calling &amp; Contact Center · gateways &amp; endpoints · configuration &amp; operations</a:t>
            </a:r>
            <a:endParaRPr lang="en-US" sz="1000" noProof="1"/>
          </a:p>
        </p:txBody>
      </p:sp>
      <p:sp>
        <p:nvSpPr>
          <p:cNvPr id="8" name="meta-rule"/>
          <p:cNvSpPr/>
          <p:nvPr>
            <p:extLst>
              <p:ext uri="{F5677B7D-0D2A-4D9B-9A5C-6D8D7D0E5A5D}">
                <pptd:line encoding="base64url">eyJ2aWV3Qm94IjpbNTQwLDFdLCJwb2ludHMiOiIwLDAgNTQwLDAifQ</pptd:line>
              </p:ext>
            </p:extLst>
          </p:nvPr>
        </p:nvSpPr>
        <p:spPr>
          <a:xfrm>
            <a:off x="609600" y="4292600"/>
            <a:ext cx="6858000" cy="12700"/>
          </a:xfrm>
          <a:custGeom>
            <a:avLst/>
            <a:gdLst/>
            <a:ahLst/>
            <a:cxnLst/>
            <a:rect l="l" t="t" r="r" b="b"/>
            <a:pathLst>
              <a:path w="540" h="1">
                <a:moveTo>
                  <a:pt x="0" y="0"/>
                </a:moveTo>
                <a:lnTo>
                  <a:pt x="540" y="0"/>
                </a:lnTo>
              </a:path>
            </a:pathLst>
          </a:custGeom>
          <a:noFill/>
          <a:ln w="10160" cap="rnd">
            <a:solidFill>
              <a:srgbClr val="CFCFCF"/>
            </a:solidFill>
            <a:round/>
          </a:ln>
        </p:spPr>
      </p:sp>
      <p:sp>
        <p:nvSpPr>
          <p:cNvPr id="9" name="d-phone"/>
          <p:cNvSpPr/>
          <p:nvPr/>
        </p:nvSpPr>
        <p:spPr>
          <a:xfrm>
            <a:off x="8128000" y="1651000"/>
            <a:ext cx="1143000" cy="558800"/>
          </a:xfrm>
          <a:prstGeom prst="rect">
            <a:avLst/>
          </a:prstGeom>
          <a:solidFill>
            <a:srgbClr val="FFFFFF"/>
          </a:solidFill>
          <a:ln w="12700">
            <a:solidFill>
              <a:srgbClr val="333333"/>
            </a:solidFill>
          </a:ln>
        </p:spPr>
      </p:sp>
      <p:sp>
        <p:nvSpPr>
          <p:cNvPr id="10" name="d-phone-t"/>
          <p:cNvSpPr txBox="1"/>
          <p:nvPr/>
        </p:nvSpPr>
        <p:spPr>
          <a:xfrm>
            <a:off x="8128000" y="16510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IP Phone</a:t>
            </a:r>
            <a:endParaRPr lang="en-US" sz="1000" noProof="1"/>
          </a:p>
        </p:txBody>
      </p:sp>
      <p:sp>
        <p:nvSpPr>
          <p:cNvPr id="11" name="d-gw"/>
          <p:cNvSpPr/>
          <p:nvPr/>
        </p:nvSpPr>
        <p:spPr>
          <a:xfrm>
            <a:off x="8128000" y="2870200"/>
            <a:ext cx="1143000" cy="558800"/>
          </a:xfrm>
          <a:prstGeom prst="rect">
            <a:avLst/>
          </a:prstGeom>
          <a:solidFill>
            <a:srgbClr val="FFFFFF"/>
          </a:solidFill>
          <a:ln w="12700">
            <a:solidFill>
              <a:srgbClr val="333333"/>
            </a:solidFill>
          </a:ln>
        </p:spPr>
      </p:sp>
      <p:sp>
        <p:nvSpPr>
          <p:cNvPr id="12" name="d-gw-t"/>
          <p:cNvSpPr txBox="1"/>
          <p:nvPr/>
        </p:nvSpPr>
        <p:spPr>
          <a:xfrm>
            <a:off x="8128000" y="28702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Voice GW</a:t>
            </a:r>
            <a:endParaRPr lang="en-US" sz="1000" noProof="1"/>
          </a:p>
        </p:txBody>
      </p:sp>
      <p:sp>
        <p:nvSpPr>
          <p:cNvPr id="13" name="d-cucm"/>
          <p:cNvSpPr/>
          <p:nvPr/>
        </p:nvSpPr>
        <p:spPr>
          <a:xfrm>
            <a:off x="10033000" y="2235200"/>
            <a:ext cx="1397000" cy="660400"/>
          </a:xfrm>
          <a:prstGeom prst="rect">
            <a:avLst/>
          </a:prstGeom>
          <a:solidFill>
            <a:srgbClr val="FFFFFF"/>
          </a:solidFill>
          <a:ln w="17780">
            <a:solidFill>
              <a:srgbClr val="000000"/>
            </a:solidFill>
          </a:ln>
        </p:spPr>
      </p:sp>
      <p:sp>
        <p:nvSpPr>
          <p:cNvPr id="14" name="d-cucm-t"/>
          <p:cNvSpPr txBox="1"/>
          <p:nvPr/>
        </p:nvSpPr>
        <p:spPr>
          <a:xfrm>
            <a:off x="10033000" y="2235200"/>
            <a:ext cx="1397000" cy="660400"/>
          </a:xfrm>
          <a:prstGeom prst="rect">
            <a:avLst/>
          </a:prstGeom>
          <a:noFill/>
          <a:ln>
            <a:noFill/>
          </a:ln>
        </p:spPr>
        <p:txBody>
          <a:bodyPr lIns="0" rIns="0" tIns="0" bIns="0" wrap="square" rtlCol="0" anchor="ctr"/>
          <a:lstStyle/>
          <a:p>
            <a:pPr algn="ctr">
              <a:lnSpc>
                <a:spcPct val="120000"/>
              </a:lnSpc>
            </a:pPr>
            <a:r>
              <a:rPr lang="en-US" sz="1100" noProof="1" b="1">
                <a:solidFill>
                  <a:srgbClr val="333333"/>
                </a:solidFill>
                <a:latin typeface="Liter"/>
                <a:ea typeface="MiSans"/>
              </a:rPr>
              <a:t>CUCM</a:t>
            </a:r>
            <a:endParaRPr lang="en-US" sz="1100" noProof="1"/>
          </a:p>
          <a:p>
            <a:pPr algn="ctr">
              <a:lnSpc>
                <a:spcPct val="120000"/>
              </a:lnSpc>
            </a:pPr>
            <a:r>
              <a:rPr lang="en-US" sz="800" noProof="1" b="1">
                <a:solidFill>
                  <a:srgbClr val="000000"/>
                </a:solidFill>
                <a:latin typeface="Liter"/>
                <a:ea typeface="MiSans"/>
              </a:rPr>
              <a:t>call control</a:t>
            </a:r>
            <a:endParaRPr lang="en-US" sz="1100" noProof="1"/>
          </a:p>
        </p:txBody>
      </p:sp>
      <p:sp>
        <p:nvSpPr>
          <p:cNvPr id="15" name="d-cloud"/>
          <p:cNvSpPr/>
          <p:nvPr/>
        </p:nvSpPr>
        <p:spPr>
          <a:xfrm>
            <a:off x="10033000" y="3632200"/>
            <a:ext cx="1397000" cy="660400"/>
          </a:xfrm>
          <a:prstGeom prst="rect">
            <a:avLst/>
          </a:prstGeom>
          <a:solidFill>
            <a:srgbClr val="D2C7EB"/>
          </a:solidFill>
          <a:ln w="12700">
            <a:solidFill>
              <a:srgbClr val="333333"/>
            </a:solidFill>
          </a:ln>
        </p:spPr>
      </p:sp>
      <p:sp>
        <p:nvSpPr>
          <p:cNvPr id="16" name="d-cloud-t"/>
          <p:cNvSpPr txBox="1"/>
          <p:nvPr/>
        </p:nvSpPr>
        <p:spPr>
          <a:xfrm>
            <a:off x="10033000" y="3632200"/>
            <a:ext cx="1397000" cy="660400"/>
          </a:xfrm>
          <a:prstGeom prst="rect">
            <a:avLst/>
          </a:prstGeom>
          <a:noFill/>
          <a:ln>
            <a:noFill/>
          </a:ln>
        </p:spPr>
        <p:txBody>
          <a:bodyPr lIns="0" rIns="0" tIns="0" bIns="0" wrap="square" rtlCol="0" anchor="ctr"/>
          <a:lstStyle/>
          <a:p>
            <a:pPr algn="ctr">
              <a:lnSpc>
                <a:spcPct val="120000"/>
              </a:lnSpc>
            </a:pPr>
            <a:r>
              <a:rPr lang="en-US" sz="1100" noProof="1" b="1">
                <a:solidFill>
                  <a:srgbClr val="333333"/>
                </a:solidFill>
                <a:latin typeface="Liter"/>
                <a:ea typeface="MiSans"/>
              </a:rPr>
              <a:t>Webex Cloud</a:t>
            </a:r>
            <a:endParaRPr lang="en-US" sz="1100" noProof="1"/>
          </a:p>
          <a:p>
            <a:pPr algn="ctr">
              <a:lnSpc>
                <a:spcPct val="120000"/>
              </a:lnSpc>
            </a:pPr>
            <a:r>
              <a:rPr lang="en-US" sz="800" noProof="1" b="1">
                <a:solidFill>
                  <a:srgbClr val="000000"/>
                </a:solidFill>
                <a:latin typeface="Liter"/>
                <a:ea typeface="MiSans"/>
              </a:rPr>
              <a:t>calling · CC</a:t>
            </a:r>
            <a:endParaRPr lang="en-US" sz="1100" noProof="1"/>
          </a:p>
        </p:txBody>
      </p:sp>
      <p:sp>
        <p:nvSpPr>
          <p:cNvPr id="17" name="d-pstn"/>
          <p:cNvSpPr/>
          <p:nvPr/>
        </p:nvSpPr>
        <p:spPr>
          <a:xfrm>
            <a:off x="8128000" y="4089400"/>
            <a:ext cx="1143000" cy="558800"/>
          </a:xfrm>
          <a:prstGeom prst="rect">
            <a:avLst/>
          </a:prstGeom>
          <a:solidFill>
            <a:srgbClr val="FFFFFF"/>
          </a:solidFill>
          <a:ln w="12700">
            <a:solidFill>
              <a:srgbClr val="333333"/>
            </a:solidFill>
          </a:ln>
        </p:spPr>
      </p:sp>
      <p:sp>
        <p:nvSpPr>
          <p:cNvPr id="18" name="d-pstn-t"/>
          <p:cNvSpPr txBox="1"/>
          <p:nvPr/>
        </p:nvSpPr>
        <p:spPr>
          <a:xfrm>
            <a:off x="8128000" y="4089400"/>
            <a:ext cx="1143000" cy="558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PSTN</a:t>
            </a:r>
            <a:endParaRPr lang="en-US" sz="1000" noProof="1"/>
          </a:p>
        </p:txBody>
      </p:sp>
      <p:sp>
        <p:nvSpPr>
          <p:cNvPr id="19" name="l1"/>
          <p:cNvSpPr/>
          <p:nvPr>
            <p:extLst>
              <p:ext uri="{F5677B7D-0D2A-4D9B-9A5C-6D8D7D0E5A5D}">
                <pptd:line encoding="base64url">eyJ2aWV3Qm94IjpbNjAsNTRdLCJwb2ludHMiOiI0NSwwIDIyLDU0In0</pptd:line>
              </p:ext>
            </p:extLst>
          </p:nvPr>
        </p:nvSpPr>
        <p:spPr>
          <a:xfrm>
            <a:off x="8128000" y="2209800"/>
            <a:ext cx="762000" cy="685800"/>
          </a:xfrm>
          <a:custGeom>
            <a:avLst/>
            <a:gdLst/>
            <a:ahLst/>
            <a:cxnLst/>
            <a:rect l="l" t="t" r="r" b="b"/>
            <a:pathLst>
              <a:path w="60" h="54">
                <a:moveTo>
                  <a:pt x="45" y="0"/>
                </a:moveTo>
                <a:lnTo>
                  <a:pt x="22" y="54"/>
                </a:lnTo>
              </a:path>
            </a:pathLst>
          </a:custGeom>
          <a:noFill/>
          <a:ln w="12700" cap="rnd">
            <a:solidFill>
              <a:srgbClr val="A9AAAC"/>
            </a:solidFill>
            <a:round/>
          </a:ln>
        </p:spPr>
      </p:sp>
      <p:sp>
        <p:nvSpPr>
          <p:cNvPr id="20" name="l2"/>
          <p:cNvSpPr/>
          <p:nvPr>
            <p:extLst>
              <p:ext uri="{F5677B7D-0D2A-4D9B-9A5C-6D8D7D0E5A5D}">
                <pptd:line encoding="base64url">eyJ2aWV3Qm94IjpbNjAsNzJdLCJwb2ludHMiOiIwLDcyIDYwLDI2In0</pptd:line>
              </p:ext>
            </p:extLst>
          </p:nvPr>
        </p:nvSpPr>
        <p:spPr>
          <a:xfrm>
            <a:off x="9271000" y="2235200"/>
            <a:ext cx="762000" cy="914400"/>
          </a:xfrm>
          <a:custGeom>
            <a:avLst/>
            <a:gdLst/>
            <a:ahLst/>
            <a:cxnLst/>
            <a:rect l="l" t="t" r="r" b="b"/>
            <a:pathLst>
              <a:path w="60" h="72">
                <a:moveTo>
                  <a:pt x="0" y="72"/>
                </a:moveTo>
                <a:lnTo>
                  <a:pt x="60" y="26"/>
                </a:lnTo>
              </a:path>
            </a:pathLst>
          </a:custGeom>
          <a:noFill/>
          <a:ln w="15240" cap="rnd">
            <a:solidFill>
              <a:srgbClr val="E69138"/>
            </a:solidFill>
            <a:round/>
            <a:tailEnd type="arrow"/>
          </a:ln>
        </p:spPr>
      </p:sp>
      <p:sp>
        <p:nvSpPr>
          <p:cNvPr id="21" name="l3"/>
          <p:cNvSpPr/>
          <p:nvPr>
            <p:extLst>
              <p:ext uri="{F5677B7D-0D2A-4D9B-9A5C-6D8D7D0E5A5D}">
                <pptd:line encoding="base64url">eyJ2aWV3Qm94IjpbNjAsNTJdLCJwb2ludHMiOiI0NSw1MiAyMiwwIn0</pptd:line>
              </p:ext>
            </p:extLst>
          </p:nvPr>
        </p:nvSpPr>
        <p:spPr>
          <a:xfrm>
            <a:off x="8128000" y="3429000"/>
            <a:ext cx="762000" cy="660400"/>
          </a:xfrm>
          <a:custGeom>
            <a:avLst/>
            <a:gdLst/>
            <a:ahLst/>
            <a:cxnLst/>
            <a:rect l="l" t="t" r="r" b="b"/>
            <a:pathLst>
              <a:path w="60" h="52">
                <a:moveTo>
                  <a:pt x="45" y="52"/>
                </a:moveTo>
                <a:lnTo>
                  <a:pt x="22" y="0"/>
                </a:lnTo>
              </a:path>
            </a:pathLst>
          </a:custGeom>
          <a:noFill/>
          <a:ln w="12700" cap="rnd">
            <a:solidFill>
              <a:srgbClr val="A9AAAC"/>
            </a:solidFill>
            <a:round/>
          </a:ln>
        </p:spPr>
      </p:sp>
      <p:sp>
        <p:nvSpPr>
          <p:cNvPr id="22" name="l4"/>
          <p:cNvSpPr/>
          <p:nvPr>
            <p:extLst>
              <p:ext uri="{F5677B7D-0D2A-4D9B-9A5C-6D8D7D0E5A5D}">
                <pptd:line encoding="base64url">eyJ2aWV3Qm94IjpbNjAsNjRdLCJwb2ludHMiOiIwLDAgNjAsNjQifQ</pptd:line>
              </p:ext>
            </p:extLst>
          </p:nvPr>
        </p:nvSpPr>
        <p:spPr>
          <a:xfrm>
            <a:off x="9271000" y="3149600"/>
            <a:ext cx="762000" cy="812800"/>
          </a:xfrm>
          <a:custGeom>
            <a:avLst/>
            <a:gdLst/>
            <a:ahLst/>
            <a:cxnLst/>
            <a:rect l="l" t="t" r="r" b="b"/>
            <a:pathLst>
              <a:path w="60" h="64">
                <a:moveTo>
                  <a:pt x="0" y="0"/>
                </a:moveTo>
                <a:lnTo>
                  <a:pt x="60" y="64"/>
                </a:lnTo>
              </a:path>
            </a:pathLst>
          </a:custGeom>
          <a:noFill/>
          <a:ln w="12700" cap="rnd">
            <a:solidFill>
              <a:srgbClr val="A9AAAC"/>
            </a:solidFill>
            <a:round/>
            <a:tailEnd type="arrow"/>
          </a:ln>
        </p:spPr>
      </p:sp>
      <p:sp>
        <p:nvSpPr>
          <p:cNvPr id="23" name="l5"/>
          <p:cNvSpPr/>
          <p:nvPr>
            <p:extLst>
              <p:ext uri="{F5677B7D-0D2A-4D9B-9A5C-6D8D7D0E5A5D}">
                <pptd:line encoding="base64url">eyJ2aWV3Qm94IjpbMSw1OF0sInBvaW50cyI6IjAsMCAwLDU4In0</pptd:line>
              </p:ext>
            </p:extLst>
          </p:nvPr>
        </p:nvSpPr>
        <p:spPr>
          <a:xfrm>
            <a:off x="10731500" y="2895600"/>
            <a:ext cx="12700" cy="736600"/>
          </a:xfrm>
          <a:custGeom>
            <a:avLst/>
            <a:gdLst/>
            <a:ahLst/>
            <a:cxnLst/>
            <a:rect l="l" t="t" r="r" b="b"/>
            <a:pathLst>
              <a:path w="1" h="58">
                <a:moveTo>
                  <a:pt x="0" y="0"/>
                </a:moveTo>
                <a:lnTo>
                  <a:pt x="0" y="58"/>
                </a:lnTo>
              </a:path>
            </a:pathLst>
          </a:custGeom>
          <a:noFill/>
          <a:ln w="15240" cap="rnd">
            <a:solidFill>
              <a:srgbClr val="E69138"/>
            </a:solidFill>
            <a:prstDash val="dash"/>
            <a:round/>
            <a:headEnd type="arrow"/>
            <a:tailEnd type="arrow"/>
          </a:ln>
        </p:spPr>
      </p:sp>
      <p:sp>
        <p:nvSpPr>
          <p:cNvPr id="24" name="d-cap"/>
          <p:cNvSpPr txBox="1"/>
          <p:nvPr/>
        </p:nvSpPr>
        <p:spPr>
          <a:xfrm>
            <a:off x="8128000" y="4953000"/>
            <a:ext cx="3454400" cy="508000"/>
          </a:xfrm>
          <a:prstGeom prst="rect">
            <a:avLst/>
          </a:prstGeom>
          <a:noFill/>
          <a:ln>
            <a:noFill/>
          </a:ln>
        </p:spPr>
        <p:txBody>
          <a:bodyPr lIns="0" rIns="0" tIns="0" bIns="0" wrap="square" rtlCol="0"/>
          <a:lstStyle/>
          <a:p>
            <a:pPr>
              <a:lnSpc>
                <a:spcPct val="120000"/>
              </a:lnSpc>
            </a:pPr>
            <a:r>
              <a:rPr lang="en-US" sz="850" noProof="1">
                <a:solidFill>
                  <a:srgbClr val="8C8C8C"/>
                </a:solidFill>
                <a:latin typeface="Liter"/>
                <a:ea typeface="MiSans"/>
              </a:rPr>
              <a:t>Reference architecture used throughout this deck: endpoints register to CUCM,</a:t>
            </a:r>
            <a:endParaRPr lang="en-US" sz="850" noProof="1"/>
          </a:p>
          <a:p>
            <a:pPr>
              <a:lnSpc>
                <a:spcPct val="120000"/>
              </a:lnSpc>
            </a:pPr>
            <a:r>
              <a:rPr lang="en-US" sz="850" noProof="1">
                <a:solidFill>
                  <a:srgbClr val="8C8C8C"/>
                </a:solidFill>
                <a:latin typeface="Liter"/>
                <a:ea typeface="MiSans"/>
              </a:rPr>
              <a:t>gateways bridge the PSTN, and the Webex cloud provides the migration target.</a:t>
            </a:r>
            <a:endParaRPr lang="en-US" sz="850" noProof="1"/>
          </a:p>
        </p:txBody>
      </p:sp>
      <p:sp>
        <p:nvSpPr>
          <p:cNvPr id="25" name="footer"/>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Prepared for voice &amp; collaboration engineering teams · 2026</a:t>
            </a:r>
            <a:endParaRPr lang="en-US" sz="850" noProof="1"/>
          </a:p>
        </p:txBody>
      </p:sp>
      <p:sp>
        <p:nvSpPr>
          <p:cNvPr id="26" name="cml-footer-bar"/>
          <p:cNvSpPr/>
          <p:nvPr/>
        </p:nvSpPr>
        <p:spPr>
          <a:xfrm>
            <a:off x="0" y="6670000"/>
            <a:ext cx="12192000" cy="640000"/>
          </a:xfrm>
          <a:prstGeom prst="rect">
            <a:avLst/>
          </a:prstGeom>
          <a:solidFill>
            <a:srgbClr val="12161C"/>
          </a:solidFill>
          <a:ln>
            <a:noFill/>
          </a:ln>
        </p:spPr>
        <p:txBody>
          <a:bodyPr/>
          <a:lstStyle/>
          <a:p/>
        </p:txBody>
      </p:sp>
      <p:sp>
        <p:nvSpPr>
          <p:cNvPr id="27" name="cml-footer-rule"/>
          <p:cNvSpPr/>
          <p:nvPr/>
        </p:nvSpPr>
        <p:spPr>
          <a:xfrm>
            <a:off x="0" y="6670000"/>
            <a:ext cx="12192000" cy="19050"/>
          </a:xfrm>
          <a:prstGeom prst="rect">
            <a:avLst/>
          </a:prstGeom>
          <a:solidFill>
            <a:srgbClr val="2DD4BF"/>
          </a:solidFill>
          <a:ln>
            <a:noFill/>
          </a:ln>
        </p:spPr>
        <p:txBody>
          <a:bodyPr/>
          <a:lstStyle/>
          <a:p/>
        </p:txBody>
      </p:sp>
      <p:sp>
        <p:nvSpPr>
          <p:cNvPr id="2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xml><?xml version="1.0" encoding="utf-8"?>
<p:sld xmlns:a="http://schemas.openxmlformats.org/drawingml/2006/main" xmlns:p="http://schemas.openxmlformats.org/presentationml/2006/main" xmlns:pptd="urn:uc-lab:pptd"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id="2" name="toc-title"/>
          <p:cNvSpPr txBox="1"/>
          <p:nvPr/>
        </p:nvSpPr>
        <p:spPr>
          <a:xfrm>
            <a:off x="609600" y="457200"/>
            <a:ext cx="3810000" cy="508000"/>
          </a:xfrm>
          <a:prstGeom prst="rect">
            <a:avLst/>
          </a:prstGeom>
          <a:noFill/>
          <a:ln>
            <a:noFill/>
          </a:ln>
        </p:spPr>
        <p:txBody>
          <a:bodyPr lIns="0" rIns="0" tIns="0" bIns="0" wrap="none" rtlCol="0"/>
          <a:lstStyle/>
          <a:p>
            <a:pPr>
              <a:lnSpc>
                <a:spcPct val="120000"/>
              </a:lnSpc>
            </a:pPr>
            <a:r>
              <a:rPr lang="en-US" sz="2800" noProof="1" b="1">
                <a:solidFill>
                  <a:srgbClr val="4F0E86"/>
                </a:solidFill>
                <a:latin typeface="Liter"/>
                <a:ea typeface="MiSans"/>
              </a:rPr>
              <a:t>Contents</a:t>
            </a:r>
            <a:endParaRPr lang="en-US" sz="2800" noProof="1"/>
          </a:p>
        </p:txBody>
      </p:sp>
      <p:sp>
        <p:nvSpPr>
          <p:cNvPr id="3" name="brush"/>
          <p:cNvSpPr/>
          <p:nvPr/>
        </p:nvSpPr>
        <p:spPr>
          <a:xfrm>
            <a:off x="609600" y="1295400"/>
            <a:ext cx="2946400" cy="165100"/>
          </a:xfrm>
          <a:prstGeom prst="rect">
            <a:avLst/>
          </a:prstGeom>
          <a:solidFill>
            <a:srgbClr val="F7D05B"/>
          </a:solidFill>
          <a:ln>
            <a:noFill/>
          </a:ln>
        </p:spPr>
      </p:sp>
      <p:sp>
        <p:nvSpPr>
          <p:cNvPr id="4" name="i1n"/>
          <p:cNvSpPr txBox="1"/>
          <p:nvPr/>
        </p:nvSpPr>
        <p:spPr>
          <a:xfrm>
            <a:off x="609600" y="11684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01</a:t>
            </a:r>
            <a:endParaRPr lang="en-US" sz="1700" noProof="1"/>
          </a:p>
        </p:txBody>
      </p:sp>
      <p:sp>
        <p:nvSpPr>
          <p:cNvPr id="5" name="i1t"/>
          <p:cNvSpPr txBox="1"/>
          <p:nvPr/>
        </p:nvSpPr>
        <p:spPr>
          <a:xfrm>
            <a:off x="1270000" y="11684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Voice Technology Foundations</a:t>
            </a:r>
            <a:endParaRPr lang="en-US" sz="1500" noProof="1"/>
          </a:p>
        </p:txBody>
      </p:sp>
      <p:sp>
        <p:nvSpPr>
          <p:cNvPr id="6" name="i1d"/>
          <p:cNvSpPr txBox="1"/>
          <p:nvPr/>
        </p:nvSpPr>
        <p:spPr>
          <a:xfrm>
            <a:off x="1270000" y="14859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Digitization, codecs, QoS budgets, CAC math, fax / modem relay, and full SIP / SDP anatomy</a:t>
            </a:r>
            <a:endParaRPr lang="en-US" sz="950" noProof="1"/>
          </a:p>
        </p:txBody>
      </p:sp>
      <p:sp>
        <p:nvSpPr>
          <p:cNvPr id="7" name="r1"/>
          <p:cNvSpPr/>
          <p:nvPr>
            <p:extLst>
              <p:ext uri="{F5677B7D-0D2A-4D9B-9A5C-6D8D7D0E5A5D}">
                <pptd:line encoding="base64url">eyJ2aWV3Qm94IjpbNTYwLDFdLCJwb2ludHMiOiIwLDAgNTYwLDAifQ</pptd:line>
              </p:ext>
            </p:extLst>
          </p:nvPr>
        </p:nvSpPr>
        <p:spPr>
          <a:xfrm>
            <a:off x="1270000" y="17780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8" name="i2n"/>
          <p:cNvSpPr txBox="1"/>
          <p:nvPr/>
        </p:nvSpPr>
        <p:spPr>
          <a:xfrm>
            <a:off x="609600" y="18796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02</a:t>
            </a:r>
            <a:endParaRPr lang="en-US" sz="1700" noProof="1"/>
          </a:p>
        </p:txBody>
      </p:sp>
      <p:sp>
        <p:nvSpPr>
          <p:cNvPr id="9" name="i2t"/>
          <p:cNvSpPr txBox="1"/>
          <p:nvPr/>
        </p:nvSpPr>
        <p:spPr>
          <a:xfrm>
            <a:off x="1270000" y="18796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Cisco Unified Communications Core</a:t>
            </a:r>
            <a:endParaRPr lang="en-US" sz="1500" noProof="1"/>
          </a:p>
        </p:txBody>
      </p:sp>
      <p:sp>
        <p:nvSpPr>
          <p:cNvPr id="10" name="i2d"/>
          <p:cNvSpPr txBox="1"/>
          <p:nvPr/>
        </p:nvSpPr>
        <p:spPr>
          <a:xfrm>
            <a:off x="1270000" y="21971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Clusters, dial plan and numbering, provisioning, gateway &amp; PRI configuration, trunks, security, media, paging, licensing</a:t>
            </a:r>
            <a:endParaRPr lang="en-US" sz="950" noProof="1"/>
          </a:p>
        </p:txBody>
      </p:sp>
      <p:sp>
        <p:nvSpPr>
          <p:cNvPr id="11" name="r2"/>
          <p:cNvSpPr/>
          <p:nvPr>
            <p:extLst>
              <p:ext uri="{F5677B7D-0D2A-4D9B-9A5C-6D8D7D0E5A5D}">
                <pptd:line encoding="base64url">eyJ2aWV3Qm94IjpbNTYwLDFdLCJwb2ludHMiOiIwLDAgNTYwLDAifQ</pptd:line>
              </p:ext>
            </p:extLst>
          </p:nvPr>
        </p:nvSpPr>
        <p:spPr>
          <a:xfrm>
            <a:off x="1270000" y="24892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12" name="i3n"/>
          <p:cNvSpPr txBox="1"/>
          <p:nvPr/>
        </p:nvSpPr>
        <p:spPr>
          <a:xfrm>
            <a:off x="609600" y="25908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03</a:t>
            </a:r>
            <a:endParaRPr lang="en-US" sz="1700" noProof="1"/>
          </a:p>
        </p:txBody>
      </p:sp>
      <p:sp>
        <p:nvSpPr>
          <p:cNvPr id="13" name="i3t"/>
          <p:cNvSpPr txBox="1"/>
          <p:nvPr/>
        </p:nvSpPr>
        <p:spPr>
          <a:xfrm>
            <a:off x="1270000" y="25908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Collaboration Services &amp; Endpoints</a:t>
            </a:r>
            <a:endParaRPr lang="en-US" sz="1500" noProof="1"/>
          </a:p>
        </p:txBody>
      </p:sp>
      <p:sp>
        <p:nvSpPr>
          <p:cNvPr id="14" name="i3d"/>
          <p:cNvSpPr txBox="1"/>
          <p:nvPr/>
        </p:nvSpPr>
        <p:spPr>
          <a:xfrm>
            <a:off x="1270000" y="29083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Unity Connection configuration, IM &amp; Presence, endpoint families and registration, Expressway remote access</a:t>
            </a:r>
            <a:endParaRPr lang="en-US" sz="950" noProof="1"/>
          </a:p>
        </p:txBody>
      </p:sp>
      <p:sp>
        <p:nvSpPr>
          <p:cNvPr id="15" name="r3"/>
          <p:cNvSpPr/>
          <p:nvPr>
            <p:extLst>
              <p:ext uri="{F5677B7D-0D2A-4D9B-9A5C-6D8D7D0E5A5D}">
                <pptd:line encoding="base64url">eyJ2aWV3Qm94IjpbNTYwLDFdLCJwb2ludHMiOiIwLDAgNTYwLDAifQ</pptd:line>
              </p:ext>
            </p:extLst>
          </p:nvPr>
        </p:nvSpPr>
        <p:spPr>
          <a:xfrm>
            <a:off x="1270000" y="32004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16" name="i4n"/>
          <p:cNvSpPr txBox="1"/>
          <p:nvPr/>
        </p:nvSpPr>
        <p:spPr>
          <a:xfrm>
            <a:off x="609600" y="33020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04</a:t>
            </a:r>
            <a:endParaRPr lang="en-US" sz="1700" noProof="1"/>
          </a:p>
        </p:txBody>
      </p:sp>
      <p:sp>
        <p:nvSpPr>
          <p:cNvPr id="17" name="i4t"/>
          <p:cNvSpPr txBox="1"/>
          <p:nvPr/>
        </p:nvSpPr>
        <p:spPr>
          <a:xfrm>
            <a:off x="1270000" y="33020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Contact Center Platforms</a:t>
            </a:r>
            <a:endParaRPr lang="en-US" sz="1500" noProof="1"/>
          </a:p>
        </p:txBody>
      </p:sp>
      <p:sp>
        <p:nvSpPr>
          <p:cNvPr id="18" name="i4d"/>
          <p:cNvSpPr txBox="1"/>
          <p:nvPr/>
        </p:nvSpPr>
        <p:spPr>
          <a:xfrm>
            <a:off x="1270000" y="36195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UCCX / UCCE / Webex CC configuration, IVR design, agent desktops, reporting, WFM and omnichannel</a:t>
            </a:r>
            <a:endParaRPr lang="en-US" sz="950" noProof="1"/>
          </a:p>
        </p:txBody>
      </p:sp>
      <p:sp>
        <p:nvSpPr>
          <p:cNvPr id="19" name="r4"/>
          <p:cNvSpPr/>
          <p:nvPr>
            <p:extLst>
              <p:ext uri="{F5677B7D-0D2A-4D9B-9A5C-6D8D7D0E5A5D}">
                <pptd:line encoding="base64url">eyJ2aWV3Qm94IjpbNTYwLDFdLCJwb2ludHMiOiIwLDAgNTYwLDAifQ</pptd:line>
              </p:ext>
            </p:extLst>
          </p:nvPr>
        </p:nvSpPr>
        <p:spPr>
          <a:xfrm>
            <a:off x="1270000" y="39116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0" name="i5n"/>
          <p:cNvSpPr txBox="1"/>
          <p:nvPr/>
        </p:nvSpPr>
        <p:spPr>
          <a:xfrm>
            <a:off x="609600" y="40132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05</a:t>
            </a:r>
            <a:endParaRPr lang="en-US" sz="1700" noProof="1"/>
          </a:p>
        </p:txBody>
      </p:sp>
      <p:sp>
        <p:nvSpPr>
          <p:cNvPr id="21" name="i5t"/>
          <p:cNvSpPr txBox="1"/>
          <p:nvPr/>
        </p:nvSpPr>
        <p:spPr>
          <a:xfrm>
            <a:off x="1270000" y="40132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Cloud Migration</a:t>
            </a:r>
            <a:endParaRPr lang="en-US" sz="1500" noProof="1"/>
          </a:p>
        </p:txBody>
      </p:sp>
      <p:sp>
        <p:nvSpPr>
          <p:cNvPr id="22" name="i5d"/>
          <p:cNvSpPr txBox="1"/>
          <p:nvPr/>
        </p:nvSpPr>
        <p:spPr>
          <a:xfrm>
            <a:off x="1270000" y="43307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Webex Calling architecture, Control Hub, UCM Cloud, porting &amp; E911, coexistence, timeline, five-year TCO</a:t>
            </a:r>
            <a:endParaRPr lang="en-US" sz="950" noProof="1"/>
          </a:p>
        </p:txBody>
      </p:sp>
      <p:sp>
        <p:nvSpPr>
          <p:cNvPr id="23" name="r5"/>
          <p:cNvSpPr/>
          <p:nvPr>
            <p:extLst>
              <p:ext uri="{F5677B7D-0D2A-4D9B-9A5C-6D8D7D0E5A5D}">
                <pptd:line encoding="base64url">eyJ2aWV3Qm94IjpbNTYwLDFdLCJwb2ludHMiOiIwLDAgNTYwLDAifQ</pptd:line>
              </p:ext>
            </p:extLst>
          </p:nvPr>
        </p:nvSpPr>
        <p:spPr>
          <a:xfrm>
            <a:off x="1270000" y="46228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4" name="i6n"/>
          <p:cNvSpPr txBox="1"/>
          <p:nvPr/>
        </p:nvSpPr>
        <p:spPr>
          <a:xfrm>
            <a:off x="609600" y="47244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06</a:t>
            </a:r>
            <a:endParaRPr lang="en-US" sz="1700" noProof="1"/>
          </a:p>
        </p:txBody>
      </p:sp>
      <p:sp>
        <p:nvSpPr>
          <p:cNvPr id="25" name="i6t"/>
          <p:cNvSpPr txBox="1"/>
          <p:nvPr/>
        </p:nvSpPr>
        <p:spPr>
          <a:xfrm>
            <a:off x="1270000" y="47244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Operations &amp; Troubleshooting</a:t>
            </a:r>
            <a:endParaRPr lang="en-US" sz="1500" noProof="1"/>
          </a:p>
        </p:txBody>
      </p:sp>
      <p:sp>
        <p:nvSpPr>
          <p:cNvPr id="26" name="i6d"/>
          <p:cNvSpPr txBox="1"/>
          <p:nvPr/>
        </p:nvSpPr>
        <p:spPr>
          <a:xfrm>
            <a:off x="1270000" y="50419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RTMT monitoring, signaling &amp; media fault chains, DR &amp; upgrades, TAC workflow, and a full incident case study</a:t>
            </a:r>
            <a:endParaRPr lang="en-US" sz="950" noProof="1"/>
          </a:p>
        </p:txBody>
      </p:sp>
      <p:sp>
        <p:nvSpPr>
          <p:cNvPr id="27" name="r6"/>
          <p:cNvSpPr/>
          <p:nvPr>
            <p:extLst>
              <p:ext uri="{F5677B7D-0D2A-4D9B-9A5C-6D8D7D0E5A5D}">
                <pptd:line encoding="base64url">eyJ2aWV3Qm94IjpbNTYwLDFdLCJwb2ludHMiOiIwLDAgNTYwLDAifQ</pptd:line>
              </p:ext>
            </p:extLst>
          </p:nvPr>
        </p:nvSpPr>
        <p:spPr>
          <a:xfrm>
            <a:off x="1270000" y="5334000"/>
            <a:ext cx="7112000" cy="12700"/>
          </a:xfrm>
          <a:custGeom>
            <a:avLst/>
            <a:gdLst/>
            <a:ahLst/>
            <a:cxnLst/>
            <a:rect l="l" t="t" r="r" b="b"/>
            <a:pathLst>
              <a:path w="560" h="1">
                <a:moveTo>
                  <a:pt x="0" y="0"/>
                </a:moveTo>
                <a:lnTo>
                  <a:pt x="560" y="0"/>
                </a:lnTo>
              </a:path>
            </a:pathLst>
          </a:custGeom>
          <a:noFill/>
          <a:ln w="7620" cap="rnd">
            <a:solidFill>
              <a:srgbClr val="CFCFCF"/>
            </a:solidFill>
            <a:round/>
          </a:ln>
        </p:spPr>
      </p:sp>
      <p:sp>
        <p:nvSpPr>
          <p:cNvPr id="28" name="i7n"/>
          <p:cNvSpPr txBox="1"/>
          <p:nvPr/>
        </p:nvSpPr>
        <p:spPr>
          <a:xfrm>
            <a:off x="609600" y="5435600"/>
            <a:ext cx="508000" cy="330200"/>
          </a:xfrm>
          <a:prstGeom prst="rect">
            <a:avLst/>
          </a:prstGeom>
          <a:noFill/>
          <a:ln>
            <a:noFill/>
          </a:ln>
        </p:spPr>
        <p:txBody>
          <a:bodyPr lIns="0" rIns="0" tIns="0" bIns="0" wrap="none" rtlCol="0"/>
          <a:lstStyle/>
          <a:p>
            <a:pPr>
              <a:lnSpc>
                <a:spcPct val="120000"/>
              </a:lnSpc>
            </a:pPr>
            <a:r>
              <a:rPr lang="en-US" sz="1700" noProof="1" b="1">
                <a:solidFill>
                  <a:srgbClr val="333333"/>
                </a:solidFill>
                <a:latin typeface="Liter"/>
                <a:ea typeface="MiSans"/>
              </a:rPr>
              <a:t>07</a:t>
            </a:r>
            <a:endParaRPr lang="en-US" sz="1700" noProof="1"/>
          </a:p>
        </p:txBody>
      </p:sp>
      <p:sp>
        <p:nvSpPr>
          <p:cNvPr id="29" name="i7t"/>
          <p:cNvSpPr txBox="1"/>
          <p:nvPr/>
        </p:nvSpPr>
        <p:spPr>
          <a:xfrm>
            <a:off x="1270000" y="5435600"/>
            <a:ext cx="7366000" cy="304800"/>
          </a:xfrm>
          <a:prstGeom prst="rect">
            <a:avLst/>
          </a:prstGeom>
          <a:noFill/>
          <a:ln>
            <a:noFill/>
          </a:ln>
        </p:spPr>
        <p:txBody>
          <a:bodyPr lIns="0" rIns="0" tIns="0" bIns="0" wrap="none" rtlCol="0"/>
          <a:lstStyle/>
          <a:p>
            <a:pPr>
              <a:lnSpc>
                <a:spcPct val="120000"/>
              </a:lnSpc>
            </a:pPr>
            <a:r>
              <a:rPr lang="en-US" sz="1500" noProof="1" b="1">
                <a:solidFill>
                  <a:srgbClr val="333333"/>
                </a:solidFill>
                <a:latin typeface="Liter"/>
                <a:ea typeface="MiSans"/>
              </a:rPr>
              <a:t>Expert Practice &amp; Roadmap</a:t>
            </a:r>
            <a:endParaRPr lang="en-US" sz="1500" noProof="1"/>
          </a:p>
        </p:txBody>
      </p:sp>
      <p:sp>
        <p:nvSpPr>
          <p:cNvPr id="30" name="i7d"/>
          <p:cNvSpPr txBox="1"/>
          <p:nvPr/>
        </p:nvSpPr>
        <p:spPr>
          <a:xfrm>
            <a:off x="1270000" y="5753100"/>
            <a:ext cx="7366000" cy="190500"/>
          </a:xfrm>
          <a:prstGeom prst="rect">
            <a:avLst/>
          </a:prstGeom>
          <a:noFill/>
          <a:ln>
            <a:noFill/>
          </a:ln>
        </p:spPr>
        <p:txBody>
          <a:bodyPr lIns="0" rIns="0" tIns="0" bIns="0" wrap="none" rtlCol="0"/>
          <a:lstStyle/>
          <a:p>
            <a:pPr>
              <a:lnSpc>
                <a:spcPct val="120000"/>
              </a:lnSpc>
            </a:pPr>
            <a:r>
              <a:rPr lang="en-US" sz="950" noProof="1">
                <a:solidFill>
                  <a:srgbClr val="5A5A5A"/>
                </a:solidFill>
                <a:latin typeface="Liter"/>
                <a:ea typeface="MiSans"/>
              </a:rPr>
              <a:t>Certification path, cutover checklists, capacity planning, design documents, automation, and the glossary</a:t>
            </a:r>
            <a:endParaRPr lang="en-US" sz="950" noProof="1"/>
          </a:p>
        </p:txBody>
      </p:sp>
      <p:sp>
        <p:nvSpPr>
          <p:cNvPr id="31" name="side-note"/>
          <p:cNvSpPr txBox="1"/>
          <p:nvPr/>
        </p:nvSpPr>
        <p:spPr>
          <a:xfrm>
            <a:off x="9042400" y="1524000"/>
            <a:ext cx="2540000" cy="3810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How to read this deck</a:t>
            </a:r>
            <a:endParaRPr lang="en-US" sz="1000" noProof="1"/>
          </a:p>
          <a:p>
            <a:pPr>
              <a:lnSpc>
                <a:spcPct val="135000"/>
              </a:lnSpc>
              <a:spcBef>
                <a:spcPts val="1000"/>
              </a:spcBef>
            </a:pPr>
            <a:r>
              <a:rPr lang="en-US" sz="1000" noProof="1">
                <a:solidFill>
                  <a:srgbClr val="5A5A5A"/>
                </a:solidFill>
                <a:latin typeface="Liter"/>
                <a:ea typeface="MiSans"/>
              </a:rPr>
              <a:t>Each content page states one conclusion in its title; the diagram, table or configuration on the page is the evidence.</a:t>
            </a:r>
            <a:endParaRPr lang="en-US" sz="1000" noProof="1"/>
          </a:p>
          <a:p>
            <a:pPr>
              <a:lnSpc>
                <a:spcPct val="135000"/>
              </a:lnSpc>
              <a:spcBef>
                <a:spcPts val="1000"/>
              </a:spcBef>
            </a:pPr>
            <a:r>
              <a:rPr lang="en-US" sz="1000" noProof="1">
                <a:solidFill>
                  <a:srgbClr val="5A5A5A"/>
                </a:solidFill>
                <a:latin typeface="Liter"/>
                <a:ea typeface="MiSans"/>
              </a:rPr>
              <a:t>Configuration excerpts are minimal but syntactically real IOS / CUCM patterns; adapt names and IPs to your environment.</a:t>
            </a:r>
            <a:endParaRPr lang="en-US" sz="1000" noProof="1"/>
          </a:p>
          <a:p>
            <a:pPr>
              <a:lnSpc>
                <a:spcPct val="135000"/>
              </a:lnSpc>
              <a:spcBef>
                <a:spcPts val="1000"/>
              </a:spcBef>
            </a:pPr>
            <a:r>
              <a:rPr lang="en-US" sz="1000" noProof="1">
                <a:solidFill>
                  <a:srgbClr val="5A5A5A"/>
                </a:solidFill>
                <a:latin typeface="Liter"/>
                <a:ea typeface="MiSans"/>
              </a:rPr>
              <a:t>Product capabilities follow Cisco documentation current as of early 2026.</a:t>
            </a:r>
            <a:endParaRPr lang="en-US" sz="1000" noProof="1"/>
          </a:p>
        </p:txBody>
      </p:sp>
      <p:sp>
        <p:nvSpPr>
          <p:cNvPr id="32" name="footer-rule"/>
          <p:cNvSpPr/>
          <p:nvPr>
            <p:extLst>
              <p:ext uri="{F5677B7D-0D2A-4D9B-9A5C-6D8D7D0E5A5D}">
                <pptd:line encoding="base64url">eyJ2aWV3Qm94IjpbODY0LDFdLCJwb2ludHMiOiIwLDAgODY0LDAifQ</pptd:line>
              </p:ext>
            </p:extLst>
          </p:nvPr>
        </p:nvSpPr>
        <p:spPr>
          <a:xfrm>
            <a:off x="609600" y="6223000"/>
            <a:ext cx="10972800" cy="12700"/>
          </a:xfrm>
          <a:custGeom>
            <a:avLst/>
            <a:gdLst/>
            <a:ahLst/>
            <a:cxnLst/>
            <a:rect l="l" t="t" r="r" b="b"/>
            <a:pathLst>
              <a:path w="864" h="1">
                <a:moveTo>
                  <a:pt x="0" y="0"/>
                </a:moveTo>
                <a:lnTo>
                  <a:pt x="864" y="0"/>
                </a:lnTo>
              </a:path>
            </a:pathLst>
          </a:custGeom>
          <a:noFill/>
          <a:ln w="10160" cap="rnd">
            <a:solidFill>
              <a:srgbClr val="CFCFCF"/>
            </a:solidFill>
            <a:round/>
          </a:ln>
        </p:spPr>
      </p:sp>
      <p:sp>
        <p:nvSpPr>
          <p:cNvPr id="33" name="footer"/>
          <p:cNvSpPr txBox="1"/>
          <p:nvPr/>
        </p:nvSpPr>
        <p:spPr>
          <a:xfrm>
            <a:off x="609600" y="6324600"/>
            <a:ext cx="8890000" cy="2032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Enterprise Voice with Cisco — Technologies, Contact Center &amp; Cloud Migration</a:t>
            </a:r>
            <a:endParaRPr lang="en-US" sz="850" noProof="1"/>
          </a:p>
        </p:txBody>
      </p:sp>
      <p:sp>
        <p:nvSpPr>
          <p:cNvPr id="34" name="cml-footer-bar"/>
          <p:cNvSpPr/>
          <p:nvPr/>
        </p:nvSpPr>
        <p:spPr>
          <a:xfrm>
            <a:off x="0" y="6670000"/>
            <a:ext cx="12192000" cy="640000"/>
          </a:xfrm>
          <a:prstGeom prst="rect">
            <a:avLst/>
          </a:prstGeom>
          <a:solidFill>
            <a:srgbClr val="12161C"/>
          </a:solidFill>
          <a:ln>
            <a:noFill/>
          </a:ln>
        </p:spPr>
        <p:txBody>
          <a:bodyPr/>
          <a:lstStyle/>
          <a:p/>
        </p:txBody>
      </p:sp>
      <p:sp>
        <p:nvSpPr>
          <p:cNvPr id="35" name="cml-footer-rule"/>
          <p:cNvSpPr/>
          <p:nvPr/>
        </p:nvSpPr>
        <p:spPr>
          <a:xfrm>
            <a:off x="0" y="6670000"/>
            <a:ext cx="12192000" cy="19050"/>
          </a:xfrm>
          <a:prstGeom prst="rect">
            <a:avLst/>
          </a:prstGeom>
          <a:solidFill>
            <a:srgbClr val="2DD4BF"/>
          </a:solidFill>
          <a:ln>
            <a:noFill/>
          </a:ln>
        </p:spPr>
        <p:txBody>
          <a:bodyPr/>
          <a:lstStyle/>
          <a:p/>
        </p:txBody>
      </p:sp>
      <p:sp>
        <p:nvSpPr>
          <p:cNvPr id="3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4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4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01</a:t>
            </a:r>
            <a:endParaRPr lang="en-US" sz="4400" noProof="1"/>
          </a:p>
        </p:txBody>
      </p:sp>
      <p:sp>
        <p:nvSpPr>
          <p:cNvPr id="3" name="ch-title"/>
          <p:cNvSpPr txBox="1"/>
          <p:nvPr/>
        </p:nvSpPr>
        <p:spPr>
          <a:xfrm>
            <a:off x="609600" y="2794000"/>
            <a:ext cx="965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Voice Technology Foundations</a:t>
            </a:r>
            <a:endParaRPr lang="en-US" sz="3400" noProof="1"/>
          </a:p>
        </p:txBody>
      </p:sp>
      <p:sp>
        <p:nvSpPr>
          <p:cNvPr id="4" name="ch-sub"/>
          <p:cNvSpPr txBox="1"/>
          <p:nvPr/>
        </p:nvSpPr>
        <p:spPr>
          <a:xfrm>
            <a:off x="609600" y="3632200"/>
            <a:ext cx="9652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How analog speech becomes an IP packet stream, which codecs trade bandwidth for quality,</a:t>
            </a:r>
            <a:endParaRPr lang="en-US" sz="1300" noProof="1"/>
          </a:p>
          <a:p>
            <a:pPr>
              <a:lnSpc>
                <a:spcPct val="150000"/>
              </a:lnSpc>
            </a:pPr>
            <a:r>
              <a:rPr lang="en-US" sz="1300" noProof="1">
                <a:solidFill>
                  <a:srgbClr val="F2DADA"/>
                </a:solidFill>
                <a:latin typeface="Liter"/>
                <a:ea typeface="MiSans"/>
              </a:rPr>
              <a:t>and why signaling and media are engineered as two separate planes.</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01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Every IP call is a codec choice: 64 kbps of fidelity or 8 kbps of efficiency</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Nyquist sampling at 8 kHz and 8-bit quantization yield the 64 kbps PCM baseline; compression trades bandwidth against delay and quality.</a:t>
            </a:r>
            <a:endParaRPr lang="en-US" sz="1100" noProof="1"/>
          </a:p>
        </p:txBody>
      </p:sp>
      <p:sp>
        <p:nvSpPr>
          <p:cNvPr id="4" name="step-h"/>
          <p:cNvSpPr txBox="1"/>
          <p:nvPr/>
        </p:nvSpPr>
        <p:spPr>
          <a:xfrm>
            <a:off x="609600" y="11684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From sound wave to RTP packet</a:t>
            </a:r>
            <a:endParaRPr lang="en-US" sz="1100" noProof="1"/>
          </a:p>
        </p:txBody>
      </p:sp>
      <p:sp>
        <p:nvSpPr>
          <p:cNvPr id="5" name="s1"/>
          <p:cNvSpPr/>
          <p:nvPr/>
        </p:nvSpPr>
        <p:spPr>
          <a:xfrm>
            <a:off x="609600" y="1498600"/>
            <a:ext cx="2082800" cy="584200"/>
          </a:xfrm>
          <a:prstGeom prst="rect">
            <a:avLst/>
          </a:prstGeom>
          <a:solidFill>
            <a:srgbClr val="F7F5F0"/>
          </a:solidFill>
          <a:ln w="10160">
            <a:solidFill>
              <a:srgbClr val="333333"/>
            </a:solidFill>
          </a:ln>
        </p:spPr>
      </p:sp>
      <p:sp>
        <p:nvSpPr>
          <p:cNvPr id="6" name="s1t"/>
          <p:cNvSpPr txBox="1"/>
          <p:nvPr/>
        </p:nvSpPr>
        <p:spPr>
          <a:xfrm>
            <a:off x="609600" y="14986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Analog voice</a:t>
            </a:r>
            <a:endParaRPr lang="en-US" sz="1000" noProof="1"/>
          </a:p>
          <a:p>
            <a:pPr algn="ctr">
              <a:lnSpc>
                <a:spcPct val="120000"/>
              </a:lnSpc>
            </a:pPr>
            <a:r>
              <a:rPr lang="en-US" sz="850" noProof="1">
                <a:solidFill>
                  <a:srgbClr val="000000"/>
                </a:solidFill>
                <a:latin typeface="Liter"/>
                <a:ea typeface="MiSans"/>
              </a:rPr>
              <a:t>300–3400 Hz speech band</a:t>
            </a:r>
            <a:endParaRPr lang="en-US" sz="1000" noProof="1"/>
          </a:p>
        </p:txBody>
      </p:sp>
      <p:sp>
        <p:nvSpPr>
          <p:cNvPr id="7" name="a1"/>
          <p:cNvSpPr/>
          <p:nvPr>
            <p:extLst>
              <p:ext uri="{F5677B7D-0D2A-4D9B-9A5C-6D8D7D0E5A5D}">
                <pptd:line encoding="base64url">eyJ2aWV3Qm94IjpbMjIsMV0sInBvaW50cyI6IjAsMCAyMiwwIn0</pptd:line>
              </p:ext>
            </p:extLst>
          </p:nvPr>
        </p:nvSpPr>
        <p:spPr>
          <a:xfrm>
            <a:off x="2692400" y="17780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8" name="s2"/>
          <p:cNvSpPr/>
          <p:nvPr/>
        </p:nvSpPr>
        <p:spPr>
          <a:xfrm>
            <a:off x="2971800" y="1498600"/>
            <a:ext cx="2082800" cy="584200"/>
          </a:xfrm>
          <a:prstGeom prst="rect">
            <a:avLst/>
          </a:prstGeom>
          <a:solidFill>
            <a:srgbClr val="F7F5F0"/>
          </a:solidFill>
          <a:ln w="10160">
            <a:solidFill>
              <a:srgbClr val="333333"/>
            </a:solidFill>
          </a:ln>
        </p:spPr>
      </p:sp>
      <p:sp>
        <p:nvSpPr>
          <p:cNvPr id="9" name="s2t"/>
          <p:cNvSpPr txBox="1"/>
          <p:nvPr/>
        </p:nvSpPr>
        <p:spPr>
          <a:xfrm>
            <a:off x="2971800" y="14986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Sampling</a:t>
            </a:r>
            <a:endParaRPr lang="en-US" sz="1000" noProof="1"/>
          </a:p>
          <a:p>
            <a:pPr algn="ctr">
              <a:lnSpc>
                <a:spcPct val="120000"/>
              </a:lnSpc>
            </a:pPr>
            <a:r>
              <a:rPr lang="en-US" sz="850" noProof="1">
                <a:solidFill>
                  <a:srgbClr val="000000"/>
                </a:solidFill>
                <a:latin typeface="Liter"/>
                <a:ea typeface="MiSans"/>
              </a:rPr>
              <a:t>8000 samples / s (Nyquist)</a:t>
            </a:r>
            <a:endParaRPr lang="en-US" sz="1000" noProof="1"/>
          </a:p>
        </p:txBody>
      </p:sp>
      <p:sp>
        <p:nvSpPr>
          <p:cNvPr id="10" name="s3"/>
          <p:cNvSpPr/>
          <p:nvPr/>
        </p:nvSpPr>
        <p:spPr>
          <a:xfrm>
            <a:off x="609600" y="2235200"/>
            <a:ext cx="2082800" cy="584200"/>
          </a:xfrm>
          <a:prstGeom prst="rect">
            <a:avLst/>
          </a:prstGeom>
          <a:solidFill>
            <a:srgbClr val="F7F5F0"/>
          </a:solidFill>
          <a:ln w="10160">
            <a:solidFill>
              <a:srgbClr val="333333"/>
            </a:solidFill>
          </a:ln>
        </p:spPr>
      </p:sp>
      <p:sp>
        <p:nvSpPr>
          <p:cNvPr id="11" name="s3t"/>
          <p:cNvSpPr txBox="1"/>
          <p:nvPr/>
        </p:nvSpPr>
        <p:spPr>
          <a:xfrm>
            <a:off x="609600" y="22352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Quantization</a:t>
            </a:r>
            <a:endParaRPr lang="en-US" sz="1000" noProof="1"/>
          </a:p>
          <a:p>
            <a:pPr algn="ctr">
              <a:lnSpc>
                <a:spcPct val="120000"/>
              </a:lnSpc>
            </a:pPr>
            <a:r>
              <a:rPr lang="en-US" sz="850" noProof="1">
                <a:solidFill>
                  <a:srgbClr val="000000"/>
                </a:solidFill>
                <a:latin typeface="Liter"/>
                <a:ea typeface="MiSans"/>
              </a:rPr>
              <a:t>8 bits / sample → 64 kbps</a:t>
            </a:r>
            <a:endParaRPr lang="en-US" sz="1000" noProof="1"/>
          </a:p>
        </p:txBody>
      </p:sp>
      <p:sp>
        <p:nvSpPr>
          <p:cNvPr id="12" name="a2"/>
          <p:cNvSpPr/>
          <p:nvPr>
            <p:extLst>
              <p:ext uri="{F5677B7D-0D2A-4D9B-9A5C-6D8D7D0E5A5D}">
                <pptd:line encoding="base64url">eyJ2aWV3Qm94IjpbMjIsMV0sInBvaW50cyI6IjAsMCAyMiwwIn0</pptd:line>
              </p:ext>
            </p:extLst>
          </p:nvPr>
        </p:nvSpPr>
        <p:spPr>
          <a:xfrm>
            <a:off x="2692400" y="25146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13" name="s4"/>
          <p:cNvSpPr/>
          <p:nvPr/>
        </p:nvSpPr>
        <p:spPr>
          <a:xfrm>
            <a:off x="2971800" y="2235200"/>
            <a:ext cx="2082800" cy="584200"/>
          </a:xfrm>
          <a:prstGeom prst="rect">
            <a:avLst/>
          </a:prstGeom>
          <a:solidFill>
            <a:srgbClr val="F7F5F0"/>
          </a:solidFill>
          <a:ln w="10160">
            <a:solidFill>
              <a:srgbClr val="333333"/>
            </a:solidFill>
          </a:ln>
        </p:spPr>
      </p:sp>
      <p:sp>
        <p:nvSpPr>
          <p:cNvPr id="14" name="s4t"/>
          <p:cNvSpPr txBox="1"/>
          <p:nvPr/>
        </p:nvSpPr>
        <p:spPr>
          <a:xfrm>
            <a:off x="2971800" y="22352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Encoding</a:t>
            </a:r>
            <a:endParaRPr lang="en-US" sz="1000" noProof="1"/>
          </a:p>
          <a:p>
            <a:pPr algn="ctr">
              <a:lnSpc>
                <a:spcPct val="120000"/>
              </a:lnSpc>
            </a:pPr>
            <a:r>
              <a:rPr lang="en-US" sz="850" noProof="1">
                <a:solidFill>
                  <a:srgbClr val="000000"/>
                </a:solidFill>
                <a:latin typeface="Liter"/>
                <a:ea typeface="MiSans"/>
              </a:rPr>
              <a:t>PCM or compressed codec</a:t>
            </a:r>
            <a:endParaRPr lang="en-US" sz="1000" noProof="1"/>
          </a:p>
        </p:txBody>
      </p:sp>
      <p:sp>
        <p:nvSpPr>
          <p:cNvPr id="15" name="s5"/>
          <p:cNvSpPr/>
          <p:nvPr/>
        </p:nvSpPr>
        <p:spPr>
          <a:xfrm>
            <a:off x="609600" y="2971800"/>
            <a:ext cx="2082800" cy="584200"/>
          </a:xfrm>
          <a:prstGeom prst="rect">
            <a:avLst/>
          </a:prstGeom>
          <a:solidFill>
            <a:srgbClr val="F7F5F0"/>
          </a:solidFill>
          <a:ln w="10160">
            <a:solidFill>
              <a:srgbClr val="333333"/>
            </a:solidFill>
          </a:ln>
        </p:spPr>
      </p:sp>
      <p:sp>
        <p:nvSpPr>
          <p:cNvPr id="16" name="s5t"/>
          <p:cNvSpPr txBox="1"/>
          <p:nvPr/>
        </p:nvSpPr>
        <p:spPr>
          <a:xfrm>
            <a:off x="609600" y="29718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Packetization</a:t>
            </a:r>
            <a:endParaRPr lang="en-US" sz="1000" noProof="1"/>
          </a:p>
          <a:p>
            <a:pPr algn="ctr">
              <a:lnSpc>
                <a:spcPct val="120000"/>
              </a:lnSpc>
            </a:pPr>
            <a:r>
              <a:rPr lang="en-US" sz="850" noProof="1">
                <a:solidFill>
                  <a:srgbClr val="000000"/>
                </a:solidFill>
                <a:latin typeface="Liter"/>
                <a:ea typeface="MiSans"/>
              </a:rPr>
              <a:t>20 ms frames typical</a:t>
            </a:r>
            <a:endParaRPr lang="en-US" sz="1000" noProof="1"/>
          </a:p>
        </p:txBody>
      </p:sp>
      <p:sp>
        <p:nvSpPr>
          <p:cNvPr id="17" name="a3"/>
          <p:cNvSpPr/>
          <p:nvPr>
            <p:extLst>
              <p:ext uri="{F5677B7D-0D2A-4D9B-9A5C-6D8D7D0E5A5D}">
                <pptd:line encoding="base64url">eyJ2aWV3Qm94IjpbMjIsMV0sInBvaW50cyI6IjAsMCAyMiwwIn0</pptd:line>
              </p:ext>
            </p:extLst>
          </p:nvPr>
        </p:nvSpPr>
        <p:spPr>
          <a:xfrm>
            <a:off x="2692400" y="3251200"/>
            <a:ext cx="279400" cy="12700"/>
          </a:xfrm>
          <a:custGeom>
            <a:avLst/>
            <a:gdLst/>
            <a:ahLst/>
            <a:cxnLst/>
            <a:rect l="l" t="t" r="r" b="b"/>
            <a:pathLst>
              <a:path w="22" h="1">
                <a:moveTo>
                  <a:pt x="0" y="0"/>
                </a:moveTo>
                <a:lnTo>
                  <a:pt x="22" y="0"/>
                </a:lnTo>
              </a:path>
            </a:pathLst>
          </a:custGeom>
          <a:noFill/>
          <a:ln w="15240" cap="rnd">
            <a:solidFill>
              <a:srgbClr val="E69138"/>
            </a:solidFill>
            <a:round/>
            <a:tailEnd type="arrow"/>
          </a:ln>
        </p:spPr>
      </p:sp>
      <p:sp>
        <p:nvSpPr>
          <p:cNvPr id="18" name="s6"/>
          <p:cNvSpPr/>
          <p:nvPr/>
        </p:nvSpPr>
        <p:spPr>
          <a:xfrm>
            <a:off x="2971800" y="2971800"/>
            <a:ext cx="2082800" cy="584200"/>
          </a:xfrm>
          <a:prstGeom prst="rect">
            <a:avLst/>
          </a:prstGeom>
          <a:solidFill>
            <a:srgbClr val="F7F5F0"/>
          </a:solidFill>
          <a:ln w="10160">
            <a:solidFill>
              <a:srgbClr val="333333"/>
            </a:solidFill>
          </a:ln>
        </p:spPr>
      </p:sp>
      <p:sp>
        <p:nvSpPr>
          <p:cNvPr id="19" name="s6t"/>
          <p:cNvSpPr txBox="1"/>
          <p:nvPr/>
        </p:nvSpPr>
        <p:spPr>
          <a:xfrm>
            <a:off x="2971800" y="2971800"/>
            <a:ext cx="2082800" cy="584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RTP / UDP / IP</a:t>
            </a:r>
            <a:endParaRPr lang="en-US" sz="1000" noProof="1"/>
          </a:p>
          <a:p>
            <a:pPr algn="ctr">
              <a:lnSpc>
                <a:spcPct val="120000"/>
              </a:lnSpc>
            </a:pPr>
            <a:r>
              <a:rPr lang="en-US" sz="850" noProof="1">
                <a:solidFill>
                  <a:srgbClr val="000000"/>
                </a:solidFill>
                <a:latin typeface="Liter"/>
                <a:ea typeface="MiSans"/>
              </a:rPr>
              <a:t>sequence + timestamp</a:t>
            </a:r>
            <a:endParaRPr lang="en-US" sz="1000" noProof="1"/>
          </a:p>
        </p:txBody>
      </p:sp>
      <p:sp>
        <p:nvSpPr>
          <p:cNvPr id="20" name="l-arrow1"/>
          <p:cNvSpPr/>
          <p:nvPr>
            <p:extLst>
              <p:ext uri="{F5677B7D-0D2A-4D9B-9A5C-6D8D7D0E5A5D}">
                <pptd:line encoding="base64url">eyJ2aWV3Qm94IjpbMSwxMl0sInBvaW50cyI6IjAsMCAwLDEyIn0</pptd:line>
              </p:ext>
            </p:extLst>
          </p:nvPr>
        </p:nvSpPr>
        <p:spPr>
          <a:xfrm>
            <a:off x="1651000" y="2082800"/>
            <a:ext cx="12700" cy="152400"/>
          </a:xfrm>
          <a:custGeom>
            <a:avLst/>
            <a:gdLst/>
            <a:ahLst/>
            <a:cxnLst/>
            <a:rect l="l" t="t" r="r" b="b"/>
            <a:pathLst>
              <a:path w="1" h="12">
                <a:moveTo>
                  <a:pt x="0" y="0"/>
                </a:moveTo>
                <a:lnTo>
                  <a:pt x="0" y="12"/>
                </a:lnTo>
              </a:path>
            </a:pathLst>
          </a:custGeom>
          <a:noFill/>
          <a:ln w="12700" cap="rnd">
            <a:solidFill>
              <a:srgbClr val="A9AAAC"/>
            </a:solidFill>
            <a:round/>
            <a:tailEnd type="arrow"/>
          </a:ln>
        </p:spPr>
      </p:sp>
      <p:sp>
        <p:nvSpPr>
          <p:cNvPr id="21" name="l-arrow2"/>
          <p:cNvSpPr/>
          <p:nvPr>
            <p:extLst>
              <p:ext uri="{F5677B7D-0D2A-4D9B-9A5C-6D8D7D0E5A5D}">
                <pptd:line encoding="base64url">eyJ2aWV3Qm94IjpbMSwxMl0sInBvaW50cyI6IjAsMCAwLDEyIn0</pptd:line>
              </p:ext>
            </p:extLst>
          </p:nvPr>
        </p:nvSpPr>
        <p:spPr>
          <a:xfrm>
            <a:off x="1651000" y="2819400"/>
            <a:ext cx="12700" cy="152400"/>
          </a:xfrm>
          <a:custGeom>
            <a:avLst/>
            <a:gdLst/>
            <a:ahLst/>
            <a:cxnLst/>
            <a:rect l="l" t="t" r="r" b="b"/>
            <a:pathLst>
              <a:path w="1" h="12">
                <a:moveTo>
                  <a:pt x="0" y="0"/>
                </a:moveTo>
                <a:lnTo>
                  <a:pt x="0" y="12"/>
                </a:lnTo>
              </a:path>
            </a:pathLst>
          </a:custGeom>
          <a:noFill/>
          <a:ln w="12700" cap="rnd">
            <a:solidFill>
              <a:srgbClr val="A9AAAC"/>
            </a:solidFill>
            <a:round/>
            <a:tailEnd type="arrow"/>
          </a:ln>
        </p:spPr>
      </p:sp>
      <p:sp>
        <p:nvSpPr>
          <p:cNvPr id="22" name="note-box"/>
          <p:cNvSpPr/>
          <p:nvPr/>
        </p:nvSpPr>
        <p:spPr>
          <a:xfrm>
            <a:off x="609600" y="3810000"/>
            <a:ext cx="4445000" cy="1117600"/>
          </a:xfrm>
          <a:prstGeom prst="roundRect">
            <a:avLst>
              <a:gd name="adj" fmla="val 12000"/>
            </a:avLst>
          </a:prstGeom>
          <a:solidFill>
            <a:srgbClr val="F3F3F3"/>
          </a:solidFill>
          <a:ln>
            <a:noFill/>
          </a:ln>
        </p:spPr>
      </p:sp>
      <p:sp>
        <p:nvSpPr>
          <p:cNvPr id="23" name="note-text"/>
          <p:cNvSpPr txBox="1"/>
          <p:nvPr/>
        </p:nvSpPr>
        <p:spPr>
          <a:xfrm>
            <a:off x="787400" y="3911600"/>
            <a:ext cx="41148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Bandwidth math (G.711, 20 ms frames):</a:t>
            </a:r>
            <a:r>
              <a:rPr lang="en-US" sz="1000" noProof="1">
                <a:solidFill>
                  <a:srgbClr val="5A5A5A"/>
                </a:solidFill>
                <a:latin typeface="Liter"/>
                <a:ea typeface="MiSans"/>
              </a:rPr>
              <a:t> 64 kbps payload + RTP/UDP/IP overhead ≈ </a:t>
            </a:r>
            <a:r>
              <a:rPr lang="en-US" sz="1000" noProof="1" b="1">
                <a:solidFill>
                  <a:srgbClr val="000000"/>
                </a:solidFill>
                <a:latin typeface="Liter"/>
                <a:ea typeface="MiSans"/>
              </a:rPr>
              <a:t>~80–87 kbps</a:t>
            </a:r>
            <a:r>
              <a:rPr lang="en-US" sz="1000" noProof="1">
                <a:solidFill>
                  <a:srgbClr val="5A5A5A"/>
                </a:solidFill>
                <a:latin typeface="Liter"/>
                <a:ea typeface="MiSans"/>
              </a:rPr>
              <a:t> per call on Ethernet. Over WAN links the overhead fraction grows — the reason CAC and codec policy exist.</a:t>
            </a:r>
            <a:endParaRPr lang="en-US" sz="1000" noProof="1"/>
          </a:p>
        </p:txBody>
      </p:sp>
      <p:sp>
        <p:nvSpPr>
          <p:cNvPr id="24" name="key-points"/>
          <p:cNvSpPr txBox="1"/>
          <p:nvPr/>
        </p:nvSpPr>
        <p:spPr>
          <a:xfrm>
            <a:off x="609600" y="5130800"/>
            <a:ext cx="4445000" cy="1066800"/>
          </a:xfrm>
          <a:prstGeom prst="rect">
            <a:avLst/>
          </a:prstGeom>
          <a:noFill/>
          <a:ln>
            <a:noFill/>
          </a:ln>
        </p:spPr>
        <p:txBody>
          <a:bodyPr lIns="0" rIns="0" tIns="0" bIns="0" wrap="square" rtlCol="0"/>
          <a:lstStyle/>
          <a:p>
            <a:pPr>
              <a:lnSpc>
                <a:spcPct val="145000"/>
              </a:lnSpc>
            </a:pPr>
            <a:r>
              <a:rPr lang="en-US" sz="1150" noProof="1" b="1">
                <a:solidFill>
                  <a:srgbClr val="000000"/>
                </a:solidFill>
                <a:latin typeface="Liter"/>
                <a:ea typeface="MiSans"/>
              </a:rPr>
              <a:t>G.711</a:t>
            </a:r>
            <a:r>
              <a:rPr lang="en-US" sz="1150" noProof="1">
                <a:solidFill>
                  <a:srgbClr val="000000"/>
                </a:solidFill>
                <a:latin typeface="Liter"/>
                <a:ea typeface="MiSans"/>
              </a:rPr>
              <a:t> is the LAN default: toll quality, no compression delay.</a:t>
            </a:r>
            <a:endParaRPr lang="en-US" sz="1150" noProof="1"/>
          </a:p>
          <a:p>
            <a:pPr>
              <a:lnSpc>
                <a:spcPct val="145000"/>
              </a:lnSpc>
              <a:spcBef>
                <a:spcPts val="800"/>
              </a:spcBef>
            </a:pPr>
            <a:r>
              <a:rPr lang="en-US" sz="1150" noProof="1" b="1">
                <a:solidFill>
                  <a:srgbClr val="000000"/>
                </a:solidFill>
                <a:latin typeface="Liter"/>
                <a:ea typeface="MiSans"/>
              </a:rPr>
              <a:t>G.729</a:t>
            </a:r>
            <a:r>
              <a:rPr lang="en-US" sz="1150" noProof="1">
                <a:solidFill>
                  <a:srgbClr val="000000"/>
                </a:solidFill>
                <a:latin typeface="Liter"/>
                <a:ea typeface="MiSans"/>
              </a:rPr>
              <a:t> fits constrained WAN links at 8 kbps per call.</a:t>
            </a:r>
            <a:endParaRPr lang="en-US" sz="1150" noProof="1"/>
          </a:p>
          <a:p>
            <a:pPr>
              <a:lnSpc>
                <a:spcPct val="145000"/>
              </a:lnSpc>
              <a:spcBef>
                <a:spcPts val="800"/>
              </a:spcBef>
            </a:pPr>
            <a:r>
              <a:rPr lang="en-US" sz="1150" noProof="1" b="1">
                <a:solidFill>
                  <a:srgbClr val="000000"/>
                </a:solidFill>
                <a:latin typeface="Liter"/>
                <a:ea typeface="MiSans"/>
              </a:rPr>
              <a:t>Opus</a:t>
            </a:r>
            <a:r>
              <a:rPr lang="en-US" sz="1150" noProof="1">
                <a:solidFill>
                  <a:srgbClr val="000000"/>
                </a:solidFill>
                <a:latin typeface="Liter"/>
                <a:ea typeface="MiSans"/>
              </a:rPr>
              <a:t> adapts 6–510 kbps; standard in Webex and modern endpoints.</a:t>
            </a:r>
            <a:endParaRPr lang="en-US" sz="1150" noProof="1"/>
          </a:p>
        </p:txBody>
      </p:sp>
      <p:sp>
        <p:nvSpPr>
          <p:cNvPr id="25" name="tbl-h"/>
          <p:cNvSpPr txBox="1"/>
          <p:nvPr/>
        </p:nvSpPr>
        <p:spPr>
          <a:xfrm>
            <a:off x="5740400" y="11684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Codecs a Cisco engineer configures every week</a:t>
            </a:r>
            <a:endParaRPr lang="en-US" sz="1100" noProof="1"/>
          </a:p>
        </p:txBody>
      </p:sp>
      <p:graphicFrame>
        <p:nvGraphicFramePr>
          <p:cNvPr id="26" name="codec-table"/>
          <p:cNvGraphicFramePr>
            <a:graphicFrameLocks noGrp="1"/>
          </p:cNvGraphicFramePr>
          <p:nvPr/>
        </p:nvGraphicFramePr>
        <p:xfrm>
          <a:off x="5740400" y="1473200"/>
          <a:ext cx="5842000" cy="3302000"/>
        </p:xfrm>
        <a:graphic>
          <a:graphicData uri="http://schemas.openxmlformats.org/drawingml/2006/table">
            <a:tbl>
              <a:tblPr/>
              <a:tblGrid>
                <a:gridCol w="1168400"/>
                <a:gridCol w="993140"/>
                <a:gridCol w="934720"/>
                <a:gridCol w="2745740"/>
              </a:tblGrid>
              <a:tr h="462280">
                <a:tc>
                  <a:txBody>
                    <a:bodyPr wrap="square" rtlCol="0" anchor="ctr"/>
                    <a:lstStyle/>
                    <a:p>
                      <a:pPr algn="l"/>
                      <a:r>
                        <a:rPr lang="en-US" sz="1050" noProof="1" b="1">
                          <a:solidFill>
                            <a:srgbClr val="000000"/>
                          </a:solidFill>
                          <a:latin typeface="Liter"/>
                          <a:ea typeface="MiSans"/>
                        </a:rPr>
                        <a:t>Codec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Bit rate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MOS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it is used</a:t>
                      </a:r>
                    </a:p>
                  </a:txBody>
                  <a:tcPr marL="91440" marR="91440" marT="45720" marB="45720" anchor="ctr">
                    <a:lnL>
                      <a:noFill/>
                    </a:lnL>
                    <a:lnR>
                      <a:noFill/>
                    </a:lnR>
                    <a:lnT>
                      <a:noFill/>
                    </a:lnT>
                    <a:lnB w="15240">
                      <a:solidFill>
                        <a:srgbClr val="000000"/>
                      </a:solidFill>
                    </a:lnB>
                    <a:noFill/>
                  </a:tcPr>
                </a:tc>
              </a:tr>
              <a:tr h="709930">
                <a:tc>
                  <a:txBody>
                    <a:bodyPr wrap="square" rtlCol="0" anchor="ctr"/>
                    <a:lstStyle/>
                    <a:p>
                      <a:pPr algn="l"/>
                      <a:r>
                        <a:rPr lang="en-US" sz="1050" noProof="1">
                          <a:solidFill>
                            <a:srgbClr val="000000"/>
                          </a:solidFill>
                          <a:latin typeface="Liter"/>
                          <a:ea typeface="MiSans"/>
                        </a:rPr>
                        <a:t>G.711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LAN calls, fax/modem relay fallback, PSTN trunks</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G.729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8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WAN links, branch sites under CAC pressure</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G.722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4.5 (wideband)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HD voice between capable endpoints</a:t>
                      </a:r>
                    </a:p>
                  </a:txBody>
                  <a:tcPr marL="91440" marR="91440" marT="45720" marB="45720" anchor="ctr">
                    <a:lnL>
                      <a:noFill/>
                    </a:lnL>
                    <a:lnR>
                      <a:noFill/>
                    </a:lnR>
                    <a:lnT>
                      <a:noFill/>
                    </a:lnT>
                    <a:lnB w="7620">
                      <a:solidFill>
                        <a:srgbClr val="D9D9D9"/>
                      </a:solidFill>
                    </a:lnB>
                    <a:noFill/>
                  </a:tcPr>
                </a:tc>
              </a:tr>
              <a:tr h="709930">
                <a:tc>
                  <a:txBody>
                    <a:bodyPr wrap="square" rtlCol="0" anchor="ctr"/>
                    <a:lstStyle/>
                    <a:p>
                      <a:pPr algn="l"/>
                      <a:r>
                        <a:rPr lang="en-US" sz="1050" noProof="1">
                          <a:solidFill>
                            <a:srgbClr val="000000"/>
                          </a:solidFill>
                          <a:latin typeface="Liter"/>
                          <a:ea typeface="MiSans"/>
                        </a:rPr>
                        <a:t>Opus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6–510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Calling / Meetings, loss-adaptive internet paths</a:t>
                      </a:r>
                    </a:p>
                  </a:txBody>
                  <a:tcPr marL="91440" marR="91440" marT="45720" marB="45720" anchor="ctr">
                    <a:lnL>
                      <a:noFill/>
                    </a:lnL>
                    <a:lnR>
                      <a:noFill/>
                    </a:lnR>
                    <a:lnT>
                      <a:noFill/>
                    </a:lnT>
                    <a:lnB w="7620">
                      <a:solidFill>
                        <a:srgbClr val="D9D9D9"/>
                      </a:solidFill>
                    </a:lnB>
                    <a:noFill/>
                  </a:tcPr>
                </a:tc>
              </a:tr>
            </a:tbl>
          </a:graphicData>
        </a:graphic>
      </p:graphicFrame>
      <p:sp>
        <p:nvSpPr>
          <p:cNvPr id="27" name="tbl-note"/>
          <p:cNvSpPr txBox="1"/>
          <p:nvPr/>
        </p:nvSpPr>
        <p:spPr>
          <a:xfrm>
            <a:off x="5740400" y="4876800"/>
            <a:ext cx="5842000" cy="762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MOS = mean opinion score, the standard 1–5 perceived-quality scale. CUCM applies codec policy through </a:t>
            </a:r>
            <a:r>
              <a:rPr lang="en-US" sz="1000" noProof="1" b="1">
                <a:solidFill>
                  <a:srgbClr val="5A5A5A"/>
                </a:solidFill>
                <a:latin typeface="Liter"/>
                <a:ea typeface="MiSans"/>
              </a:rPr>
              <a:t>regions</a:t>
            </a:r>
            <a:r>
              <a:rPr lang="en-US" sz="1000" noProof="1">
                <a:solidFill>
                  <a:srgbClr val="5A5A5A"/>
                </a:solidFill>
                <a:latin typeface="Liter"/>
                <a:ea typeface="MiSans"/>
              </a:rPr>
              <a:t> (Section 02); transcoders and hardware DSP resources on gateways resolve mismatches between endpoints and trunks.</a:t>
            </a:r>
            <a:endParaRPr lang="en-US" sz="1000" noProof="1"/>
          </a:p>
        </p:txBody>
      </p:sp>
      <p:sp>
        <p:nvSpPr>
          <p:cNvPr id="2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ITU-T G.711 / G.729 / G.722 recommendations; Cisco Collaboration SRND bandwidth and codec guidance, cisco.com</a:t>
            </a:r>
            <a:endParaRPr lang="en-US" sz="850" noProof="1"/>
          </a:p>
        </p:txBody>
      </p:sp>
      <p:sp>
        <p:nvSpPr>
          <p:cNvPr id="30" name="cml-footer-bar"/>
          <p:cNvSpPr/>
          <p:nvPr/>
        </p:nvSpPr>
        <p:spPr>
          <a:xfrm>
            <a:off x="0" y="6670000"/>
            <a:ext cx="12192000" cy="640000"/>
          </a:xfrm>
          <a:prstGeom prst="rect">
            <a:avLst/>
          </a:prstGeom>
          <a:solidFill>
            <a:srgbClr val="12161C"/>
          </a:solidFill>
          <a:ln>
            <a:noFill/>
          </a:ln>
        </p:spPr>
        <p:txBody>
          <a:bodyPr/>
          <a:lstStyle/>
          <a:p/>
        </p:txBody>
      </p:sp>
      <p:sp>
        <p:nvSpPr>
          <p:cNvPr id="31" name="cml-footer-rule"/>
          <p:cNvSpPr/>
          <p:nvPr/>
        </p:nvSpPr>
        <p:spPr>
          <a:xfrm>
            <a:off x="0" y="6670000"/>
            <a:ext cx="12192000" cy="19050"/>
          </a:xfrm>
          <a:prstGeom prst="rect">
            <a:avLst/>
          </a:prstGeom>
          <a:solidFill>
            <a:srgbClr val="2DD4BF"/>
          </a:solidFill>
          <a:ln>
            <a:noFill/>
          </a:ln>
        </p:spPr>
        <p:txBody>
          <a:bodyPr/>
          <a:lstStyle/>
          <a:p/>
        </p:txBody>
      </p:sp>
      <p:sp>
        <p:nvSpPr>
          <p:cNvPr id="32"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3"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4"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5"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6"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7"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8"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9"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0"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1"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2"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3"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4"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5"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Voice has hard media budgets: 150 ms one-way latency, 30 ms jitter, 1% loss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Exceed any one of the three budgets and MOS drops below toll quality — QoS exists to protect these numbers under load.</a:t>
            </a:r>
            <a:endParaRPr lang="en-US" sz="1100" noProof="1"/>
          </a:p>
        </p:txBody>
      </p:sp>
      <p:sp>
        <p:nvSpPr>
          <p:cNvPr id="4" name="bud-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budgets and what breaks them</a:t>
            </a:r>
            <a:endParaRPr lang="en-US" sz="1100" noProof="1"/>
          </a:p>
        </p:txBody>
      </p:sp>
      <p:graphicFrame>
        <p:nvGraphicFramePr>
          <p:cNvPr id="5" name="bud-table"/>
          <p:cNvGraphicFramePr>
            <a:graphicFrameLocks noGrp="1"/>
          </p:cNvGraphicFramePr>
          <p:nvPr/>
        </p:nvGraphicFramePr>
        <p:xfrm>
          <a:off x="609600" y="1447800"/>
          <a:ext cx="5461000" cy="2413000"/>
        </p:xfrm>
        <a:graphic>
          <a:graphicData uri="http://schemas.openxmlformats.org/drawingml/2006/table">
            <a:tbl>
              <a:tblPr/>
              <a:tblGrid>
                <a:gridCol w="1310640"/>
                <a:gridCol w="1201420"/>
                <a:gridCol w="2948940"/>
              </a:tblGrid>
              <a:tr h="386080">
                <a:tc>
                  <a:txBody>
                    <a:bodyPr wrap="square" rtlCol="0" anchor="ctr"/>
                    <a:lstStyle/>
                    <a:p>
                      <a:pPr algn="l"/>
                      <a:r>
                        <a:rPr lang="en-US" sz="1050" noProof="1" b="1">
                          <a:solidFill>
                            <a:srgbClr val="000000"/>
                          </a:solidFill>
                          <a:latin typeface="Liter"/>
                          <a:ea typeface="MiSans"/>
                        </a:rPr>
                        <a:t>Metric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Budget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cause when exceeded</a:t>
                      </a:r>
                    </a:p>
                  </a:txBody>
                  <a:tcPr marL="91440" marR="91440" marT="45720" marB="45720" anchor="ctr">
                    <a:lnL>
                      <a:noFill/>
                    </a:lnL>
                    <a:lnR>
                      <a:noFill/>
                    </a:lnR>
                    <a:lnT>
                      <a:noFill/>
                    </a:lnT>
                    <a:lnB w="15240">
                      <a:solidFill>
                        <a:srgbClr val="000000"/>
                      </a:solidFill>
                    </a:lnB>
                    <a:noFill/>
                  </a:tcPr>
                </a:tc>
              </a:tr>
              <a:tr h="675640">
                <a:tc>
                  <a:txBody>
                    <a:bodyPr wrap="square" rtlCol="0" anchor="ctr"/>
                    <a:lstStyle/>
                    <a:p>
                      <a:pPr algn="l"/>
                      <a:r>
                        <a:rPr lang="en-US" sz="1050" noProof="1">
                          <a:solidFill>
                            <a:srgbClr val="000000"/>
                          </a:solidFill>
                          <a:latin typeface="Liter"/>
                          <a:ea typeface="MiSans"/>
                        </a:rPr>
                        <a:t>One-way latency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150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long WAN paths, queued congestion, double media anchoring</a:t>
                      </a:r>
                    </a:p>
                  </a:txBody>
                  <a:tcPr marL="91440" marR="91440" marT="45720" marB="45720" anchor="ctr">
                    <a:lnL>
                      <a:noFill/>
                    </a:lnL>
                    <a:lnR>
                      <a:noFill/>
                    </a:lnR>
                    <a:lnT>
                      <a:noFill/>
                    </a:lnT>
                    <a:lnB w="7620">
                      <a:solidFill>
                        <a:srgbClr val="D9D9D9"/>
                      </a:solidFill>
                    </a:lnB>
                    <a:noFill/>
                  </a:tcPr>
                </a:tc>
              </a:tr>
              <a:tr h="675640">
                <a:tc>
                  <a:txBody>
                    <a:bodyPr wrap="square" rtlCol="0" anchor="ctr"/>
                    <a:lstStyle/>
                    <a:p>
                      <a:pPr algn="l"/>
                      <a:r>
                        <a:rPr lang="en-US" sz="1050" noProof="1">
                          <a:solidFill>
                            <a:srgbClr val="000000"/>
                          </a:solidFill>
                          <a:latin typeface="Liter"/>
                          <a:ea typeface="MiSans"/>
                        </a:rPr>
                        <a:t>Jitter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 priority queuing on congested links; buffer overruns</a:t>
                      </a:r>
                    </a:p>
                  </a:txBody>
                  <a:tcPr marL="91440" marR="91440" marT="45720" marB="45720" anchor="ctr">
                    <a:lnL>
                      <a:noFill/>
                    </a:lnL>
                    <a:lnR>
                      <a:noFill/>
                    </a:lnR>
                    <a:lnT>
                      <a:noFill/>
                    </a:lnT>
                    <a:lnB w="7620">
                      <a:solidFill>
                        <a:srgbClr val="D9D9D9"/>
                      </a:solidFill>
                    </a:lnB>
                    <a:noFill/>
                  </a:tcPr>
                </a:tc>
              </a:tr>
              <a:tr h="675640">
                <a:tc>
                  <a:txBody>
                    <a:bodyPr wrap="square" rtlCol="0" anchor="ctr"/>
                    <a:lstStyle/>
                    <a:p>
                      <a:pPr algn="l"/>
                      <a:r>
                        <a:rPr lang="en-US" sz="1050" noProof="1">
                          <a:solidFill>
                            <a:srgbClr val="000000"/>
                          </a:solidFill>
                          <a:latin typeface="Liter"/>
                          <a:ea typeface="MiSans"/>
                        </a:rPr>
                        <a:t>Packet loss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interface drops, policing, Wi-Fi interference</a:t>
                      </a:r>
                    </a:p>
                  </a:txBody>
                  <a:tcPr marL="91440" marR="91440" marT="45720" marB="45720" anchor="ctr">
                    <a:lnL>
                      <a:noFill/>
                    </a:lnL>
                    <a:lnR>
                      <a:noFill/>
                    </a:lnR>
                    <a:lnT>
                      <a:noFill/>
                    </a:lnT>
                    <a:lnB w="7620">
                      <a:solidFill>
                        <a:srgbClr val="D9D9D9"/>
                      </a:solidFill>
                    </a:lnB>
                    <a:noFill/>
                  </a:tcPr>
                </a:tc>
              </a:tr>
            </a:tbl>
          </a:graphicData>
        </a:graphic>
      </p:graphicFrame>
      <p:sp>
        <p:nvSpPr>
          <p:cNvPr id="6" name="bud-note"/>
          <p:cNvSpPr txBox="1"/>
          <p:nvPr/>
        </p:nvSpPr>
        <p:spPr>
          <a:xfrm>
            <a:off x="609600" y="4038600"/>
            <a:ext cx="5461000" cy="190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Why these numbers:</a:t>
            </a:r>
            <a:r>
              <a:rPr lang="en-US" sz="1250" noProof="1">
                <a:solidFill>
                  <a:srgbClr val="000000"/>
                </a:solidFill>
                <a:latin typeface="Liter"/>
                <a:ea typeface="MiSans"/>
              </a:rPr>
              <a:t> beyond 150 ms one-way, talkers begin to interrupt each other; beyond 30 ms jitter, dejitter buffers underflow into lost speech; beyond 1% loss, G.711 has no concealment left and syllables drop.</a:t>
            </a:r>
            <a:endParaRPr lang="en-US" sz="1250" noProof="1"/>
          </a:p>
          <a:p>
            <a:pPr>
              <a:lnSpc>
                <a:spcPct val="145000"/>
              </a:lnSpc>
              <a:spcBef>
                <a:spcPts val="800"/>
              </a:spcBef>
            </a:pPr>
            <a:r>
              <a:rPr lang="en-US" sz="1250" noProof="1">
                <a:solidFill>
                  <a:srgbClr val="000000"/>
                </a:solidFill>
                <a:latin typeface="Liter"/>
                <a:ea typeface="MiSans"/>
              </a:rPr>
              <a:t>The budgets come from ITU-T G.114 delay guidance and Cisco SRND quality targets; CMR data (Section 06) shows them per call.</a:t>
            </a:r>
            <a:endParaRPr lang="en-US" sz="1250" noProof="1"/>
          </a:p>
        </p:txBody>
      </p:sp>
      <p:sp>
        <p:nvSpPr>
          <p:cNvPr id="7" name="mech-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How QoS defends the budgets on a Cisco network</a:t>
            </a:r>
            <a:endParaRPr lang="en-US" sz="1100" noProof="1"/>
          </a:p>
        </p:txBody>
      </p:sp>
      <p:sp>
        <p:nvSpPr>
          <p:cNvPr id="8" name="q1"/>
          <p:cNvSpPr/>
          <p:nvPr/>
        </p:nvSpPr>
        <p:spPr>
          <a:xfrm>
            <a:off x="6604000" y="1473200"/>
            <a:ext cx="4978400" cy="711200"/>
          </a:xfrm>
          <a:prstGeom prst="rect">
            <a:avLst/>
          </a:prstGeom>
          <a:solidFill>
            <a:srgbClr val="F7F5F0"/>
          </a:solidFill>
          <a:ln w="10160">
            <a:solidFill>
              <a:srgbClr val="333333"/>
            </a:solidFill>
          </a:ln>
        </p:spPr>
      </p:sp>
      <p:sp>
        <p:nvSpPr>
          <p:cNvPr id="9" name="q1t"/>
          <p:cNvSpPr txBox="1"/>
          <p:nvPr/>
        </p:nvSpPr>
        <p:spPr>
          <a:xfrm>
            <a:off x="6756400" y="15494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Classify and mark</a:t>
            </a:r>
            <a:endParaRPr lang="en-US" sz="1000" noProof="1"/>
          </a:p>
          <a:p>
            <a:pPr>
              <a:lnSpc>
                <a:spcPct val="130000"/>
              </a:lnSpc>
            </a:pPr>
            <a:r>
              <a:rPr lang="en-US" sz="850" noProof="1">
                <a:solidFill>
                  <a:srgbClr val="000000"/>
                </a:solidFill>
                <a:latin typeface="Liter"/>
                <a:ea typeface="MiSans"/>
              </a:rPr>
              <a:t>voice media → DSCP </a:t>
            </a:r>
            <a:r>
              <a:rPr lang="en-US" sz="850" noProof="1" b="1">
                <a:solidFill>
                  <a:srgbClr val="000000"/>
                </a:solidFill>
                <a:latin typeface="Liter"/>
                <a:ea typeface="MiSans"/>
              </a:rPr>
              <a:t>EF</a:t>
            </a:r>
            <a:r>
              <a:rPr lang="en-US" sz="850" noProof="1">
                <a:solidFill>
                  <a:srgbClr val="000000"/>
                </a:solidFill>
                <a:latin typeface="Liter"/>
                <a:ea typeface="MiSans"/>
              </a:rPr>
              <a:t>, signaling → </a:t>
            </a:r>
            <a:r>
              <a:rPr lang="en-US" sz="850" noProof="1" b="1">
                <a:solidFill>
                  <a:srgbClr val="000000"/>
                </a:solidFill>
                <a:latin typeface="Liter"/>
                <a:ea typeface="MiSans"/>
              </a:rPr>
              <a:t>CS3</a:t>
            </a:r>
            <a:r>
              <a:rPr lang="en-US" sz="850" noProof="1">
                <a:solidFill>
                  <a:srgbClr val="000000"/>
                </a:solidFill>
                <a:latin typeface="Liter"/>
                <a:ea typeface="MiSans"/>
              </a:rPr>
              <a:t>; trust the phone's markings at the access-port trust boundary</a:t>
            </a:r>
            <a:endParaRPr lang="en-US" sz="1000" noProof="1"/>
          </a:p>
        </p:txBody>
      </p:sp>
      <p:sp>
        <p:nvSpPr>
          <p:cNvPr id="10" name="qa1"/>
          <p:cNvSpPr/>
          <p:nvPr>
            <p:extLst>
              <p:ext uri="{F5677B7D-0D2A-4D9B-9A5C-6D8D7D0E5A5D}">
                <pptd:line encoding="base64url">eyJ2aWV3Qm94IjpbMSwxMl0sInBvaW50cyI6IjAsMCAwLDEyIn0</pptd:line>
              </p:ext>
            </p:extLst>
          </p:nvPr>
        </p:nvSpPr>
        <p:spPr>
          <a:xfrm>
            <a:off x="9093200" y="2184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q2"/>
          <p:cNvSpPr/>
          <p:nvPr/>
        </p:nvSpPr>
        <p:spPr>
          <a:xfrm>
            <a:off x="6604000" y="2336800"/>
            <a:ext cx="4978400" cy="711200"/>
          </a:xfrm>
          <a:prstGeom prst="rect">
            <a:avLst/>
          </a:prstGeom>
          <a:solidFill>
            <a:srgbClr val="F7F5F0"/>
          </a:solidFill>
          <a:ln w="10160">
            <a:solidFill>
              <a:srgbClr val="333333"/>
            </a:solidFill>
          </a:ln>
        </p:spPr>
      </p:sp>
      <p:sp>
        <p:nvSpPr>
          <p:cNvPr id="12" name="q2t"/>
          <p:cNvSpPr txBox="1"/>
          <p:nvPr/>
        </p:nvSpPr>
        <p:spPr>
          <a:xfrm>
            <a:off x="6756400" y="24130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Queue with priority</a:t>
            </a:r>
            <a:endParaRPr lang="en-US" sz="1000" noProof="1"/>
          </a:p>
          <a:p>
            <a:pPr>
              <a:lnSpc>
                <a:spcPct val="130000"/>
              </a:lnSpc>
            </a:pPr>
            <a:r>
              <a:rPr lang="en-US" sz="850" noProof="1">
                <a:solidFill>
                  <a:srgbClr val="000000"/>
                </a:solidFill>
                <a:latin typeface="Liter"/>
                <a:ea typeface="MiSans"/>
              </a:rPr>
              <a:t>LLQ / priority queue for EF on every WAN edge; signaling and media resources in CBWFQ classes</a:t>
            </a:r>
            <a:endParaRPr lang="en-US" sz="1000" noProof="1"/>
          </a:p>
        </p:txBody>
      </p:sp>
      <p:sp>
        <p:nvSpPr>
          <p:cNvPr id="13" name="qa2"/>
          <p:cNvSpPr/>
          <p:nvPr>
            <p:extLst>
              <p:ext uri="{F5677B7D-0D2A-4D9B-9A5C-6D8D7D0E5A5D}">
                <pptd:line encoding="base64url">eyJ2aWV3Qm94IjpbMSwxMl0sInBvaW50cyI6IjAsMCAwLDEyIn0</pptd:line>
              </p:ext>
            </p:extLst>
          </p:nvPr>
        </p:nvSpPr>
        <p:spPr>
          <a:xfrm>
            <a:off x="9093200" y="3048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4" name="q3"/>
          <p:cNvSpPr/>
          <p:nvPr/>
        </p:nvSpPr>
        <p:spPr>
          <a:xfrm>
            <a:off x="6604000" y="3200400"/>
            <a:ext cx="4978400" cy="711200"/>
          </a:xfrm>
          <a:prstGeom prst="rect">
            <a:avLst/>
          </a:prstGeom>
          <a:solidFill>
            <a:srgbClr val="F7F5F0"/>
          </a:solidFill>
          <a:ln w="10160">
            <a:solidFill>
              <a:srgbClr val="333333"/>
            </a:solidFill>
          </a:ln>
        </p:spPr>
      </p:sp>
      <p:sp>
        <p:nvSpPr>
          <p:cNvPr id="15" name="q3t"/>
          <p:cNvSpPr txBox="1"/>
          <p:nvPr/>
        </p:nvSpPr>
        <p:spPr>
          <a:xfrm>
            <a:off x="6756400" y="3276600"/>
            <a:ext cx="4699000" cy="584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Admit only what fits</a:t>
            </a:r>
            <a:endParaRPr lang="en-US" sz="1000" noProof="1"/>
          </a:p>
          <a:p>
            <a:pPr>
              <a:lnSpc>
                <a:spcPct val="130000"/>
              </a:lnSpc>
            </a:pPr>
            <a:r>
              <a:rPr lang="en-US" sz="850" noProof="1">
                <a:solidFill>
                  <a:srgbClr val="000000"/>
                </a:solidFill>
                <a:latin typeface="Liter"/>
                <a:ea typeface="MiSans"/>
              </a:rPr>
              <a:t>CAC (locations / RSVP) blocks calls beyond the bandwidth budget instead of degrading all calls</a:t>
            </a:r>
            <a:endParaRPr lang="en-US" sz="1000" noProof="1"/>
          </a:p>
        </p:txBody>
      </p:sp>
      <p:sp>
        <p:nvSpPr>
          <p:cNvPr id="16" name="mech-note"/>
          <p:cNvSpPr/>
          <p:nvPr/>
        </p:nvSpPr>
        <p:spPr>
          <a:xfrm>
            <a:off x="6604000" y="4191000"/>
            <a:ext cx="4978400" cy="1219200"/>
          </a:xfrm>
          <a:prstGeom prst="roundRect">
            <a:avLst>
              <a:gd name="adj" fmla="val 12000"/>
            </a:avLst>
          </a:prstGeom>
          <a:solidFill>
            <a:srgbClr val="F3F3F3"/>
          </a:solidFill>
          <a:ln>
            <a:noFill/>
          </a:ln>
        </p:spPr>
      </p:sp>
      <p:sp>
        <p:nvSpPr>
          <p:cNvPr id="17" name="mech-note-t"/>
          <p:cNvSpPr txBox="1"/>
          <p:nvPr/>
        </p:nvSpPr>
        <p:spPr>
          <a:xfrm>
            <a:off x="6807200" y="43180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Trust boundary, stated precisely:</a:t>
            </a:r>
            <a:r>
              <a:rPr lang="en-US" sz="1000" noProof="1">
                <a:solidFill>
                  <a:srgbClr val="5A5A5A"/>
                </a:solidFill>
                <a:latin typeface="Liter"/>
                <a:ea typeface="MiSans"/>
              </a:rPr>
              <a:t> the access switch trusts DSCP from the phone's voice VLAN, rewrites markings from the PC data VLAN, and polices excess. One misconfigured port that trusts everything lets a single backup job destroy every call on the floor.</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ITU-T G.114; Cisco Collaboration SRND and Enterprise QoS design guidance, cisco.com</a:t>
            </a:r>
            <a:endParaRPr lang="en-US" sz="850" noProof="1"/>
          </a:p>
        </p:txBody>
      </p:sp>
      <p:sp>
        <p:nvSpPr>
          <p:cNvPr id="20" name="cml-footer-bar"/>
          <p:cNvSpPr/>
          <p:nvPr/>
        </p:nvSpPr>
        <p:spPr>
          <a:xfrm>
            <a:off x="0" y="6670000"/>
            <a:ext cx="12192000" cy="640000"/>
          </a:xfrm>
          <a:prstGeom prst="rect">
            <a:avLst/>
          </a:prstGeom>
          <a:solidFill>
            <a:srgbClr val="12161C"/>
          </a:solidFill>
          <a:ln>
            <a:noFill/>
          </a:ln>
        </p:spPr>
        <p:txBody>
          <a:bodyPr/>
          <a:lstStyle/>
          <a:p/>
        </p:txBody>
      </p:sp>
      <p:sp>
        <p:nvSpPr>
          <p:cNvPr id="21" name="cml-footer-rule"/>
          <p:cNvSpPr/>
          <p:nvPr/>
        </p:nvSpPr>
        <p:spPr>
          <a:xfrm>
            <a:off x="0" y="6670000"/>
            <a:ext cx="12192000" cy="19050"/>
          </a:xfrm>
          <a:prstGeom prst="rect">
            <a:avLst/>
          </a:prstGeom>
          <a:solidFill>
            <a:srgbClr val="2DD4BF"/>
          </a:solidFill>
          <a:ln>
            <a:noFill/>
          </a:ln>
        </p:spPr>
        <p:txBody>
          <a:bodyPr/>
          <a:lstStyle/>
          <a:p/>
        </p:txBody>
      </p:sp>
      <p:sp>
        <p:nvSpPr>
          <p:cNvPr id="22"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3"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4"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5"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6"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7"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8"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9"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0"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1"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2"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3"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4"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5"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Bandwidth decides quality: per-call kbps times concurrent calls must fit the WAN budget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sizing conversation ends in one inequality — when it cannot hold, CAC blocks the extra call rather than ruining all of them.</a:t>
            </a:r>
            <a:endParaRPr lang="en-US" sz="1100" noProof="1"/>
          </a:p>
        </p:txBody>
      </p:sp>
      <p:sp>
        <p:nvSpPr>
          <p:cNvPr id="4" name="bw-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Per-call bandwidth on Ethernet (20 ms frames)</a:t>
            </a:r>
            <a:endParaRPr lang="en-US" sz="1100" noProof="1"/>
          </a:p>
        </p:txBody>
      </p:sp>
      <p:graphicFrame>
        <p:nvGraphicFramePr>
          <p:cNvPr id="5" name="bw-table"/>
          <p:cNvGraphicFramePr>
            <a:graphicFrameLocks noGrp="1"/>
          </p:cNvGraphicFramePr>
          <p:nvPr/>
        </p:nvGraphicFramePr>
        <p:xfrm>
          <a:off x="609600" y="1447800"/>
          <a:ext cx="5461000" cy="1905000"/>
        </p:xfrm>
        <a:graphic>
          <a:graphicData uri="http://schemas.openxmlformats.org/drawingml/2006/table">
            <a:tbl>
              <a:tblPr/>
              <a:tblGrid>
                <a:gridCol w="1638300"/>
                <a:gridCol w="1419860"/>
                <a:gridCol w="2402840"/>
              </a:tblGrid>
              <a:tr h="381000">
                <a:tc>
                  <a:txBody>
                    <a:bodyPr wrap="square" rtlCol="0" anchor="ctr"/>
                    <a:lstStyle/>
                    <a:p>
                      <a:pPr algn="l"/>
                      <a:r>
                        <a:rPr lang="en-US" sz="1050" noProof="1" b="1">
                          <a:solidFill>
                            <a:srgbClr val="000000"/>
                          </a:solidFill>
                          <a:latin typeface="Liter"/>
                          <a:ea typeface="MiSans"/>
                        </a:rPr>
                        <a:t>Codec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Payload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On the wire (with overhead)</a:t>
                      </a:r>
                    </a:p>
                  </a:txBody>
                  <a:tcPr marL="91440" marR="91440" marT="45720" marB="45720" anchor="ctr">
                    <a:lnL>
                      <a:noFill/>
                    </a:lnL>
                    <a:lnR>
                      <a:noFill/>
                    </a:lnR>
                    <a:lnT>
                      <a:noFill/>
                    </a:lnT>
                    <a:lnB w="15240">
                      <a:solidFill>
                        <a:srgbClr val="000000"/>
                      </a:solidFill>
                    </a:lnB>
                    <a:noFill/>
                  </a:tcPr>
                </a:tc>
              </a:tr>
              <a:tr h="507873">
                <a:tc>
                  <a:txBody>
                    <a:bodyPr wrap="square" rtlCol="0" anchor="ctr"/>
                    <a:lstStyle/>
                    <a:p>
                      <a:pPr algn="l"/>
                      <a:r>
                        <a:rPr lang="en-US" sz="1050" noProof="1">
                          <a:solidFill>
                            <a:srgbClr val="000000"/>
                          </a:solidFill>
                          <a:latin typeface="Liter"/>
                          <a:ea typeface="MiSans"/>
                        </a:rPr>
                        <a:t>G.711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64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80 kbps per call</a:t>
                      </a:r>
                    </a:p>
                  </a:txBody>
                  <a:tcPr marL="91440" marR="91440" marT="45720" marB="45720" anchor="ctr">
                    <a:lnL>
                      <a:noFill/>
                    </a:lnL>
                    <a:lnR>
                      <a:noFill/>
                    </a:lnR>
                    <a:lnT>
                      <a:noFill/>
                    </a:lnT>
                    <a:lnB w="7620">
                      <a:solidFill>
                        <a:srgbClr val="D9D9D9"/>
                      </a:solidFill>
                    </a:lnB>
                    <a:noFill/>
                  </a:tcPr>
                </a:tc>
              </a:tr>
              <a:tr h="507873">
                <a:tc>
                  <a:txBody>
                    <a:bodyPr wrap="square" rtlCol="0" anchor="ctr"/>
                    <a:lstStyle/>
                    <a:p>
                      <a:pPr algn="l"/>
                      <a:r>
                        <a:rPr lang="en-US" sz="1050" noProof="1">
                          <a:solidFill>
                            <a:srgbClr val="000000"/>
                          </a:solidFill>
                          <a:latin typeface="Liter"/>
                          <a:ea typeface="MiSans"/>
                        </a:rPr>
                        <a:t>G.729</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8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24 kbps per call</a:t>
                      </a:r>
                    </a:p>
                  </a:txBody>
                  <a:tcPr marL="91440" marR="91440" marT="45720" marB="45720" anchor="ctr">
                    <a:lnL>
                      <a:noFill/>
                    </a:lnL>
                    <a:lnR>
                      <a:noFill/>
                    </a:lnR>
                    <a:lnT>
                      <a:noFill/>
                    </a:lnT>
                    <a:lnB w="7620">
                      <a:solidFill>
                        <a:srgbClr val="D9D9D9"/>
                      </a:solidFill>
                    </a:lnB>
                    <a:noFill/>
                  </a:tcPr>
                </a:tc>
              </a:tr>
              <a:tr h="508254">
                <a:tc>
                  <a:txBody>
                    <a:bodyPr wrap="square" rtlCol="0" anchor="ctr"/>
                    <a:lstStyle/>
                    <a:p>
                      <a:pPr algn="l"/>
                      <a:r>
                        <a:rPr lang="en-US" sz="1050" noProof="1">
                          <a:solidFill>
                            <a:srgbClr val="000000"/>
                          </a:solidFill>
                          <a:latin typeface="Liter"/>
                          <a:ea typeface="MiSans"/>
                        </a:rPr>
                        <a:t>Opus (typical)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~32 kbps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40–48 kbps per call</a:t>
                      </a:r>
                    </a:p>
                  </a:txBody>
                  <a:tcPr marL="91440" marR="91440" marT="45720" marB="45720" anchor="ctr">
                    <a:lnL>
                      <a:noFill/>
                    </a:lnL>
                    <a:lnR>
                      <a:noFill/>
                    </a:lnR>
                    <a:lnT>
                      <a:noFill/>
                    </a:lnT>
                    <a:lnB w="7620">
                      <a:solidFill>
                        <a:srgbClr val="D9D9D9"/>
                      </a:solidFill>
                    </a:lnB>
                    <a:noFill/>
                  </a:tcPr>
                </a:tc>
              </a:tr>
            </a:tbl>
          </a:graphicData>
        </a:graphic>
      </p:graphicFrame>
      <p:sp>
        <p:nvSpPr>
          <p:cNvPr id="6" name="bw-note"/>
          <p:cNvSpPr txBox="1"/>
          <p:nvPr/>
        </p:nvSpPr>
        <p:spPr>
          <a:xfrm>
            <a:off x="609600" y="3505200"/>
            <a:ext cx="5461000" cy="1143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Overhead = RTP/UDP/IP headers plus layer-2 framing; it dominates at low bit rates, which is why G.729's real-world saving is ~2.7×, not 8×. Header compression (cRTP) on slow links recovers much of it. On MPLS/VPN links add the tunnel overhead on top.</a:t>
            </a:r>
            <a:endParaRPr lang="en-US" sz="1000" noProof="1"/>
          </a:p>
        </p:txBody>
      </p:sp>
      <p:sp>
        <p:nvSpPr>
          <p:cNvPr id="7" name="work-h"/>
          <p:cNvSpPr txBox="1"/>
          <p:nvPr/>
        </p:nvSpPr>
        <p:spPr>
          <a:xfrm>
            <a:off x="609600" y="47752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Worked example: one branch link</a:t>
            </a:r>
            <a:endParaRPr lang="en-US" sz="1100" noProof="1"/>
          </a:p>
        </p:txBody>
      </p:sp>
      <p:sp>
        <p:nvSpPr>
          <p:cNvPr id="8" name="work-note"/>
          <p:cNvSpPr txBox="1"/>
          <p:nvPr/>
        </p:nvSpPr>
        <p:spPr>
          <a:xfrm>
            <a:off x="609600" y="5054600"/>
            <a:ext cx="5461000" cy="10414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Branch voice budget: </a:t>
            </a:r>
            <a:r>
              <a:rPr lang="en-US" sz="1250" noProof="1" b="1">
                <a:solidFill>
                  <a:srgbClr val="000000"/>
                </a:solidFill>
                <a:latin typeface="Liter"/>
                <a:ea typeface="MiSans"/>
              </a:rPr>
              <a:t>1.5 Mbps</a:t>
            </a:r>
            <a:r>
              <a:rPr lang="en-US" sz="1250" noProof="1">
                <a:solidFill>
                  <a:srgbClr val="000000"/>
                </a:solidFill>
                <a:latin typeface="Liter"/>
                <a:ea typeface="MiSans"/>
              </a:rPr>
              <a:t> of the WAN link. With </a:t>
            </a:r>
            <a:r>
              <a:rPr lang="en-US" sz="1250" noProof="1" b="1">
                <a:solidFill>
                  <a:srgbClr val="000000"/>
                </a:solidFill>
                <a:latin typeface="Liter"/>
                <a:ea typeface="MiSans"/>
              </a:rPr>
              <a:t>G.729</a:t>
            </a:r>
            <a:r>
              <a:rPr lang="en-US" sz="1250" noProof="1">
                <a:solidFill>
                  <a:srgbClr val="000000"/>
                </a:solidFill>
                <a:latin typeface="Liter"/>
                <a:ea typeface="MiSans"/>
              </a:rPr>
              <a:t> ≈ 24 kbps per call, that is ≈ 60 concurrent calls; with G.711 ≈ 80 kbps, only ≈ 18. The location in CUCM is configured just below the safe number — the difference is headroom for bursts.</a:t>
            </a:r>
            <a:endParaRPr lang="en-US" sz="1250" noProof="1"/>
          </a:p>
        </p:txBody>
      </p:sp>
      <p:sp>
        <p:nvSpPr>
          <p:cNvPr id="9" name="cac-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How CAC enforces the budget in CUCM</a:t>
            </a:r>
            <a:endParaRPr lang="en-US" sz="1100" noProof="1"/>
          </a:p>
        </p:txBody>
      </p:sp>
      <p:sp>
        <p:nvSpPr>
          <p:cNvPr id="10" name="cac-steps"/>
          <p:cNvSpPr txBox="1"/>
          <p:nvPr/>
        </p:nvSpPr>
        <p:spPr>
          <a:xfrm>
            <a:off x="6604000" y="1447800"/>
            <a:ext cx="4978400" cy="241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a:t>
            </a:r>
            <a:r>
              <a:rPr lang="en-US" sz="1250" noProof="1">
                <a:solidFill>
                  <a:srgbClr val="000000"/>
                </a:solidFill>
                <a:latin typeface="Liter"/>
                <a:ea typeface="MiSans"/>
              </a:rPr>
              <a:t> Every device belongs to a </a:t>
            </a:r>
            <a:r>
              <a:rPr lang="en-US" sz="1250" noProof="1" b="1">
                <a:solidFill>
                  <a:srgbClr val="000000"/>
                </a:solidFill>
                <a:latin typeface="Liter"/>
                <a:ea typeface="MiSans"/>
              </a:rPr>
              <a:t>location</a:t>
            </a:r>
            <a:r>
              <a:rPr lang="en-US" sz="1250" noProof="1">
                <a:solidFill>
                  <a:srgbClr val="000000"/>
                </a:solidFill>
                <a:latin typeface="Liter"/>
                <a:ea typeface="MiSans"/>
              </a:rPr>
              <a:t> (usually via its device pool); each location has a bandwidth figure toward every other location.</a:t>
            </a:r>
            <a:endParaRPr lang="en-US" sz="1250" noProof="1"/>
          </a:p>
          <a:p>
            <a:pPr>
              <a:lnSpc>
                <a:spcPct val="145000"/>
              </a:lnSpc>
              <a:spcBef>
                <a:spcPts val="1000"/>
              </a:spcBef>
            </a:pPr>
            <a:r>
              <a:rPr lang="en-US" sz="1250" noProof="1" b="1">
                <a:solidFill>
                  <a:srgbClr val="000000"/>
                </a:solidFill>
                <a:latin typeface="Liter"/>
                <a:ea typeface="MiSans"/>
              </a:rPr>
              <a:t>2.</a:t>
            </a:r>
            <a:r>
              <a:rPr lang="en-US" sz="1250" noProof="1">
                <a:solidFill>
                  <a:srgbClr val="000000"/>
                </a:solidFill>
                <a:latin typeface="Liter"/>
                <a:ea typeface="MiSans"/>
              </a:rPr>
              <a:t> At call setup, CUCM subtracts the codec cost of the new call along the path; if any link would go negative, the call is rejected or rerouted.</a:t>
            </a:r>
            <a:endParaRPr lang="en-US" sz="1250" noProof="1"/>
          </a:p>
          <a:p>
            <a:pPr>
              <a:lnSpc>
                <a:spcPct val="145000"/>
              </a:lnSpc>
              <a:spcBef>
                <a:spcPts val="1000"/>
              </a:spcBef>
            </a:pPr>
            <a:r>
              <a:rPr lang="en-US" sz="1250" noProof="1" b="1">
                <a:solidFill>
                  <a:srgbClr val="000000"/>
                </a:solidFill>
                <a:latin typeface="Liter"/>
                <a:ea typeface="MiSans"/>
              </a:rPr>
              <a:t>3.</a:t>
            </a:r>
            <a:r>
              <a:rPr lang="en-US" sz="1250" noProof="1">
                <a:solidFill>
                  <a:srgbClr val="000000"/>
                </a:solidFill>
                <a:latin typeface="Liter"/>
                <a:ea typeface="MiSans"/>
              </a:rPr>
              <a:t> Rejected calls can overflow to the PSTN via </a:t>
            </a:r>
            <a:r>
              <a:rPr lang="en-US" sz="1250" noProof="1" b="1">
                <a:solidFill>
                  <a:srgbClr val="000000"/>
                </a:solidFill>
                <a:latin typeface="Liter"/>
                <a:ea typeface="MiSans"/>
              </a:rPr>
              <a:t>AAR</a:t>
            </a:r>
            <a:r>
              <a:rPr lang="en-US" sz="1250" noProof="1">
                <a:solidFill>
                  <a:srgbClr val="000000"/>
                </a:solidFill>
                <a:latin typeface="Liter"/>
                <a:ea typeface="MiSans"/>
              </a:rPr>
              <a:t> — the caller hears reorder or the call completes over trunks instead.</a:t>
            </a:r>
            <a:endParaRPr lang="en-US" sz="1250" noProof="1"/>
          </a:p>
          <a:p>
            <a:pPr>
              <a:lnSpc>
                <a:spcPct val="145000"/>
              </a:lnSpc>
              <a:spcBef>
                <a:spcPts val="1000"/>
              </a:spcBef>
            </a:pPr>
            <a:r>
              <a:rPr lang="en-US" sz="1250" noProof="1" b="1">
                <a:solidFill>
                  <a:srgbClr val="000000"/>
                </a:solidFill>
                <a:latin typeface="Liter"/>
                <a:ea typeface="MiSans"/>
              </a:rPr>
              <a:t>4.</a:t>
            </a:r>
            <a:r>
              <a:rPr lang="en-US" sz="1250" noProof="1">
                <a:solidFill>
                  <a:srgbClr val="000000"/>
                </a:solidFill>
                <a:latin typeface="Liter"/>
                <a:ea typeface="MiSans"/>
              </a:rPr>
              <a:t> RSVP-based CAC replaces static arithmetic with real network reservations.</a:t>
            </a:r>
            <a:endParaRPr lang="en-US" sz="1250" noProof="1"/>
          </a:p>
        </p:txBody>
      </p:sp>
      <p:sp>
        <p:nvSpPr>
          <p:cNvPr id="11" name="cac-box"/>
          <p:cNvSpPr/>
          <p:nvPr/>
        </p:nvSpPr>
        <p:spPr>
          <a:xfrm>
            <a:off x="6604000" y="4191000"/>
            <a:ext cx="4978400" cy="1219200"/>
          </a:xfrm>
          <a:prstGeom prst="roundRect">
            <a:avLst>
              <a:gd name="adj" fmla="val 12000"/>
            </a:avLst>
          </a:prstGeom>
          <a:solidFill>
            <a:srgbClr val="F3F3F3"/>
          </a:solidFill>
          <a:ln>
            <a:noFill/>
          </a:ln>
        </p:spPr>
      </p:sp>
      <p:sp>
        <p:nvSpPr>
          <p:cNvPr id="12" name="cac-box-t"/>
          <p:cNvSpPr txBox="1"/>
          <p:nvPr/>
        </p:nvSpPr>
        <p:spPr>
          <a:xfrm>
            <a:off x="6807200" y="43180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Design rule of thumb:</a:t>
            </a:r>
            <a:r>
              <a:rPr lang="en-US" sz="1000" noProof="1">
                <a:solidFill>
                  <a:srgbClr val="5A5A5A"/>
                </a:solidFill>
                <a:latin typeface="Liter"/>
                <a:ea typeface="MiSans"/>
              </a:rPr>
              <a:t> set the location bandwidth at about </a:t>
            </a:r>
            <a:r>
              <a:rPr lang="en-US" sz="1000" noProof="1" b="1">
                <a:solidFill>
                  <a:srgbClr val="000000"/>
                </a:solidFill>
                <a:latin typeface="Liter"/>
                <a:ea typeface="MiSans"/>
              </a:rPr>
              <a:t>80%</a:t>
            </a:r>
            <a:r>
              <a:rPr lang="en-US" sz="1000" noProof="1">
                <a:solidFill>
                  <a:srgbClr val="5A5A5A"/>
                </a:solidFill>
                <a:latin typeface="Liter"/>
                <a:ea typeface="MiSans"/>
              </a:rPr>
              <a:t> of the engineered voice capacity of the link, review it after any WAN change, and alarm on CAC rejections — a rising rejection count is the earliest signal of a growing site.</a:t>
            </a:r>
            <a:endParaRPr lang="en-US" sz="1000" noProof="1"/>
          </a:p>
        </p:txBody>
      </p:sp>
      <p:sp>
        <p:nvSpPr>
          <p:cNvPr id="1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SRND — bandwidth and CAC chapters; per-call figures are standard SRND planning values for Ethernet</a:t>
            </a:r>
            <a:endParaRPr lang="en-US" sz="850" noProof="1"/>
          </a:p>
        </p:txBody>
      </p:sp>
      <p:sp>
        <p:nvSpPr>
          <p:cNvPr id="15" name="cml-footer-bar"/>
          <p:cNvSpPr/>
          <p:nvPr/>
        </p:nvSpPr>
        <p:spPr>
          <a:xfrm>
            <a:off x="0" y="6670000"/>
            <a:ext cx="12192000" cy="640000"/>
          </a:xfrm>
          <a:prstGeom prst="rect">
            <a:avLst/>
          </a:prstGeom>
          <a:solidFill>
            <a:srgbClr val="12161C"/>
          </a:solidFill>
          <a:ln>
            <a:noFill/>
          </a:ln>
        </p:spPr>
        <p:txBody>
          <a:bodyPr/>
          <a:lstStyle/>
          <a:p/>
        </p:txBody>
      </p:sp>
      <p:sp>
        <p:nvSpPr>
          <p:cNvPr id="16" name="cml-footer-rule"/>
          <p:cNvSpPr/>
          <p:nvPr/>
        </p:nvSpPr>
        <p:spPr>
          <a:xfrm>
            <a:off x="0" y="6670000"/>
            <a:ext cx="12192000" cy="19050"/>
          </a:xfrm>
          <a:prstGeom prst="rect">
            <a:avLst/>
          </a:prstGeom>
          <a:solidFill>
            <a:srgbClr val="2DD4BF"/>
          </a:solidFill>
          <a:ln>
            <a:noFill/>
          </a:ln>
        </p:spPr>
        <p:txBody>
          <a:bodyPr/>
          <a:lstStyle/>
          <a:p/>
        </p:txBody>
      </p:sp>
      <p:sp>
        <p:nvSpPr>
          <p:cNvPr id="17"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8"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9"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0"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1"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2"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3"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4"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5"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6"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7"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8"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9"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0"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7.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Fax and modem traffic is the edge case that survives every migration: plan T.38 or bust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Alarm panels, elevators, and fax machines outlive every platform — they fail silently until the night of cutover.</a:t>
            </a:r>
            <a:endParaRPr lang="en-US" sz="1100" noProof="1"/>
          </a:p>
        </p:txBody>
      </p:sp>
      <p:sp>
        <p:nvSpPr>
          <p:cNvPr id="4" name="op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Four transport options, in order of preference</a:t>
            </a:r>
            <a:endParaRPr lang="en-US" sz="1100" noProof="1"/>
          </a:p>
        </p:txBody>
      </p:sp>
      <p:graphicFrame>
        <p:nvGraphicFramePr>
          <p:cNvPr id="5" name="opt-table"/>
          <p:cNvGraphicFramePr>
            <a:graphicFrameLocks noGrp="1"/>
          </p:cNvGraphicFramePr>
          <p:nvPr/>
        </p:nvGraphicFramePr>
        <p:xfrm>
          <a:off x="609600" y="1447800"/>
          <a:ext cx="5969000" cy="2946400"/>
        </p:xfrm>
        <a:graphic>
          <a:graphicData uri="http://schemas.openxmlformats.org/drawingml/2006/table">
            <a:tbl>
              <a:tblPr/>
              <a:tblGrid>
                <a:gridCol w="1910080"/>
                <a:gridCol w="4058920"/>
              </a:tblGrid>
              <a:tr h="324104">
                <a:tc>
                  <a:txBody>
                    <a:bodyPr wrap="square" rtlCol="0" anchor="ctr"/>
                    <a:lstStyle/>
                    <a:p>
                      <a:pPr algn="l"/>
                      <a:r>
                        <a:rPr lang="en-US" sz="1050" noProof="1" b="1">
                          <a:solidFill>
                            <a:srgbClr val="000000"/>
                          </a:solidFill>
                          <a:latin typeface="Liter"/>
                          <a:ea typeface="MiSans"/>
                        </a:rPr>
                        <a:t>Option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When and how</a:t>
                      </a:r>
                    </a:p>
                  </a:txBody>
                  <a:tcPr marL="91440" marR="91440" marT="45720" marB="45720" anchor="ctr">
                    <a:lnL>
                      <a:noFill/>
                    </a:lnL>
                    <a:lnR>
                      <a:noFill/>
                    </a:lnR>
                    <a:lnT>
                      <a:noFill/>
                    </a:lnT>
                    <a:lnB w="15240">
                      <a:solidFill>
                        <a:srgbClr val="000000"/>
                      </a:solidFill>
                    </a:lnB>
                    <a:noFill/>
                  </a:tcPr>
                </a:tc>
              </a:tr>
              <a:tr h="655574">
                <a:tc>
                  <a:txBody>
                    <a:bodyPr wrap="square" rtlCol="0" anchor="ctr"/>
                    <a:lstStyle/>
                    <a:p>
                      <a:pPr algn="l"/>
                      <a:r>
                        <a:rPr lang="en-US" sz="1050" noProof="1">
                          <a:solidFill>
                            <a:srgbClr val="000000"/>
                          </a:solidFill>
                          <a:latin typeface="Liter"/>
                          <a:ea typeface="MiSans"/>
                        </a:rPr>
                        <a:t>T.38 fax relay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real-time fax over IP; negotiated per call on the gateway / CUBE — the preferred path end to end</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Fax pass-through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fax tones carried as G.711 audio; fallback when the far end lacks T.38 — demands a near-lossless path</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Modem pass-through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alarms, elevators, legacy terminals; extremely loss-sensitive — G.711 only, clean QoS</a:t>
                      </a:r>
                    </a:p>
                  </a:txBody>
                  <a:tcPr marL="91440" marR="91440" marT="45720" marB="45720" anchor="ctr">
                    <a:lnL>
                      <a:noFill/>
                    </a:lnL>
                    <a:lnR>
                      <a:noFill/>
                    </a:lnR>
                    <a:lnT>
                      <a:noFill/>
                    </a:lnT>
                    <a:lnB w="7620">
                      <a:solidFill>
                        <a:srgbClr val="D9D9D9"/>
                      </a:solidFill>
                    </a:lnB>
                    <a:noFill/>
                  </a:tcPr>
                </a:tc>
              </a:tr>
              <a:tr h="655574">
                <a:tc>
                  <a:txBody>
                    <a:bodyPr wrap="square" rtlCol="0" anchor="ctr"/>
                    <a:lstStyle/>
                    <a:p>
                      <a:pPr algn="l"/>
                      <a:r>
                        <a:rPr lang="en-US" sz="1050" noProof="1">
                          <a:solidFill>
                            <a:srgbClr val="000000"/>
                          </a:solidFill>
                          <a:latin typeface="Liter"/>
                          <a:ea typeface="MiSans"/>
                        </a:rPr>
                        <a:t>Analog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ATA 191 / 192 or VG-series FXS ports attach the analog device to IP telephony at all</a:t>
                      </a:r>
                    </a:p>
                  </a:txBody>
                  <a:tcPr marL="91440" marR="91440" marT="45720" marB="45720" anchor="ctr">
                    <a:lnL>
                      <a:noFill/>
                    </a:lnL>
                    <a:lnR>
                      <a:noFill/>
                    </a:lnR>
                    <a:lnT>
                      <a:noFill/>
                    </a:lnT>
                    <a:lnB w="7620">
                      <a:solidFill>
                        <a:srgbClr val="D9D9D9"/>
                      </a:solidFill>
                    </a:lnB>
                    <a:noFill/>
                  </a:tcPr>
                </a:tc>
              </a:tr>
            </a:tbl>
          </a:graphicData>
        </a:graphic>
      </p:graphicFrame>
      <p:sp>
        <p:nvSpPr>
          <p:cNvPr id="6" name="opt-note"/>
          <p:cNvSpPr txBox="1"/>
          <p:nvPr/>
        </p:nvSpPr>
        <p:spPr>
          <a:xfrm>
            <a:off x="609600" y="45720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Compression is the killer:</a:t>
            </a:r>
            <a:r>
              <a:rPr lang="en-US" sz="1250" noProof="1">
                <a:solidFill>
                  <a:srgbClr val="000000"/>
                </a:solidFill>
                <a:latin typeface="Liter"/>
                <a:ea typeface="MiSans"/>
              </a:rPr>
              <a:t> never let fax or modem calls negotiate G.729 — modulated tones are not speech, and low-bitrate codecs destroy them. Pin G.711 or T.38 on the dial-peers that serve analog devices.</a:t>
            </a:r>
            <a:endParaRPr lang="en-US" sz="1250" noProof="1"/>
          </a:p>
          <a:p>
            <a:pPr>
              <a:lnSpc>
                <a:spcPct val="145000"/>
              </a:lnSpc>
              <a:spcBef>
                <a:spcPts val="800"/>
              </a:spcBef>
            </a:pPr>
            <a:r>
              <a:rPr lang="en-US" sz="1250" noProof="1">
                <a:solidFill>
                  <a:srgbClr val="000000"/>
                </a:solidFill>
                <a:latin typeface="Liter"/>
                <a:ea typeface="MiSans"/>
              </a:rPr>
              <a:t>Cisco gateways switch echo cancellation and silence suppression off automatically when fax / modem tones are detected — verify, do not assume.</a:t>
            </a:r>
            <a:endParaRPr lang="en-US" sz="1250" noProof="1"/>
          </a:p>
        </p:txBody>
      </p:sp>
      <p:sp>
        <p:nvSpPr>
          <p:cNvPr id="7" name="rule-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Design rules that keep the analog edge alive</a:t>
            </a:r>
            <a:endParaRPr lang="en-US" sz="1100" noProof="1"/>
          </a:p>
        </p:txBody>
      </p:sp>
      <p:sp>
        <p:nvSpPr>
          <p:cNvPr id="8" name="r1"/>
          <p:cNvSpPr/>
          <p:nvPr/>
        </p:nvSpPr>
        <p:spPr>
          <a:xfrm>
            <a:off x="7086600" y="1447800"/>
            <a:ext cx="4495800" cy="787400"/>
          </a:xfrm>
          <a:prstGeom prst="rect">
            <a:avLst/>
          </a:prstGeom>
          <a:solidFill>
            <a:srgbClr val="F7F5F0"/>
          </a:solidFill>
          <a:ln w="10160">
            <a:solidFill>
              <a:srgbClr val="333333"/>
            </a:solidFill>
          </a:ln>
        </p:spPr>
      </p:sp>
      <p:sp>
        <p:nvSpPr>
          <p:cNvPr id="9" name="r1t"/>
          <p:cNvSpPr txBox="1"/>
          <p:nvPr/>
        </p:nvSpPr>
        <p:spPr>
          <a:xfrm>
            <a:off x="7239000" y="15240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Inventory every analog line</a:t>
            </a:r>
            <a:endParaRPr lang="en-US" sz="1000" noProof="1"/>
          </a:p>
          <a:p>
            <a:pPr>
              <a:lnSpc>
                <a:spcPct val="130000"/>
              </a:lnSpc>
            </a:pPr>
            <a:r>
              <a:rPr lang="en-US" sz="850" noProof="1">
                <a:solidFill>
                  <a:srgbClr val="000000"/>
                </a:solidFill>
                <a:latin typeface="Liter"/>
                <a:ea typeface="MiSans"/>
              </a:rPr>
              <a:t>elevators, fire panels, postage machines, security phones — they hide until cutover night</a:t>
            </a:r>
            <a:endParaRPr lang="en-US" sz="1000" noProof="1"/>
          </a:p>
        </p:txBody>
      </p:sp>
      <p:sp>
        <p:nvSpPr>
          <p:cNvPr id="10" name="r2"/>
          <p:cNvSpPr/>
          <p:nvPr/>
        </p:nvSpPr>
        <p:spPr>
          <a:xfrm>
            <a:off x="7086600" y="2387600"/>
            <a:ext cx="4495800" cy="787400"/>
          </a:xfrm>
          <a:prstGeom prst="rect">
            <a:avLst/>
          </a:prstGeom>
          <a:solidFill>
            <a:srgbClr val="F7F5F0"/>
          </a:solidFill>
          <a:ln w="10160">
            <a:solidFill>
              <a:srgbClr val="333333"/>
            </a:solidFill>
          </a:ln>
        </p:spPr>
      </p:sp>
      <p:sp>
        <p:nvSpPr>
          <p:cNvPr id="11" name="r2t"/>
          <p:cNvSpPr txBox="1"/>
          <p:nvPr/>
        </p:nvSpPr>
        <p:spPr>
          <a:xfrm>
            <a:off x="7239000" y="24638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Pin the codec and the relay</a:t>
            </a:r>
            <a:endParaRPr lang="en-US" sz="1000" noProof="1"/>
          </a:p>
          <a:p>
            <a:pPr>
              <a:lnSpc>
                <a:spcPct val="130000"/>
              </a:lnSpc>
            </a:pPr>
            <a:r>
              <a:rPr lang="en-US" sz="850" noProof="1">
                <a:solidFill>
                  <a:srgbClr val="000000"/>
                </a:solidFill>
                <a:latin typeface="Liter"/>
                <a:ea typeface="MiSans"/>
              </a:rPr>
              <a:t>dial-peer codec g711ulaw with fax protocol t38 (or modem passthrough) on both legs</a:t>
            </a:r>
            <a:endParaRPr lang="en-US" sz="1000" noProof="1"/>
          </a:p>
        </p:txBody>
      </p:sp>
      <p:sp>
        <p:nvSpPr>
          <p:cNvPr id="12" name="r3"/>
          <p:cNvSpPr/>
          <p:nvPr/>
        </p:nvSpPr>
        <p:spPr>
          <a:xfrm>
            <a:off x="7086600" y="3327400"/>
            <a:ext cx="4495800" cy="787400"/>
          </a:xfrm>
          <a:prstGeom prst="rect">
            <a:avLst/>
          </a:prstGeom>
          <a:solidFill>
            <a:srgbClr val="F7F5F0"/>
          </a:solidFill>
          <a:ln w="10160">
            <a:solidFill>
              <a:srgbClr val="333333"/>
            </a:solidFill>
          </a:ln>
        </p:spPr>
      </p:sp>
      <p:sp>
        <p:nvSpPr>
          <p:cNvPr id="13" name="r3t"/>
          <p:cNvSpPr txBox="1"/>
          <p:nvPr/>
        </p:nvSpPr>
        <p:spPr>
          <a:xfrm>
            <a:off x="7239000" y="34036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Test with the real device</a:t>
            </a:r>
            <a:endParaRPr lang="en-US" sz="1000" noProof="1"/>
          </a:p>
          <a:p>
            <a:pPr>
              <a:lnSpc>
                <a:spcPct val="130000"/>
              </a:lnSpc>
            </a:pPr>
            <a:r>
              <a:rPr lang="en-US" sz="850" noProof="1">
                <a:solidFill>
                  <a:srgbClr val="000000"/>
                </a:solidFill>
                <a:latin typeface="Liter"/>
                <a:ea typeface="MiSans"/>
              </a:rPr>
              <a:t>a successful test call with an analog simulator proves nothing about the actual alarm panel</a:t>
            </a:r>
            <a:endParaRPr lang="en-US" sz="1000" noProof="1"/>
          </a:p>
        </p:txBody>
      </p:sp>
      <p:sp>
        <p:nvSpPr>
          <p:cNvPr id="14" name="pots-box"/>
          <p:cNvSpPr/>
          <p:nvPr/>
        </p:nvSpPr>
        <p:spPr>
          <a:xfrm>
            <a:off x="7086600" y="4318000"/>
            <a:ext cx="4495800" cy="1270000"/>
          </a:xfrm>
          <a:prstGeom prst="roundRect">
            <a:avLst>
              <a:gd name="adj" fmla="val 12000"/>
            </a:avLst>
          </a:prstGeom>
          <a:solidFill>
            <a:srgbClr val="F3F3F3"/>
          </a:solidFill>
          <a:ln>
            <a:noFill/>
          </a:ln>
        </p:spPr>
      </p:sp>
      <p:sp>
        <p:nvSpPr>
          <p:cNvPr id="15" name="pots-box-t"/>
          <p:cNvSpPr txBox="1"/>
          <p:nvPr/>
        </p:nvSpPr>
        <p:spPr>
          <a:xfrm>
            <a:off x="7239000" y="44450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Sometimes copper wins:</a:t>
            </a:r>
            <a:r>
              <a:rPr lang="en-US" sz="1000" noProof="1">
                <a:solidFill>
                  <a:srgbClr val="5A5A5A"/>
                </a:solidFill>
                <a:latin typeface="Liter"/>
                <a:ea typeface="MiSans"/>
              </a:rPr>
              <a:t> elevator and fire-alarm lines carry code obligations and must work during power loss. Where regulation or risk demands it, keep a powered POTS line — that is a design decision, not a migration failure.</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fax / modem over IP design guide; T.38 (ITU-T) relay and pass-through behavior on IOS gateways and CUBE</a:t>
            </a:r>
            <a:endParaRPr lang="en-US" sz="850" noProof="1"/>
          </a:p>
        </p:txBody>
      </p:sp>
      <p:sp>
        <p:nvSpPr>
          <p:cNvPr id="18" name="cml-footer-bar"/>
          <p:cNvSpPr/>
          <p:nvPr/>
        </p:nvSpPr>
        <p:spPr>
          <a:xfrm>
            <a:off x="0" y="6670000"/>
            <a:ext cx="12192000" cy="640000"/>
          </a:xfrm>
          <a:prstGeom prst="rect">
            <a:avLst/>
          </a:prstGeom>
          <a:solidFill>
            <a:srgbClr val="12161C"/>
          </a:solidFill>
          <a:ln>
            <a:noFill/>
          </a:ln>
        </p:spPr>
        <p:txBody>
          <a:bodyPr/>
          <a:lstStyle/>
          <a:p/>
        </p:txBody>
      </p:sp>
      <p:sp>
        <p:nvSpPr>
          <p:cNvPr id="19" name="cml-footer-rule"/>
          <p:cNvSpPr/>
          <p:nvPr/>
        </p:nvSpPr>
        <p:spPr>
          <a:xfrm>
            <a:off x="0" y="6670000"/>
            <a:ext cx="12192000" cy="19050"/>
          </a:xfrm>
          <a:prstGeom prst="rect">
            <a:avLst/>
          </a:prstGeom>
          <a:solidFill>
            <a:srgbClr val="2DD4BF"/>
          </a:solidFill>
          <a:ln>
            <a:noFill/>
          </a:ln>
        </p:spPr>
        <p:txBody>
          <a:bodyPr/>
          <a:lstStyle/>
          <a:p/>
        </p:txBody>
      </p:sp>
      <p:sp>
        <p:nvSpPr>
          <p:cNvPr id="2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8.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Signaling sets up the call; RTP carries the voice — two separate planes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SIP INVITE exchange negotiates the session; media then flows endpoint-to-endpoint (or via a gateway) independently of the call-control path.</a:t>
            </a:r>
            <a:endParaRPr lang="en-US" sz="1100" noProof="1"/>
          </a:p>
        </p:txBody>
      </p:sp>
      <p:sp>
        <p:nvSpPr>
          <p:cNvPr id="4" name="flow-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basic SIP call through CUCM</a:t>
            </a:r>
            <a:endParaRPr lang="en-US" sz="1100" noProof="1"/>
          </a:p>
        </p:txBody>
      </p:sp>
      <p:sp>
        <p:nvSpPr>
          <p:cNvPr id="5" name="n-a"/>
          <p:cNvSpPr/>
          <p:nvPr/>
        </p:nvSpPr>
        <p:spPr>
          <a:xfrm>
            <a:off x="609600" y="1447800"/>
            <a:ext cx="1117600" cy="431800"/>
          </a:xfrm>
          <a:prstGeom prst="rect">
            <a:avLst/>
          </a:prstGeom>
          <a:solidFill>
            <a:srgbClr val="F7F5F0"/>
          </a:solidFill>
          <a:ln w="10160">
            <a:solidFill>
              <a:srgbClr val="333333"/>
            </a:solidFill>
          </a:ln>
        </p:spPr>
      </p:sp>
      <p:sp>
        <p:nvSpPr>
          <p:cNvPr id="6" name="n-at"/>
          <p:cNvSpPr txBox="1"/>
          <p:nvPr/>
        </p:nvSpPr>
        <p:spPr>
          <a:xfrm>
            <a:off x="6096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Phone A</a:t>
            </a:r>
            <a:endParaRPr lang="en-US" sz="1000" noProof="1"/>
          </a:p>
        </p:txBody>
      </p:sp>
      <p:sp>
        <p:nvSpPr>
          <p:cNvPr id="7" name="n-c"/>
          <p:cNvSpPr/>
          <p:nvPr/>
        </p:nvSpPr>
        <p:spPr>
          <a:xfrm>
            <a:off x="2362200" y="1447800"/>
            <a:ext cx="1117600" cy="431800"/>
          </a:xfrm>
          <a:prstGeom prst="rect">
            <a:avLst/>
          </a:prstGeom>
          <a:solidFill>
            <a:srgbClr val="FFFFFF"/>
          </a:solidFill>
          <a:ln w="17780">
            <a:solidFill>
              <a:srgbClr val="000000"/>
            </a:solidFill>
          </a:ln>
        </p:spPr>
      </p:sp>
      <p:sp>
        <p:nvSpPr>
          <p:cNvPr id="8" name="n-ct"/>
          <p:cNvSpPr txBox="1"/>
          <p:nvPr/>
        </p:nvSpPr>
        <p:spPr>
          <a:xfrm>
            <a:off x="23622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CUCM</a:t>
            </a:r>
            <a:endParaRPr lang="en-US" sz="1000" noProof="1"/>
          </a:p>
        </p:txBody>
      </p:sp>
      <p:sp>
        <p:nvSpPr>
          <p:cNvPr id="9" name="n-b"/>
          <p:cNvSpPr/>
          <p:nvPr/>
        </p:nvSpPr>
        <p:spPr>
          <a:xfrm>
            <a:off x="4114800" y="1447800"/>
            <a:ext cx="1117600" cy="431800"/>
          </a:xfrm>
          <a:prstGeom prst="rect">
            <a:avLst/>
          </a:prstGeom>
          <a:solidFill>
            <a:srgbClr val="F7F5F0"/>
          </a:solidFill>
          <a:ln w="10160">
            <a:solidFill>
              <a:srgbClr val="333333"/>
            </a:solidFill>
          </a:ln>
        </p:spPr>
      </p:sp>
      <p:sp>
        <p:nvSpPr>
          <p:cNvPr id="10" name="n-bt"/>
          <p:cNvSpPr txBox="1"/>
          <p:nvPr/>
        </p:nvSpPr>
        <p:spPr>
          <a:xfrm>
            <a:off x="4114800" y="1447800"/>
            <a:ext cx="1117600" cy="4318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Phone B</a:t>
            </a:r>
            <a:endParaRPr lang="en-US" sz="1000" noProof="1"/>
          </a:p>
        </p:txBody>
      </p:sp>
      <p:sp>
        <p:nvSpPr>
          <p:cNvPr id="11" name="va1"/>
          <p:cNvSpPr/>
          <p:nvPr>
            <p:extLst>
              <p:ext uri="{F5677B7D-0D2A-4D9B-9A5C-6D8D7D0E5A5D}">
                <pptd:line encoding="base64url">eyJ2aWV3Qm94IjpbMSwyNTBdLCJwb2ludHMiOiIwLDAgMCwyNTAifQ</pptd:line>
              </p:ext>
            </p:extLst>
          </p:nvPr>
        </p:nvSpPr>
        <p:spPr>
          <a:xfrm>
            <a:off x="11684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2" name="va2"/>
          <p:cNvSpPr/>
          <p:nvPr>
            <p:extLst>
              <p:ext uri="{F5677B7D-0D2A-4D9B-9A5C-6D8D7D0E5A5D}">
                <pptd:line encoding="base64url">eyJ2aWV3Qm94IjpbMSwyNTBdLCJwb2ludHMiOiIwLDAgMCwyNTAifQ</pptd:line>
              </p:ext>
            </p:extLst>
          </p:nvPr>
        </p:nvSpPr>
        <p:spPr>
          <a:xfrm>
            <a:off x="29210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3" name="va3"/>
          <p:cNvSpPr/>
          <p:nvPr>
            <p:extLst>
              <p:ext uri="{F5677B7D-0D2A-4D9B-9A5C-6D8D7D0E5A5D}">
                <pptd:line encoding="base64url">eyJ2aWV3Qm94IjpbMSwyNTBdLCJwb2ludHMiOiIwLDAgMCwyNTAifQ</pptd:line>
              </p:ext>
            </p:extLst>
          </p:nvPr>
        </p:nvSpPr>
        <p:spPr>
          <a:xfrm>
            <a:off x="4673600" y="1879600"/>
            <a:ext cx="12700" cy="3175000"/>
          </a:xfrm>
          <a:custGeom>
            <a:avLst/>
            <a:gdLst/>
            <a:ahLst/>
            <a:cxnLst/>
            <a:rect l="l" t="t" r="r" b="b"/>
            <a:pathLst>
              <a:path w="1" h="250">
                <a:moveTo>
                  <a:pt x="0" y="0"/>
                </a:moveTo>
                <a:lnTo>
                  <a:pt x="0" y="250"/>
                </a:lnTo>
              </a:path>
            </a:pathLst>
          </a:custGeom>
          <a:noFill/>
          <a:ln w="10160" cap="rnd">
            <a:solidFill>
              <a:srgbClr val="A9AAAC"/>
            </a:solidFill>
            <a:prstDash val="dash"/>
            <a:round/>
          </a:ln>
        </p:spPr>
      </p:sp>
      <p:sp>
        <p:nvSpPr>
          <p:cNvPr id="14" name="m1"/>
          <p:cNvSpPr/>
          <p:nvPr>
            <p:extLst>
              <p:ext uri="{F5677B7D-0D2A-4D9B-9A5C-6D8D7D0E5A5D}">
                <pptd:line encoding="base64url">eyJ2aWV3Qm94IjpbMTM4LDFdLCJwb2ludHMiOiIwLDAgMTM4LDAifQ</pptd:line>
              </p:ext>
            </p:extLst>
          </p:nvPr>
        </p:nvSpPr>
        <p:spPr>
          <a:xfrm>
            <a:off x="1168400" y="21844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15" name="m1t"/>
          <p:cNvSpPr txBox="1"/>
          <p:nvPr/>
        </p:nvSpPr>
        <p:spPr>
          <a:xfrm>
            <a:off x="1219200" y="19812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INVITE 1001</a:t>
            </a:r>
            <a:endParaRPr lang="en-US" sz="850" noProof="1"/>
          </a:p>
        </p:txBody>
      </p:sp>
      <p:sp>
        <p:nvSpPr>
          <p:cNvPr id="16" name="m2"/>
          <p:cNvSpPr/>
          <p:nvPr>
            <p:extLst>
              <p:ext uri="{F5677B7D-0D2A-4D9B-9A5C-6D8D7D0E5A5D}">
                <pptd:line encoding="base64url">eyJ2aWV3Qm94IjpbMTM4LDFdLCJwb2ludHMiOiIwLDAgMTM4LDAifQ</pptd:line>
              </p:ext>
            </p:extLst>
          </p:nvPr>
        </p:nvSpPr>
        <p:spPr>
          <a:xfrm>
            <a:off x="2921000" y="26162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17" name="m2t"/>
          <p:cNvSpPr txBox="1"/>
          <p:nvPr/>
        </p:nvSpPr>
        <p:spPr>
          <a:xfrm>
            <a:off x="2971800" y="24130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INVITE 1001</a:t>
            </a:r>
            <a:endParaRPr lang="en-US" sz="850" noProof="1"/>
          </a:p>
        </p:txBody>
      </p:sp>
      <p:sp>
        <p:nvSpPr>
          <p:cNvPr id="18" name="m3"/>
          <p:cNvSpPr/>
          <p:nvPr>
            <p:extLst>
              <p:ext uri="{F5677B7D-0D2A-4D9B-9A5C-6D8D7D0E5A5D}">
                <pptd:line encoding="base64url">eyJ2aWV3Qm94IjpbMTM4LDFdLCJwb2ludHMiOiIxMzgsMCAwLDAifQ</pptd:line>
              </p:ext>
            </p:extLst>
          </p:nvPr>
        </p:nvSpPr>
        <p:spPr>
          <a:xfrm>
            <a:off x="2921000" y="3048000"/>
            <a:ext cx="1752600" cy="12700"/>
          </a:xfrm>
          <a:custGeom>
            <a:avLst/>
            <a:gdLst/>
            <a:ahLst/>
            <a:cxnLst/>
            <a:rect l="l" t="t" r="r" b="b"/>
            <a:pathLst>
              <a:path w="138" h="1">
                <a:moveTo>
                  <a:pt x="138" y="0"/>
                </a:moveTo>
                <a:lnTo>
                  <a:pt x="0" y="0"/>
                </a:lnTo>
              </a:path>
            </a:pathLst>
          </a:custGeom>
          <a:noFill/>
          <a:ln w="12700" cap="rnd">
            <a:solidFill>
              <a:srgbClr val="000000"/>
            </a:solidFill>
            <a:round/>
            <a:tailEnd type="arrow"/>
          </a:ln>
        </p:spPr>
      </p:sp>
      <p:sp>
        <p:nvSpPr>
          <p:cNvPr id="19" name="m3t"/>
          <p:cNvSpPr txBox="1"/>
          <p:nvPr/>
        </p:nvSpPr>
        <p:spPr>
          <a:xfrm>
            <a:off x="2971800" y="28448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180 Ringing</a:t>
            </a:r>
            <a:endParaRPr lang="en-US" sz="850" noProof="1"/>
          </a:p>
        </p:txBody>
      </p:sp>
      <p:sp>
        <p:nvSpPr>
          <p:cNvPr id="20" name="m4"/>
          <p:cNvSpPr/>
          <p:nvPr>
            <p:extLst>
              <p:ext uri="{F5677B7D-0D2A-4D9B-9A5C-6D8D7D0E5A5D}">
                <pptd:line encoding="base64url">eyJ2aWV3Qm94IjpbMTM4LDFdLCJwb2ludHMiOiIxMzgsMCAwLDAifQ</pptd:line>
              </p:ext>
            </p:extLst>
          </p:nvPr>
        </p:nvSpPr>
        <p:spPr>
          <a:xfrm>
            <a:off x="2921000" y="3479800"/>
            <a:ext cx="1752600" cy="12700"/>
          </a:xfrm>
          <a:custGeom>
            <a:avLst/>
            <a:gdLst/>
            <a:ahLst/>
            <a:cxnLst/>
            <a:rect l="l" t="t" r="r" b="b"/>
            <a:pathLst>
              <a:path w="138" h="1">
                <a:moveTo>
                  <a:pt x="138" y="0"/>
                </a:moveTo>
                <a:lnTo>
                  <a:pt x="0" y="0"/>
                </a:lnTo>
              </a:path>
            </a:pathLst>
          </a:custGeom>
          <a:noFill/>
          <a:ln w="12700" cap="rnd">
            <a:solidFill>
              <a:srgbClr val="000000"/>
            </a:solidFill>
            <a:round/>
            <a:tailEnd type="arrow"/>
          </a:ln>
        </p:spPr>
      </p:sp>
      <p:sp>
        <p:nvSpPr>
          <p:cNvPr id="21" name="m4t"/>
          <p:cNvSpPr txBox="1"/>
          <p:nvPr/>
        </p:nvSpPr>
        <p:spPr>
          <a:xfrm>
            <a:off x="2971800" y="32766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200 OK (SDP)</a:t>
            </a:r>
            <a:endParaRPr lang="en-US" sz="850" noProof="1"/>
          </a:p>
        </p:txBody>
      </p:sp>
      <p:sp>
        <p:nvSpPr>
          <p:cNvPr id="22" name="m5"/>
          <p:cNvSpPr/>
          <p:nvPr>
            <p:extLst>
              <p:ext uri="{F5677B7D-0D2A-4D9B-9A5C-6D8D7D0E5A5D}">
                <pptd:line encoding="base64url">eyJ2aWV3Qm94IjpbMTM4LDFdLCJwb2ludHMiOiIwLDAgMTM4LDAifQ</pptd:line>
              </p:ext>
            </p:extLst>
          </p:nvPr>
        </p:nvSpPr>
        <p:spPr>
          <a:xfrm>
            <a:off x="1168400" y="3911600"/>
            <a:ext cx="1752600" cy="12700"/>
          </a:xfrm>
          <a:custGeom>
            <a:avLst/>
            <a:gdLst/>
            <a:ahLst/>
            <a:cxnLst/>
            <a:rect l="l" t="t" r="r" b="b"/>
            <a:pathLst>
              <a:path w="138" h="1">
                <a:moveTo>
                  <a:pt x="0" y="0"/>
                </a:moveTo>
                <a:lnTo>
                  <a:pt x="138" y="0"/>
                </a:lnTo>
              </a:path>
            </a:pathLst>
          </a:custGeom>
          <a:noFill/>
          <a:ln w="12700" cap="rnd">
            <a:solidFill>
              <a:srgbClr val="000000"/>
            </a:solidFill>
            <a:round/>
            <a:tailEnd type="arrow"/>
          </a:ln>
        </p:spPr>
      </p:sp>
      <p:sp>
        <p:nvSpPr>
          <p:cNvPr id="23" name="m5t"/>
          <p:cNvSpPr txBox="1"/>
          <p:nvPr/>
        </p:nvSpPr>
        <p:spPr>
          <a:xfrm>
            <a:off x="1219200" y="3708400"/>
            <a:ext cx="1651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JetBrains Mono"/>
                <a:ea typeface="MiSans"/>
              </a:rPr>
              <a:t>ACK</a:t>
            </a:r>
            <a:endParaRPr lang="en-US" sz="850" noProof="1"/>
          </a:p>
        </p:txBody>
      </p:sp>
      <p:sp>
        <p:nvSpPr>
          <p:cNvPr id="24" name="m6"/>
          <p:cNvSpPr/>
          <p:nvPr>
            <p:extLst>
              <p:ext uri="{F5677B7D-0D2A-4D9B-9A5C-6D8D7D0E5A5D}">
                <pptd:line encoding="base64url">eyJ2aWV3Qm94IjpbMjc2LDFdLCJwb2ludHMiOiIwLDAgMjc2LDAifQ</pptd:line>
              </p:ext>
            </p:extLst>
          </p:nvPr>
        </p:nvSpPr>
        <p:spPr>
          <a:xfrm>
            <a:off x="1168400" y="4419600"/>
            <a:ext cx="3505200" cy="12700"/>
          </a:xfrm>
          <a:custGeom>
            <a:avLst/>
            <a:gdLst/>
            <a:ahLst/>
            <a:cxnLst/>
            <a:rect l="l" t="t" r="r" b="b"/>
            <a:pathLst>
              <a:path w="276" h="1">
                <a:moveTo>
                  <a:pt x="0" y="0"/>
                </a:moveTo>
                <a:lnTo>
                  <a:pt x="276" y="0"/>
                </a:lnTo>
              </a:path>
            </a:pathLst>
          </a:custGeom>
          <a:noFill/>
          <a:ln w="20320" cap="rnd">
            <a:solidFill>
              <a:srgbClr val="E69138"/>
            </a:solidFill>
            <a:round/>
            <a:headEnd type="arrow"/>
            <a:tailEnd type="arrow"/>
          </a:ln>
        </p:spPr>
      </p:sp>
      <p:sp>
        <p:nvSpPr>
          <p:cNvPr id="25" name="m6t"/>
          <p:cNvSpPr txBox="1"/>
          <p:nvPr/>
        </p:nvSpPr>
        <p:spPr>
          <a:xfrm>
            <a:off x="1778000" y="4216400"/>
            <a:ext cx="2413000" cy="177800"/>
          </a:xfrm>
          <a:prstGeom prst="rect">
            <a:avLst/>
          </a:prstGeom>
          <a:noFill/>
          <a:ln>
            <a:noFill/>
          </a:ln>
        </p:spPr>
        <p:txBody>
          <a:bodyPr lIns="0" rIns="0" tIns="0" bIns="0" wrap="none" rtlCol="0"/>
          <a:lstStyle/>
          <a:p>
            <a:pPr>
              <a:lnSpc>
                <a:spcPct val="120000"/>
              </a:lnSpc>
            </a:pPr>
            <a:r>
              <a:rPr lang="en-US" sz="850" noProof="1" b="1">
                <a:solidFill>
                  <a:srgbClr val="E69138"/>
                </a:solidFill>
                <a:latin typeface="Liter"/>
                <a:ea typeface="MiSans"/>
              </a:rPr>
              <a:t>RTP media (end-to-end)</a:t>
            </a:r>
            <a:endParaRPr lang="en-US" sz="850" noProof="1"/>
          </a:p>
        </p:txBody>
      </p:sp>
      <p:sp>
        <p:nvSpPr>
          <p:cNvPr id="26" name="plane-note"/>
          <p:cNvSpPr txBox="1"/>
          <p:nvPr/>
        </p:nvSpPr>
        <p:spPr>
          <a:xfrm>
            <a:off x="609600" y="5257800"/>
            <a:ext cx="46228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Signaling plane</a:t>
            </a:r>
            <a:r>
              <a:rPr lang="en-US" sz="1000" noProof="1">
                <a:solidFill>
                  <a:srgbClr val="5A5A5A"/>
                </a:solidFill>
                <a:latin typeface="Liter"/>
                <a:ea typeface="MiSans"/>
              </a:rPr>
              <a:t> — INVITE / ringing / OK: routed through CUCM; failure blocks call setup.</a:t>
            </a:r>
            <a:endParaRPr lang="en-US" sz="1000" noProof="1"/>
          </a:p>
          <a:p>
            <a:pPr>
              <a:lnSpc>
                <a:spcPct val="135000"/>
              </a:lnSpc>
              <a:spcBef>
                <a:spcPts val="600"/>
              </a:spcBef>
            </a:pPr>
            <a:r>
              <a:rPr lang="en-US" sz="1000" noProof="1" b="1">
                <a:solidFill>
                  <a:srgbClr val="5A5A5A"/>
                </a:solidFill>
                <a:latin typeface="Liter"/>
                <a:ea typeface="MiSans"/>
              </a:rPr>
              <a:t>Media plane</a:t>
            </a:r>
            <a:r>
              <a:rPr lang="en-US" sz="1000" noProof="1">
                <a:solidFill>
                  <a:srgbClr val="5A5A5A"/>
                </a:solidFill>
                <a:latin typeface="Liter"/>
                <a:ea typeface="MiSans"/>
              </a:rPr>
              <a:t> — RTP stream: flows directly between endpoints (or via gateways / MTPs); failure degrades audio only.</a:t>
            </a:r>
            <a:endParaRPr lang="en-US" sz="1000" noProof="1"/>
          </a:p>
        </p:txBody>
      </p:sp>
      <p:sp>
        <p:nvSpPr>
          <p:cNvPr id="27" name="tbl-h"/>
          <p:cNvSpPr txBox="1"/>
          <p:nvPr/>
        </p:nvSpPr>
        <p:spPr>
          <a:xfrm>
            <a:off x="5740400" y="11430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protocols in a Cisco voice estate</a:t>
            </a:r>
            <a:endParaRPr lang="en-US" sz="1100" noProof="1"/>
          </a:p>
        </p:txBody>
      </p:sp>
      <p:graphicFrame>
        <p:nvGraphicFramePr>
          <p:cNvPr id="28" name="proto-table"/>
          <p:cNvGraphicFramePr>
            <a:graphicFrameLocks noGrp="1"/>
          </p:cNvGraphicFramePr>
          <p:nvPr/>
        </p:nvGraphicFramePr>
        <p:xfrm>
          <a:off x="5740400" y="1447800"/>
          <a:ext cx="5842000" cy="3454400"/>
        </p:xfrm>
        <a:graphic>
          <a:graphicData uri="http://schemas.openxmlformats.org/drawingml/2006/table">
            <a:tbl>
              <a:tblPr/>
              <a:tblGrid>
                <a:gridCol w="993140"/>
                <a:gridCol w="1402080"/>
                <a:gridCol w="1986280"/>
                <a:gridCol w="1460500"/>
              </a:tblGrid>
              <a:tr h="449072">
                <a:tc>
                  <a:txBody>
                    <a:bodyPr wrap="square" rtlCol="0" anchor="ctr"/>
                    <a:lstStyle/>
                    <a:p>
                      <a:pPr algn="l"/>
                      <a:r>
                        <a:rPr lang="en-US" sz="1050" noProof="1" b="1">
                          <a:solidFill>
                            <a:srgbClr val="000000"/>
                          </a:solidFill>
                          <a:latin typeface="Liter"/>
                          <a:ea typeface="MiSans"/>
                        </a:rPr>
                        <a:t>Protocol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Role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Cisco uses it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Status today</a:t>
                      </a:r>
                    </a:p>
                  </a:txBody>
                  <a:tcPr marL="91440" marR="91440" marT="45720" marB="45720" anchor="ctr">
                    <a:lnL>
                      <a:noFill/>
                    </a:lnL>
                    <a:lnR>
                      <a:noFill/>
                    </a:lnR>
                    <a:lnT>
                      <a:noFill/>
                    </a:lnT>
                    <a:lnB w="15240">
                      <a:solidFill>
                        <a:srgbClr val="000000"/>
                      </a:solidFill>
                    </a:lnB>
                    <a:noFill/>
                  </a:tcPr>
                </a:tc>
              </a:tr>
              <a:tr h="751332">
                <a:tc>
                  <a:txBody>
                    <a:bodyPr wrap="square" rtlCol="0" anchor="ctr"/>
                    <a:lstStyle/>
                    <a:p>
                      <a:pPr algn="l"/>
                      <a:r>
                        <a:rPr lang="en-US" sz="1050" noProof="1">
                          <a:solidFill>
                            <a:srgbClr val="000000"/>
                          </a:solidFill>
                          <a:latin typeface="Liter"/>
                          <a:ea typeface="MiSans"/>
                        </a:rPr>
                        <a:t>SIP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Session setup, text-based, SDP negotiation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trunks, Webex Calling, endpoints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Default standard</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suite (H.225 / H.245)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Older video &amp; gateway interworking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 phasing out</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MGCP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Centralized gateway control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CUCM-controlled PSTN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Mature, still deployed</a:t>
                      </a:r>
                    </a:p>
                  </a:txBody>
                  <a:tcPr marL="91440" marR="91440" marT="45720" marB="45720" anchor="ctr">
                    <a:lnL>
                      <a:noFill/>
                    </a:lnL>
                    <a:lnR>
                      <a:noFill/>
                    </a:lnR>
                    <a:lnT>
                      <a:noFill/>
                    </a:lnT>
                    <a:lnB w="7620">
                      <a:solidFill>
                        <a:srgbClr val="D9D9D9"/>
                      </a:solidFill>
                    </a:lnB>
                    <a:noFill/>
                  </a:tcPr>
                </a:tc>
              </a:tr>
              <a:tr h="751332">
                <a:tc>
                  <a:txBody>
                    <a:bodyPr wrap="square" rtlCol="0" anchor="ctr"/>
                    <a:lstStyle/>
                    <a:p>
                      <a:pPr algn="l"/>
                      <a:r>
                        <a:rPr lang="en-US" sz="1050" noProof="1">
                          <a:solidFill>
                            <a:srgbClr val="000000"/>
                          </a:solidFill>
                          <a:latin typeface="Liter"/>
                          <a:ea typeface="MiSans"/>
                        </a:rPr>
                        <a:t>SCCP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phone control ("Skinny")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Older IP phones on CUCM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Legacy; SIP preferred</a:t>
                      </a:r>
                    </a:p>
                  </a:txBody>
                  <a:tcPr marL="91440" marR="91440" marT="45720" marB="45720" anchor="ctr">
                    <a:lnL>
                      <a:noFill/>
                    </a:lnL>
                    <a:lnR>
                      <a:noFill/>
                    </a:lnR>
                    <a:lnT>
                      <a:noFill/>
                    </a:lnT>
                    <a:lnB w="7620">
                      <a:solidFill>
                        <a:srgbClr val="D9D9D9"/>
                      </a:solidFill>
                    </a:lnB>
                    <a:noFill/>
                  </a:tcPr>
                </a:tc>
              </a:tr>
            </a:tbl>
          </a:graphicData>
        </a:graphic>
      </p:graphicFrame>
      <p:sp>
        <p:nvSpPr>
          <p:cNvPr id="29" name="tbl-note"/>
          <p:cNvSpPr txBox="1"/>
          <p:nvPr/>
        </p:nvSpPr>
        <p:spPr>
          <a:xfrm>
            <a:off x="5740400" y="5029200"/>
            <a:ext cx="5842000" cy="838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Design consequence: every new integration — trunk, endpoint, contact center leg — should be specified as </a:t>
            </a:r>
            <a:r>
              <a:rPr lang="en-US" sz="1000" noProof="1" b="1">
                <a:solidFill>
                  <a:srgbClr val="5A5A5A"/>
                </a:solidFill>
                <a:latin typeface="Liter"/>
                <a:ea typeface="MiSans"/>
              </a:rPr>
              <a:t>SIP first</a:t>
            </a:r>
            <a:r>
              <a:rPr lang="en-US" sz="1000" noProof="1">
                <a:solidFill>
                  <a:srgbClr val="5A5A5A"/>
                </a:solidFill>
                <a:latin typeface="Liter"/>
                <a:ea typeface="MiSans"/>
              </a:rPr>
              <a:t>. MGCP and SCCP remain for installed estates, which is why migration plans (Section 05) inventory them before cutover.</a:t>
            </a:r>
            <a:endParaRPr lang="en-US" sz="1000" noProof="1"/>
          </a:p>
        </p:txBody>
      </p:sp>
      <p:sp>
        <p:nvSpPr>
          <p:cNvPr id="3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IETF RFC 3261 (SIP); ITU-T H.323; RFC 3435 (MGCP); Cisco CUCM protocol support documentation, cisco.com</a:t>
            </a:r>
            <a:endParaRPr lang="en-US" sz="850" noProof="1"/>
          </a:p>
        </p:txBody>
      </p:sp>
      <p:sp>
        <p:nvSpPr>
          <p:cNvPr id="32" name="cml-footer-bar"/>
          <p:cNvSpPr/>
          <p:nvPr/>
        </p:nvSpPr>
        <p:spPr>
          <a:xfrm>
            <a:off x="0" y="6670000"/>
            <a:ext cx="12192000" cy="640000"/>
          </a:xfrm>
          <a:prstGeom prst="rect">
            <a:avLst/>
          </a:prstGeom>
          <a:solidFill>
            <a:srgbClr val="12161C"/>
          </a:solidFill>
          <a:ln>
            <a:noFill/>
          </a:ln>
        </p:spPr>
        <p:txBody>
          <a:bodyPr/>
          <a:lstStyle/>
          <a:p/>
        </p:txBody>
      </p:sp>
      <p:sp>
        <p:nvSpPr>
          <p:cNvPr id="33" name="cml-footer-rule"/>
          <p:cNvSpPr/>
          <p:nvPr/>
        </p:nvSpPr>
        <p:spPr>
          <a:xfrm>
            <a:off x="0" y="6670000"/>
            <a:ext cx="12192000" cy="19050"/>
          </a:xfrm>
          <a:prstGeom prst="rect">
            <a:avLst/>
          </a:prstGeom>
          <a:solidFill>
            <a:srgbClr val="2DD4BF"/>
          </a:solidFill>
          <a:ln>
            <a:noFill/>
          </a:ln>
        </p:spPr>
        <p:txBody>
          <a:bodyPr/>
          <a:lstStyle/>
          <a:p/>
        </p:txBody>
      </p:sp>
      <p:sp>
        <p:nvSpPr>
          <p:cNvPr id="34"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5"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6"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7"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8"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9"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0"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1"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2"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3"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4"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5"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6"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7"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SIP call is six messages and an SDP contract — learn to read both</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INVITE, ringing, answer and ACK set the call up; BYE tears it down; the SDP inside decides the media before anyone speaks.</a:t>
            </a:r>
            <a:endParaRPr lang="en-US" sz="1100" noProof="1"/>
          </a:p>
        </p:txBody>
      </p:sp>
      <p:sp>
        <p:nvSpPr>
          <p:cNvPr id="4" name="lad-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message ladder, annotated</a:t>
            </a:r>
            <a:endParaRPr lang="en-US" sz="1100" noProof="1"/>
          </a:p>
        </p:txBody>
      </p:sp>
      <p:sp>
        <p:nvSpPr>
          <p:cNvPr id="5" name="la"/>
          <p:cNvSpPr txBox="1"/>
          <p:nvPr/>
        </p:nvSpPr>
        <p:spPr>
          <a:xfrm>
            <a:off x="609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Caller</a:t>
            </a:r>
            <a:endParaRPr lang="en-US" sz="950" noProof="1"/>
          </a:p>
        </p:txBody>
      </p:sp>
      <p:sp>
        <p:nvSpPr>
          <p:cNvPr id="6" name="lb"/>
          <p:cNvSpPr txBox="1"/>
          <p:nvPr/>
        </p:nvSpPr>
        <p:spPr>
          <a:xfrm>
            <a:off x="3022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CUCM</a:t>
            </a:r>
            <a:endParaRPr lang="en-US" sz="950" noProof="1"/>
          </a:p>
        </p:txBody>
      </p:sp>
      <p:sp>
        <p:nvSpPr>
          <p:cNvPr id="7" name="lc"/>
          <p:cNvSpPr txBox="1"/>
          <p:nvPr/>
        </p:nvSpPr>
        <p:spPr>
          <a:xfrm>
            <a:off x="5308600" y="1422400"/>
            <a:ext cx="1016000" cy="203200"/>
          </a:xfrm>
          <a:prstGeom prst="rect">
            <a:avLst/>
          </a:prstGeom>
          <a:noFill/>
          <a:ln>
            <a:noFill/>
          </a:ln>
        </p:spPr>
        <p:txBody>
          <a:bodyPr lIns="0" rIns="0" tIns="0" bIns="0" wrap="none" rtlCol="0"/>
          <a:lstStyle/>
          <a:p>
            <a:pPr>
              <a:lnSpc>
                <a:spcPct val="120000"/>
              </a:lnSpc>
            </a:pPr>
            <a:r>
              <a:rPr lang="en-US" sz="950" noProof="1" b="1">
                <a:solidFill>
                  <a:srgbClr val="333333"/>
                </a:solidFill>
                <a:latin typeface="Liter"/>
                <a:ea typeface="MiSans"/>
              </a:rPr>
              <a:t>Callee</a:t>
            </a:r>
            <a:endParaRPr lang="en-US" sz="950" noProof="1"/>
          </a:p>
        </p:txBody>
      </p:sp>
      <p:sp>
        <p:nvSpPr>
          <p:cNvPr id="8" name="lva"/>
          <p:cNvSpPr/>
          <p:nvPr>
            <p:extLst>
              <p:ext uri="{F5677B7D-0D2A-4D9B-9A5C-6D8D7D0E5A5D}">
                <pptd:line encoding="base64url">eyJ2aWV3Qm94IjpbMSwyOTZdLCJwb2ludHMiOiIwLDAgMCwyOTYifQ</pptd:line>
              </p:ext>
            </p:extLst>
          </p:nvPr>
        </p:nvSpPr>
        <p:spPr>
          <a:xfrm>
            <a:off x="1117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9" name="lvb"/>
          <p:cNvSpPr/>
          <p:nvPr>
            <p:extLst>
              <p:ext uri="{F5677B7D-0D2A-4D9B-9A5C-6D8D7D0E5A5D}">
                <pptd:line encoding="base64url">eyJ2aWV3Qm94IjpbMSwyOTZdLCJwb2ludHMiOiIwLDAgMCwyOTYifQ</pptd:line>
              </p:ext>
            </p:extLst>
          </p:nvPr>
        </p:nvSpPr>
        <p:spPr>
          <a:xfrm>
            <a:off x="3276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10" name="lvc"/>
          <p:cNvSpPr/>
          <p:nvPr>
            <p:extLst>
              <p:ext uri="{F5677B7D-0D2A-4D9B-9A5C-6D8D7D0E5A5D}">
                <pptd:line encoding="base64url">eyJ2aWV3Qm94IjpbMSwyOTZdLCJwb2ludHMiOiIwLDAgMCwyOTYifQ</pptd:line>
              </p:ext>
            </p:extLst>
          </p:nvPr>
        </p:nvSpPr>
        <p:spPr>
          <a:xfrm>
            <a:off x="5435600" y="1676400"/>
            <a:ext cx="12700" cy="3759200"/>
          </a:xfrm>
          <a:custGeom>
            <a:avLst/>
            <a:gdLst/>
            <a:ahLst/>
            <a:cxnLst/>
            <a:rect l="l" t="t" r="r" b="b"/>
            <a:pathLst>
              <a:path w="1" h="296">
                <a:moveTo>
                  <a:pt x="0" y="0"/>
                </a:moveTo>
                <a:lnTo>
                  <a:pt x="0" y="296"/>
                </a:lnTo>
              </a:path>
            </a:pathLst>
          </a:custGeom>
          <a:noFill/>
          <a:ln w="10160" cap="rnd">
            <a:solidFill>
              <a:srgbClr val="CFCFCF"/>
            </a:solidFill>
            <a:round/>
          </a:ln>
        </p:spPr>
      </p:sp>
      <p:sp>
        <p:nvSpPr>
          <p:cNvPr id="11" name="m1"/>
          <p:cNvSpPr/>
          <p:nvPr>
            <p:extLst>
              <p:ext uri="{F5677B7D-0D2A-4D9B-9A5C-6D8D7D0E5A5D}">
                <pptd:line encoding="base64url">eyJ2aWV3Qm94IjpbMzQwLDFdLCJwb2ludHMiOiIwLDAgMzQwLDAifQ</pptd:line>
              </p:ext>
            </p:extLst>
          </p:nvPr>
        </p:nvSpPr>
        <p:spPr>
          <a:xfrm>
            <a:off x="1117600" y="1905000"/>
            <a:ext cx="4318000" cy="12700"/>
          </a:xfrm>
          <a:custGeom>
            <a:avLst/>
            <a:gdLst/>
            <a:ahLst/>
            <a:cxnLst/>
            <a:rect l="l" t="t" r="r" b="b"/>
            <a:pathLst>
              <a:path w="340" h="1">
                <a:moveTo>
                  <a:pt x="0" y="0"/>
                </a:moveTo>
                <a:lnTo>
                  <a:pt x="340" y="0"/>
                </a:lnTo>
              </a:path>
            </a:pathLst>
          </a:custGeom>
          <a:noFill/>
          <a:ln w="17780" cap="rnd">
            <a:solidFill>
              <a:srgbClr val="E69138"/>
            </a:solidFill>
            <a:round/>
            <a:tailEnd type="arrow"/>
          </a:ln>
        </p:spPr>
      </p:sp>
      <p:sp>
        <p:nvSpPr>
          <p:cNvPr id="12" name="m1t"/>
          <p:cNvSpPr txBox="1"/>
          <p:nvPr/>
        </p:nvSpPr>
        <p:spPr>
          <a:xfrm>
            <a:off x="1397000" y="1727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INVITE  (SDP offer: codecs, IP, port)</a:t>
            </a:r>
            <a:endParaRPr lang="en-US" sz="800" noProof="1"/>
          </a:p>
        </p:txBody>
      </p:sp>
      <p:sp>
        <p:nvSpPr>
          <p:cNvPr id="13" name="m2"/>
          <p:cNvSpPr/>
          <p:nvPr>
            <p:extLst>
              <p:ext uri="{F5677B7D-0D2A-4D9B-9A5C-6D8D7D0E5A5D}">
                <pptd:line encoding="base64url">eyJ2aWV3Qm94IjpbMTcwLDFdLCJwb2ludHMiOiIxNzAsMCAwLDAifQ</pptd:line>
              </p:ext>
            </p:extLst>
          </p:nvPr>
        </p:nvSpPr>
        <p:spPr>
          <a:xfrm>
            <a:off x="1117600" y="2286000"/>
            <a:ext cx="2159000" cy="12700"/>
          </a:xfrm>
          <a:custGeom>
            <a:avLst/>
            <a:gdLst/>
            <a:ahLst/>
            <a:cxnLst/>
            <a:rect l="l" t="t" r="r" b="b"/>
            <a:pathLst>
              <a:path w="170" h="1">
                <a:moveTo>
                  <a:pt x="170" y="0"/>
                </a:moveTo>
                <a:lnTo>
                  <a:pt x="0" y="0"/>
                </a:lnTo>
              </a:path>
            </a:pathLst>
          </a:custGeom>
          <a:noFill/>
          <a:ln w="12700" cap="rnd">
            <a:solidFill>
              <a:srgbClr val="A9AAAC"/>
            </a:solidFill>
            <a:round/>
            <a:tailEnd type="arrow"/>
          </a:ln>
        </p:spPr>
      </p:sp>
      <p:sp>
        <p:nvSpPr>
          <p:cNvPr id="14" name="m2t"/>
          <p:cNvSpPr txBox="1"/>
          <p:nvPr/>
        </p:nvSpPr>
        <p:spPr>
          <a:xfrm>
            <a:off x="1397000" y="2108200"/>
            <a:ext cx="2286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100 Trying</a:t>
            </a:r>
            <a:endParaRPr lang="en-US" sz="800" noProof="1"/>
          </a:p>
        </p:txBody>
      </p:sp>
      <p:sp>
        <p:nvSpPr>
          <p:cNvPr id="15" name="m3"/>
          <p:cNvSpPr/>
          <p:nvPr>
            <p:extLst>
              <p:ext uri="{F5677B7D-0D2A-4D9B-9A5C-6D8D7D0E5A5D}">
                <pptd:line encoding="base64url">eyJ2aWV3Qm94IjpbMTcwLDFdLCJwb2ludHMiOiIxNzAsMCAwLDAifQ</pptd:line>
              </p:ext>
            </p:extLst>
          </p:nvPr>
        </p:nvSpPr>
        <p:spPr>
          <a:xfrm>
            <a:off x="1117600" y="2667000"/>
            <a:ext cx="2159000" cy="12700"/>
          </a:xfrm>
          <a:custGeom>
            <a:avLst/>
            <a:gdLst/>
            <a:ahLst/>
            <a:cxnLst/>
            <a:rect l="l" t="t" r="r" b="b"/>
            <a:pathLst>
              <a:path w="170" h="1">
                <a:moveTo>
                  <a:pt x="170" y="0"/>
                </a:moveTo>
                <a:lnTo>
                  <a:pt x="0" y="0"/>
                </a:lnTo>
              </a:path>
            </a:pathLst>
          </a:custGeom>
          <a:noFill/>
          <a:ln w="12700" cap="rnd">
            <a:solidFill>
              <a:srgbClr val="A9AAAC"/>
            </a:solidFill>
            <a:round/>
            <a:tailEnd type="arrow"/>
          </a:ln>
        </p:spPr>
      </p:sp>
      <p:sp>
        <p:nvSpPr>
          <p:cNvPr id="16" name="m3t"/>
          <p:cNvSpPr txBox="1"/>
          <p:nvPr/>
        </p:nvSpPr>
        <p:spPr>
          <a:xfrm>
            <a:off x="1397000" y="2489200"/>
            <a:ext cx="2286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180 Ringing</a:t>
            </a:r>
            <a:endParaRPr lang="en-US" sz="800" noProof="1"/>
          </a:p>
        </p:txBody>
      </p:sp>
      <p:sp>
        <p:nvSpPr>
          <p:cNvPr id="17" name="m4"/>
          <p:cNvSpPr/>
          <p:nvPr>
            <p:extLst>
              <p:ext uri="{F5677B7D-0D2A-4D9B-9A5C-6D8D7D0E5A5D}">
                <pptd:line encoding="base64url">eyJ2aWV3Qm94IjpbMzQwLDFdLCJwb2ludHMiOiIzNDAsMCAwLDAifQ</pptd:line>
              </p:ext>
            </p:extLst>
          </p:nvPr>
        </p:nvSpPr>
        <p:spPr>
          <a:xfrm>
            <a:off x="1117600" y="3175000"/>
            <a:ext cx="4318000" cy="12700"/>
          </a:xfrm>
          <a:custGeom>
            <a:avLst/>
            <a:gdLst/>
            <a:ahLst/>
            <a:cxnLst/>
            <a:rect l="l" t="t" r="r" b="b"/>
            <a:pathLst>
              <a:path w="340" h="1">
                <a:moveTo>
                  <a:pt x="340" y="0"/>
                </a:moveTo>
                <a:lnTo>
                  <a:pt x="0" y="0"/>
                </a:lnTo>
              </a:path>
            </a:pathLst>
          </a:custGeom>
          <a:noFill/>
          <a:ln w="17780" cap="rnd">
            <a:solidFill>
              <a:srgbClr val="E69138"/>
            </a:solidFill>
            <a:round/>
            <a:tailEnd type="arrow"/>
          </a:ln>
        </p:spPr>
      </p:sp>
      <p:sp>
        <p:nvSpPr>
          <p:cNvPr id="18" name="m4t"/>
          <p:cNvSpPr txBox="1"/>
          <p:nvPr/>
        </p:nvSpPr>
        <p:spPr>
          <a:xfrm>
            <a:off x="1397000" y="2997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200 OK  (SDP answer: one codec chosen)</a:t>
            </a:r>
            <a:endParaRPr lang="en-US" sz="800" noProof="1"/>
          </a:p>
        </p:txBody>
      </p:sp>
      <p:sp>
        <p:nvSpPr>
          <p:cNvPr id="19" name="m5"/>
          <p:cNvSpPr/>
          <p:nvPr>
            <p:extLst>
              <p:ext uri="{F5677B7D-0D2A-4D9B-9A5C-6D8D7D0E5A5D}">
                <pptd:line encoding="base64url">eyJ2aWV3Qm94IjpbMzQwLDFdLCJwb2ludHMiOiIwLDAgMzQwLDAifQ</pptd:line>
              </p:ext>
            </p:extLst>
          </p:nvPr>
        </p:nvSpPr>
        <p:spPr>
          <a:xfrm>
            <a:off x="1117600" y="3683000"/>
            <a:ext cx="4318000" cy="12700"/>
          </a:xfrm>
          <a:custGeom>
            <a:avLst/>
            <a:gdLst/>
            <a:ahLst/>
            <a:cxnLst/>
            <a:rect l="l" t="t" r="r" b="b"/>
            <a:pathLst>
              <a:path w="340" h="1">
                <a:moveTo>
                  <a:pt x="0" y="0"/>
                </a:moveTo>
                <a:lnTo>
                  <a:pt x="340" y="0"/>
                </a:lnTo>
              </a:path>
            </a:pathLst>
          </a:custGeom>
          <a:noFill/>
          <a:ln w="15240" cap="rnd">
            <a:solidFill>
              <a:srgbClr val="000000"/>
            </a:solidFill>
            <a:round/>
            <a:tailEnd type="arrow"/>
          </a:ln>
        </p:spPr>
      </p:sp>
      <p:sp>
        <p:nvSpPr>
          <p:cNvPr id="20" name="m5t"/>
          <p:cNvSpPr txBox="1"/>
          <p:nvPr/>
        </p:nvSpPr>
        <p:spPr>
          <a:xfrm>
            <a:off x="1397000" y="35052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ACK — call is live</a:t>
            </a:r>
            <a:endParaRPr lang="en-US" sz="800" noProof="1"/>
          </a:p>
        </p:txBody>
      </p:sp>
      <p:sp>
        <p:nvSpPr>
          <p:cNvPr id="21" name="m6"/>
          <p:cNvSpPr/>
          <p:nvPr>
            <p:extLst>
              <p:ext uri="{F5677B7D-0D2A-4D9B-9A5C-6D8D7D0E5A5D}">
                <pptd:line encoding="base64url">eyJ2aWV3Qm94IjpbMzQwLDFdLCJwb2ludHMiOiIwLDAgMzQwLDAifQ</pptd:line>
              </p:ext>
            </p:extLst>
          </p:nvPr>
        </p:nvSpPr>
        <p:spPr>
          <a:xfrm>
            <a:off x="1117600" y="4191000"/>
            <a:ext cx="4318000" cy="12700"/>
          </a:xfrm>
          <a:custGeom>
            <a:avLst/>
            <a:gdLst/>
            <a:ahLst/>
            <a:cxnLst/>
            <a:rect l="l" t="t" r="r" b="b"/>
            <a:pathLst>
              <a:path w="340" h="1">
                <a:moveTo>
                  <a:pt x="0" y="0"/>
                </a:moveTo>
                <a:lnTo>
                  <a:pt x="340" y="0"/>
                </a:lnTo>
              </a:path>
            </a:pathLst>
          </a:custGeom>
          <a:noFill/>
          <a:ln w="25400" cap="rnd">
            <a:solidFill>
              <a:srgbClr val="E69138"/>
            </a:solidFill>
            <a:round/>
            <a:headEnd type="arrow"/>
            <a:tailEnd type="arrow"/>
          </a:ln>
        </p:spPr>
      </p:sp>
      <p:sp>
        <p:nvSpPr>
          <p:cNvPr id="22" name="m6t"/>
          <p:cNvSpPr txBox="1"/>
          <p:nvPr/>
        </p:nvSpPr>
        <p:spPr>
          <a:xfrm>
            <a:off x="1397000" y="4013200"/>
            <a:ext cx="3810000" cy="152400"/>
          </a:xfrm>
          <a:prstGeom prst="rect">
            <a:avLst/>
          </a:prstGeom>
          <a:noFill/>
          <a:ln>
            <a:noFill/>
          </a:ln>
        </p:spPr>
        <p:txBody>
          <a:bodyPr lIns="0" rIns="0" tIns="0" bIns="0" wrap="none" rtlCol="0"/>
          <a:lstStyle/>
          <a:p>
            <a:pPr>
              <a:lnSpc>
                <a:spcPct val="120000"/>
              </a:lnSpc>
            </a:pPr>
            <a:r>
              <a:rPr lang="en-US" sz="800" noProof="1">
                <a:solidFill>
                  <a:srgbClr val="000000"/>
                </a:solidFill>
                <a:latin typeface="JetBrains Mono"/>
                <a:ea typeface="MiSans"/>
              </a:rPr>
              <a:t>RTP media — end-to-end, bypasses CUCM</a:t>
            </a:r>
            <a:endParaRPr lang="en-US" sz="800" noProof="1"/>
          </a:p>
        </p:txBody>
      </p:sp>
      <p:sp>
        <p:nvSpPr>
          <p:cNvPr id="23" name="m7"/>
          <p:cNvSpPr/>
          <p:nvPr>
            <p:extLst>
              <p:ext uri="{F5677B7D-0D2A-4D9B-9A5C-6D8D7D0E5A5D}">
                <pptd:line encoding="base64url">eyJ2aWV3Qm94IjpbMzQwLDFdLCJwb2ludHMiOiIwLDAgMzQwLDAifQ</pptd:line>
              </p:ext>
            </p:extLst>
          </p:nvPr>
        </p:nvSpPr>
        <p:spPr>
          <a:xfrm>
            <a:off x="1117600" y="4826000"/>
            <a:ext cx="4318000" cy="12700"/>
          </a:xfrm>
          <a:custGeom>
            <a:avLst/>
            <a:gdLst/>
            <a:ahLst/>
            <a:cxnLst/>
            <a:rect l="l" t="t" r="r" b="b"/>
            <a:pathLst>
              <a:path w="340" h="1">
                <a:moveTo>
                  <a:pt x="0" y="0"/>
                </a:moveTo>
                <a:lnTo>
                  <a:pt x="340" y="0"/>
                </a:lnTo>
              </a:path>
            </a:pathLst>
          </a:custGeom>
          <a:noFill/>
          <a:ln w="12700" cap="rnd">
            <a:solidFill>
              <a:srgbClr val="A9AAAC"/>
            </a:solidFill>
            <a:round/>
            <a:tailEnd type="arrow"/>
          </a:ln>
        </p:spPr>
      </p:sp>
      <p:sp>
        <p:nvSpPr>
          <p:cNvPr id="24" name="m7t"/>
          <p:cNvSpPr txBox="1"/>
          <p:nvPr/>
        </p:nvSpPr>
        <p:spPr>
          <a:xfrm>
            <a:off x="1397000" y="46482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BYE → 200 OK — teardown</a:t>
            </a:r>
            <a:endParaRPr lang="en-US" sz="800" noProof="1"/>
          </a:p>
        </p:txBody>
      </p:sp>
      <p:sp>
        <p:nvSpPr>
          <p:cNvPr id="25" name="lad-note"/>
          <p:cNvSpPr txBox="1"/>
          <p:nvPr/>
        </p:nvSpPr>
        <p:spPr>
          <a:xfrm>
            <a:off x="609600" y="5588000"/>
            <a:ext cx="5461000" cy="431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Read SDL traces as this ladder: find the INVITE, follow the responses, and the failure's message names the failing layer.</a:t>
            </a:r>
            <a:endParaRPr lang="en-US" sz="1000" noProof="1"/>
          </a:p>
        </p:txBody>
      </p:sp>
      <p:sp>
        <p:nvSpPr>
          <p:cNvPr id="26" name="hdr-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headers that answer troubleshooting questions</a:t>
            </a:r>
            <a:endParaRPr lang="en-US" sz="1100" noProof="1"/>
          </a:p>
        </p:txBody>
      </p:sp>
      <p:graphicFrame>
        <p:nvGraphicFramePr>
          <p:cNvPr id="27" name="hdr-table"/>
          <p:cNvGraphicFramePr>
            <a:graphicFrameLocks noGrp="1"/>
          </p:cNvGraphicFramePr>
          <p:nvPr/>
        </p:nvGraphicFramePr>
        <p:xfrm>
          <a:off x="6604000" y="1447800"/>
          <a:ext cx="4978400" cy="2413000"/>
        </p:xfrm>
        <a:graphic>
          <a:graphicData uri="http://schemas.openxmlformats.org/drawingml/2006/table">
            <a:tbl>
              <a:tblPr/>
              <a:tblGrid>
                <a:gridCol w="1493520"/>
                <a:gridCol w="3484880"/>
              </a:tblGrid>
              <a:tr h="313690">
                <a:tc>
                  <a:txBody>
                    <a:bodyPr wrap="square" rtlCol="0" anchor="ctr"/>
                    <a:lstStyle/>
                    <a:p>
                      <a:pPr algn="l"/>
                      <a:r>
                        <a:rPr lang="en-US" sz="1050" noProof="1" b="1">
                          <a:solidFill>
                            <a:srgbClr val="000000"/>
                          </a:solidFill>
                          <a:latin typeface="Liter"/>
                          <a:ea typeface="MiSans"/>
                        </a:rPr>
                        <a:t>Header</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tells you</a:t>
                      </a:r>
                    </a:p>
                  </a:txBody>
                  <a:tcPr marL="91440" marR="91440" marT="45720" marB="45720" anchor="ctr">
                    <a:lnL>
                      <a:noFill/>
                    </a:lnL>
                    <a:lnR>
                      <a:noFill/>
                    </a:lnR>
                    <a:lnT>
                      <a:noFill/>
                    </a:lnT>
                    <a:lnB w="15240">
                      <a:solidFill>
                        <a:srgbClr val="000000"/>
                      </a:solidFill>
                    </a:lnB>
                    <a:noFill/>
                  </a:tcPr>
                </a:tc>
              </a:tr>
              <a:tr h="419862">
                <a:tc>
                  <a:txBody>
                    <a:bodyPr wrap="square" rtlCol="0" anchor="ctr"/>
                    <a:lstStyle/>
                    <a:p>
                      <a:pPr algn="l"/>
                      <a:r>
                        <a:rPr lang="en-US" sz="1050" noProof="1">
                          <a:solidFill>
                            <a:srgbClr val="000000"/>
                          </a:solidFill>
                          <a:latin typeface="Liter"/>
                          <a:ea typeface="MiSans"/>
                        </a:rPr>
                        <a:t>Via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path each hop took — responses must retrace it; reveals proxies in the path</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Call-ID + tags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dialog's fingerprint — grep this to isolate one call in a busy trace</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CSeq</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message order within the dialog; out-of-sequence = retransmission or fork</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Contact / RR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where to reach this party directly; Record-Route pins mid-dialog messages to proxies</a:t>
                      </a:r>
                    </a:p>
                  </a:txBody>
                  <a:tcPr marL="91440" marR="91440" marT="45720" marB="45720" anchor="ctr">
                    <a:lnL>
                      <a:noFill/>
                    </a:lnL>
                    <a:lnR>
                      <a:noFill/>
                    </a:lnR>
                    <a:lnT>
                      <a:noFill/>
                    </a:lnT>
                    <a:lnB w="7620">
                      <a:solidFill>
                        <a:srgbClr val="D9D9D9"/>
                      </a:solidFill>
                    </a:lnB>
                    <a:noFill/>
                  </a:tcPr>
                </a:tc>
              </a:tr>
              <a:tr h="419862">
                <a:tc>
                  <a:txBody>
                    <a:bodyPr wrap="square" rtlCol="0" anchor="ctr"/>
                    <a:lstStyle/>
                    <a:p>
                      <a:pPr algn="l"/>
                      <a:r>
                        <a:rPr lang="en-US" sz="1050" noProof="1">
                          <a:solidFill>
                            <a:srgbClr val="000000"/>
                          </a:solidFill>
                          <a:latin typeface="Liter"/>
                          <a:ea typeface="MiSans"/>
                        </a:rPr>
                        <a:t>4xx / 5xx / 6xx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failure class: 404 no route, 403 policy, 480/408 no answer, 503 capacity</a:t>
                      </a:r>
                    </a:p>
                  </a:txBody>
                  <a:tcPr marL="91440" marR="91440" marT="45720" marB="45720" anchor="ctr">
                    <a:lnL>
                      <a:noFill/>
                    </a:lnL>
                    <a:lnR>
                      <a:noFill/>
                    </a:lnR>
                    <a:lnT>
                      <a:noFill/>
                    </a:lnT>
                    <a:lnB w="7620">
                      <a:solidFill>
                        <a:srgbClr val="D9D9D9"/>
                      </a:solidFill>
                    </a:lnB>
                    <a:noFill/>
                  </a:tcPr>
                </a:tc>
              </a:tr>
            </a:tbl>
          </a:graphicData>
        </a:graphic>
      </p:graphicFrame>
      <p:sp>
        <p:nvSpPr>
          <p:cNvPr id="28" name="sdp-box"/>
          <p:cNvSpPr/>
          <p:nvPr/>
        </p:nvSpPr>
        <p:spPr>
          <a:xfrm>
            <a:off x="6604000" y="4064000"/>
            <a:ext cx="4978400" cy="1473200"/>
          </a:xfrm>
          <a:prstGeom prst="roundRect">
            <a:avLst>
              <a:gd name="adj" fmla="val 12000"/>
            </a:avLst>
          </a:prstGeom>
          <a:solidFill>
            <a:srgbClr val="F3F3F3"/>
          </a:solidFill>
          <a:ln>
            <a:noFill/>
          </a:ln>
        </p:spPr>
      </p:sp>
      <p:sp>
        <p:nvSpPr>
          <p:cNvPr id="29" name="sdp-box-t"/>
          <p:cNvSpPr txBox="1"/>
          <p:nvPr/>
        </p:nvSpPr>
        <p:spPr>
          <a:xfrm>
            <a:off x="6756400" y="4191000"/>
            <a:ext cx="4673600" cy="1244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SDP is the media contract</a:t>
            </a:r>
            <a:endParaRPr lang="en-US" sz="1000" noProof="1"/>
          </a:p>
          <a:p>
            <a:pPr>
              <a:lnSpc>
                <a:spcPct val="135000"/>
              </a:lnSpc>
              <a:spcBef>
                <a:spcPts val="600"/>
              </a:spcBef>
            </a:pPr>
            <a:r>
              <a:rPr lang="en-US" sz="1000" noProof="1">
                <a:solidFill>
                  <a:srgbClr val="5A5A5A"/>
                </a:solidFill>
                <a:latin typeface="JetBrains Mono"/>
                <a:ea typeface="JetBrains Mono"/>
              </a:rPr>
              <a:t>m=audio &lt;port&gt; RTP/AVP 0 8 101</a:t>
            </a:r>
            <a:r>
              <a:rPr lang="en-US" sz="1000" noProof="1">
                <a:solidFill>
                  <a:srgbClr val="5A5A5A"/>
                </a:solidFill>
                <a:latin typeface="Liter"/>
                <a:ea typeface="MiSans"/>
              </a:rPr>
              <a:t> offers G.711u / G.711a / RFC 2833; </a:t>
            </a:r>
            <a:r>
              <a:rPr lang="en-US" sz="1000" noProof="1">
                <a:solidFill>
                  <a:srgbClr val="5A5A5A"/>
                </a:solidFill>
                <a:latin typeface="JetBrains Mono"/>
                <a:ea typeface="JetBrains Mono"/>
              </a:rPr>
              <a:t>c=</a:t>
            </a:r>
            <a:r>
              <a:rPr lang="en-US" sz="1000" noProof="1">
                <a:solidFill>
                  <a:srgbClr val="5A5A5A"/>
                </a:solidFill>
                <a:latin typeface="Liter"/>
                <a:ea typeface="MiSans"/>
              </a:rPr>
              <a:t> gives the media IP; </a:t>
            </a:r>
            <a:r>
              <a:rPr lang="en-US" sz="1000" noProof="1">
                <a:solidFill>
                  <a:srgbClr val="5A5A5A"/>
                </a:solidFill>
                <a:latin typeface="JetBrains Mono"/>
                <a:ea typeface="JetBrains Mono"/>
              </a:rPr>
              <a:t>a=sendrecv</a:t>
            </a:r>
            <a:r>
              <a:rPr lang="en-US" sz="1000" noProof="1">
                <a:solidFill>
                  <a:srgbClr val="5A5A5A"/>
                </a:solidFill>
                <a:latin typeface="Liter"/>
                <a:ea typeface="MiSans"/>
              </a:rPr>
              <a:t> the direction.</a:t>
            </a:r>
            <a:endParaRPr lang="en-US" sz="1000" noProof="1"/>
          </a:p>
          <a:p>
            <a:pPr>
              <a:lnSpc>
                <a:spcPct val="135000"/>
              </a:lnSpc>
              <a:spcBef>
                <a:spcPts val="600"/>
              </a:spcBef>
            </a:pPr>
            <a:r>
              <a:rPr lang="en-US" sz="1000" noProof="1">
                <a:solidFill>
                  <a:srgbClr val="5A5A5A"/>
                </a:solidFill>
                <a:latin typeface="Liter"/>
                <a:ea typeface="MiSans"/>
              </a:rPr>
              <a:t>The answer picks from the offered list — an empty intersection means codec mismatch and a transcoder or a failed call.</a:t>
            </a:r>
            <a:endParaRPr lang="en-US" sz="1000" noProof="1"/>
          </a:p>
        </p:txBody>
      </p:sp>
      <p:sp>
        <p:nvSpPr>
          <p:cNvPr id="30" name="hdr-note"/>
          <p:cNvSpPr txBox="1"/>
          <p:nvPr/>
        </p:nvSpPr>
        <p:spPr>
          <a:xfrm>
            <a:off x="6604000" y="5664200"/>
            <a:ext cx="4978400" cy="3556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Early offer vs delayed offer decides when an MTP is inserted (Section 02).</a:t>
            </a:r>
            <a:endParaRPr lang="en-US" sz="1000" noProof="1"/>
          </a:p>
        </p:txBody>
      </p:sp>
      <p:sp>
        <p:nvSpPr>
          <p:cNvPr id="3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RFC 3261 (SIP), RFC 4566 (SDP), RFC 2833 (DTMF events); CUCM SDL trace interpretation guides</a:t>
            </a:r>
            <a:endParaRPr lang="en-US" sz="850" noProof="1"/>
          </a:p>
        </p:txBody>
      </p:sp>
      <p:sp>
        <p:nvSpPr>
          <p:cNvPr id="33" name="cml-footer-bar"/>
          <p:cNvSpPr/>
          <p:nvPr/>
        </p:nvSpPr>
        <p:spPr>
          <a:xfrm>
            <a:off x="0" y="6670000"/>
            <a:ext cx="12192000" cy="640000"/>
          </a:xfrm>
          <a:prstGeom prst="rect">
            <a:avLst/>
          </a:prstGeom>
          <a:solidFill>
            <a:srgbClr val="12161C"/>
          </a:solidFill>
          <a:ln>
            <a:noFill/>
          </a:ln>
        </p:spPr>
        <p:txBody>
          <a:bodyPr/>
          <a:lstStyle/>
          <a:p/>
        </p:txBody>
      </p:sp>
      <p:sp>
        <p:nvSpPr>
          <p:cNvPr id="34" name="cml-footer-rule"/>
          <p:cNvSpPr/>
          <p:nvPr/>
        </p:nvSpPr>
        <p:spPr>
          <a:xfrm>
            <a:off x="0" y="6670000"/>
            <a:ext cx="12192000" cy="19050"/>
          </a:xfrm>
          <a:prstGeom prst="rect">
            <a:avLst/>
          </a:prstGeom>
          <a:solidFill>
            <a:srgbClr val="2DD4BF"/>
          </a:solidFill>
          <a:ln>
            <a:noFill/>
          </a:ln>
        </p:spPr>
        <p:txBody>
          <a:bodyPr/>
          <a:lstStyle/>
          <a:p/>
        </p:txBody>
      </p:sp>
      <p:sp>
        <p:nvSpPr>
          <p:cNvPr id="3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4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One UC core: CUCM at the center, with messaging, presence, edge and cloud around it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reference estate below is the coordinate system for the rest of this deck — every configuration and migration step maps onto one of these blocks.</a:t>
            </a:r>
            <a:endParaRPr lang="en-US" sz="1100" noProof="1"/>
          </a:p>
        </p:txBody>
      </p:sp>
      <p:sp>
        <p:nvSpPr>
          <p:cNvPr id="4" name="zone-core"/>
          <p:cNvSpPr/>
          <p:nvPr/>
        </p:nvSpPr>
        <p:spPr>
          <a:xfrm>
            <a:off x="4191000" y="2489200"/>
            <a:ext cx="3810000" cy="1879600"/>
          </a:xfrm>
          <a:prstGeom prst="rect">
            <a:avLst/>
          </a:prstGeom>
          <a:solidFill>
            <a:srgbClr val="FFFFFF"/>
          </a:solidFill>
          <a:ln w="20320">
            <a:solidFill>
              <a:srgbClr val="000000"/>
            </a:solidFill>
          </a:ln>
        </p:spPr>
      </p:sp>
      <p:sp>
        <p:nvSpPr>
          <p:cNvPr id="5" name="zone-core-t"/>
          <p:cNvSpPr txBox="1"/>
          <p:nvPr/>
        </p:nvSpPr>
        <p:spPr>
          <a:xfrm>
            <a:off x="4191000" y="2489200"/>
            <a:ext cx="3810000" cy="1879600"/>
          </a:xfrm>
          <a:prstGeom prst="rect">
            <a:avLst/>
          </a:prstGeom>
          <a:noFill/>
          <a:ln>
            <a:noFill/>
          </a:ln>
        </p:spPr>
        <p:txBody>
          <a:bodyPr lIns="0" rIns="0" tIns="0" bIns="0" wrap="square" rtlCol="0" anchor="ctr"/>
          <a:lstStyle/>
          <a:p>
            <a:pPr algn="ctr">
              <a:lnSpc>
                <a:spcPct val="120000"/>
              </a:lnSpc>
            </a:pPr>
            <a:r>
              <a:rPr lang="en-US" sz="1300" noProof="1" b="1">
                <a:solidFill>
                  <a:srgbClr val="333333"/>
                </a:solidFill>
                <a:latin typeface="Liter"/>
                <a:ea typeface="MiSans"/>
              </a:rPr>
              <a:t>CUCM cluster</a:t>
            </a:r>
            <a:endParaRPr lang="en-US" sz="1300" noProof="1"/>
          </a:p>
          <a:p>
            <a:pPr algn="ctr">
              <a:lnSpc>
                <a:spcPct val="120000"/>
              </a:lnSpc>
            </a:pPr>
            <a:r>
              <a:rPr lang="en-US" sz="950" noProof="1" b="1">
                <a:solidFill>
                  <a:srgbClr val="000000"/>
                </a:solidFill>
                <a:latin typeface="Liter"/>
                <a:ea typeface="MiSans"/>
              </a:rPr>
              <a:t>call control · dial plan · device registry</a:t>
            </a:r>
            <a:endParaRPr lang="en-US" sz="1300" noProof="1"/>
          </a:p>
          <a:p>
            <a:pPr algn="ctr">
              <a:lnSpc>
                <a:spcPct val="120000"/>
              </a:lnSpc>
            </a:pPr>
            <a:r>
              <a:rPr lang="en-US" sz="950" noProof="1" b="1">
                <a:solidFill>
                  <a:srgbClr val="000000"/>
                </a:solidFill>
                <a:latin typeface="Liter"/>
                <a:ea typeface="MiSans"/>
              </a:rPr>
              <a:t>publisher + subscribers</a:t>
            </a:r>
            <a:endParaRPr lang="en-US" sz="1300" noProof="1"/>
          </a:p>
        </p:txBody>
      </p:sp>
      <p:sp>
        <p:nvSpPr>
          <p:cNvPr id="6" name="z-unity"/>
          <p:cNvSpPr/>
          <p:nvPr/>
        </p:nvSpPr>
        <p:spPr>
          <a:xfrm>
            <a:off x="762000" y="1397000"/>
            <a:ext cx="2540000" cy="711200"/>
          </a:xfrm>
          <a:prstGeom prst="rect">
            <a:avLst/>
          </a:prstGeom>
          <a:solidFill>
            <a:srgbClr val="F7F5F0"/>
          </a:solidFill>
          <a:ln w="10160">
            <a:solidFill>
              <a:srgbClr val="333333"/>
            </a:solidFill>
          </a:ln>
        </p:spPr>
      </p:sp>
      <p:sp>
        <p:nvSpPr>
          <p:cNvPr id="7" name="z-unity-t"/>
          <p:cNvSpPr txBox="1"/>
          <p:nvPr/>
        </p:nvSpPr>
        <p:spPr>
          <a:xfrm>
            <a:off x="762000" y="13970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Unity Connection</a:t>
            </a:r>
            <a:endParaRPr lang="en-US" sz="1050" noProof="1"/>
          </a:p>
          <a:p>
            <a:pPr algn="ctr">
              <a:lnSpc>
                <a:spcPct val="120000"/>
              </a:lnSpc>
            </a:pPr>
            <a:r>
              <a:rPr lang="en-US" sz="850" noProof="1">
                <a:solidFill>
                  <a:srgbClr val="000000"/>
                </a:solidFill>
                <a:latin typeface="Liter"/>
                <a:ea typeface="MiSans"/>
              </a:rPr>
              <a:t>voicemail · unified messaging</a:t>
            </a:r>
            <a:endParaRPr lang="en-US" sz="1050" noProof="1"/>
          </a:p>
        </p:txBody>
      </p:sp>
      <p:sp>
        <p:nvSpPr>
          <p:cNvPr id="8" name="z-imp"/>
          <p:cNvSpPr/>
          <p:nvPr/>
        </p:nvSpPr>
        <p:spPr>
          <a:xfrm>
            <a:off x="762000" y="3073400"/>
            <a:ext cx="2540000" cy="711200"/>
          </a:xfrm>
          <a:prstGeom prst="rect">
            <a:avLst/>
          </a:prstGeom>
          <a:solidFill>
            <a:srgbClr val="F7F5F0"/>
          </a:solidFill>
          <a:ln w="10160">
            <a:solidFill>
              <a:srgbClr val="333333"/>
            </a:solidFill>
          </a:ln>
        </p:spPr>
      </p:sp>
      <p:sp>
        <p:nvSpPr>
          <p:cNvPr id="9" name="z-imp-t"/>
          <p:cNvSpPr txBox="1"/>
          <p:nvPr/>
        </p:nvSpPr>
        <p:spPr>
          <a:xfrm>
            <a:off x="762000" y="30734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IM &amp; Presence</a:t>
            </a:r>
            <a:endParaRPr lang="en-US" sz="1050" noProof="1"/>
          </a:p>
          <a:p>
            <a:pPr algn="ctr">
              <a:lnSpc>
                <a:spcPct val="120000"/>
              </a:lnSpc>
            </a:pPr>
            <a:r>
              <a:rPr lang="en-US" sz="850" noProof="1">
                <a:solidFill>
                  <a:srgbClr val="000000"/>
                </a:solidFill>
                <a:latin typeface="Liter"/>
                <a:ea typeface="MiSans"/>
              </a:rPr>
              <a:t>Jabber · presence · compliance</a:t>
            </a:r>
            <a:endParaRPr lang="en-US" sz="1050" noProof="1"/>
          </a:p>
        </p:txBody>
      </p:sp>
      <p:sp>
        <p:nvSpPr>
          <p:cNvPr id="10" name="z-exp"/>
          <p:cNvSpPr/>
          <p:nvPr/>
        </p:nvSpPr>
        <p:spPr>
          <a:xfrm>
            <a:off x="762000" y="4749800"/>
            <a:ext cx="2540000" cy="711200"/>
          </a:xfrm>
          <a:prstGeom prst="rect">
            <a:avLst/>
          </a:prstGeom>
          <a:solidFill>
            <a:srgbClr val="F7F5F0"/>
          </a:solidFill>
          <a:ln w="10160">
            <a:solidFill>
              <a:srgbClr val="333333"/>
            </a:solidFill>
          </a:ln>
        </p:spPr>
      </p:sp>
      <p:sp>
        <p:nvSpPr>
          <p:cNvPr id="11" name="z-exp-t"/>
          <p:cNvSpPr txBox="1"/>
          <p:nvPr/>
        </p:nvSpPr>
        <p:spPr>
          <a:xfrm>
            <a:off x="762000" y="47498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Expressway C / E</a:t>
            </a:r>
            <a:endParaRPr lang="en-US" sz="1050" noProof="1"/>
          </a:p>
          <a:p>
            <a:pPr algn="ctr">
              <a:lnSpc>
                <a:spcPct val="120000"/>
              </a:lnSpc>
            </a:pPr>
            <a:r>
              <a:rPr lang="en-US" sz="850" noProof="1">
                <a:solidFill>
                  <a:srgbClr val="000000"/>
                </a:solidFill>
                <a:latin typeface="Liter"/>
                <a:ea typeface="MiSans"/>
              </a:rPr>
              <a:t>remote access · B2B calling</a:t>
            </a:r>
            <a:endParaRPr lang="en-US" sz="1050" noProof="1"/>
          </a:p>
        </p:txBody>
      </p:sp>
      <p:sp>
        <p:nvSpPr>
          <p:cNvPr id="12" name="z-gw"/>
          <p:cNvSpPr/>
          <p:nvPr/>
        </p:nvSpPr>
        <p:spPr>
          <a:xfrm>
            <a:off x="8890000" y="1397000"/>
            <a:ext cx="2540000" cy="711200"/>
          </a:xfrm>
          <a:prstGeom prst="rect">
            <a:avLst/>
          </a:prstGeom>
          <a:solidFill>
            <a:srgbClr val="F7F5F0"/>
          </a:solidFill>
          <a:ln w="10160">
            <a:solidFill>
              <a:srgbClr val="333333"/>
            </a:solidFill>
          </a:ln>
        </p:spPr>
      </p:sp>
      <p:sp>
        <p:nvSpPr>
          <p:cNvPr id="13" name="z-gw-t"/>
          <p:cNvSpPr txBox="1"/>
          <p:nvPr/>
        </p:nvSpPr>
        <p:spPr>
          <a:xfrm>
            <a:off x="8890000" y="13970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Voice gateways</a:t>
            </a:r>
            <a:endParaRPr lang="en-US" sz="1050" noProof="1"/>
          </a:p>
          <a:p>
            <a:pPr algn="ctr">
              <a:lnSpc>
                <a:spcPct val="120000"/>
              </a:lnSpc>
            </a:pPr>
            <a:r>
              <a:rPr lang="en-US" sz="850" noProof="1">
                <a:solidFill>
                  <a:srgbClr val="000000"/>
                </a:solidFill>
                <a:latin typeface="Liter"/>
                <a:ea typeface="MiSans"/>
              </a:rPr>
              <a:t>ISR / Catalyst · PSTN, DSP, SRST</a:t>
            </a:r>
            <a:endParaRPr lang="en-US" sz="1050" noProof="1"/>
          </a:p>
        </p:txBody>
      </p:sp>
      <p:sp>
        <p:nvSpPr>
          <p:cNvPr id="14" name="z-ep"/>
          <p:cNvSpPr/>
          <p:nvPr/>
        </p:nvSpPr>
        <p:spPr>
          <a:xfrm>
            <a:off x="8890000" y="3073400"/>
            <a:ext cx="2540000" cy="711200"/>
          </a:xfrm>
          <a:prstGeom prst="rect">
            <a:avLst/>
          </a:prstGeom>
          <a:solidFill>
            <a:srgbClr val="F7F5F0"/>
          </a:solidFill>
          <a:ln w="10160">
            <a:solidFill>
              <a:srgbClr val="333333"/>
            </a:solidFill>
          </a:ln>
        </p:spPr>
      </p:sp>
      <p:sp>
        <p:nvSpPr>
          <p:cNvPr id="15" name="z-ep-t"/>
          <p:cNvSpPr txBox="1"/>
          <p:nvPr/>
        </p:nvSpPr>
        <p:spPr>
          <a:xfrm>
            <a:off x="8890000" y="30734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Endpoints</a:t>
            </a:r>
            <a:endParaRPr lang="en-US" sz="1050" noProof="1"/>
          </a:p>
          <a:p>
            <a:pPr algn="ctr">
              <a:lnSpc>
                <a:spcPct val="120000"/>
              </a:lnSpc>
            </a:pPr>
            <a:r>
              <a:rPr lang="en-US" sz="850" noProof="1">
                <a:solidFill>
                  <a:srgbClr val="000000"/>
                </a:solidFill>
                <a:latin typeface="Liter"/>
                <a:ea typeface="MiSans"/>
              </a:rPr>
              <a:t>IP phones 8800 · Webex devices · Jabber</a:t>
            </a:r>
            <a:endParaRPr lang="en-US" sz="1050" noProof="1"/>
          </a:p>
        </p:txBody>
      </p:sp>
      <p:sp>
        <p:nvSpPr>
          <p:cNvPr id="16" name="z-cc"/>
          <p:cNvSpPr/>
          <p:nvPr/>
        </p:nvSpPr>
        <p:spPr>
          <a:xfrm>
            <a:off x="8890000" y="4749800"/>
            <a:ext cx="2540000" cy="711200"/>
          </a:xfrm>
          <a:prstGeom prst="rect">
            <a:avLst/>
          </a:prstGeom>
          <a:solidFill>
            <a:srgbClr val="F7F5F0"/>
          </a:solidFill>
          <a:ln w="10160">
            <a:solidFill>
              <a:srgbClr val="333333"/>
            </a:solidFill>
          </a:ln>
        </p:spPr>
      </p:sp>
      <p:sp>
        <p:nvSpPr>
          <p:cNvPr id="17" name="z-cc-t"/>
          <p:cNvSpPr txBox="1"/>
          <p:nvPr/>
        </p:nvSpPr>
        <p:spPr>
          <a:xfrm>
            <a:off x="8890000" y="4749800"/>
            <a:ext cx="2540000" cy="711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Contact center</a:t>
            </a:r>
            <a:endParaRPr lang="en-US" sz="1050" noProof="1"/>
          </a:p>
          <a:p>
            <a:pPr algn="ctr">
              <a:lnSpc>
                <a:spcPct val="120000"/>
              </a:lnSpc>
            </a:pPr>
            <a:r>
              <a:rPr lang="en-US" sz="850" noProof="1">
                <a:solidFill>
                  <a:srgbClr val="000000"/>
                </a:solidFill>
                <a:latin typeface="Liter"/>
                <a:ea typeface="MiSans"/>
              </a:rPr>
              <a:t>UCCX · UCCE · Webex CC (Sec. 04)</a:t>
            </a:r>
            <a:endParaRPr lang="en-US" sz="1050" noProof="1"/>
          </a:p>
        </p:txBody>
      </p:sp>
      <p:sp>
        <p:nvSpPr>
          <p:cNvPr id="18" name="z-cloud"/>
          <p:cNvSpPr/>
          <p:nvPr/>
        </p:nvSpPr>
        <p:spPr>
          <a:xfrm>
            <a:off x="4521200" y="5080000"/>
            <a:ext cx="3149600" cy="787400"/>
          </a:xfrm>
          <a:prstGeom prst="rect">
            <a:avLst/>
          </a:prstGeom>
          <a:solidFill>
            <a:srgbClr val="D2C7EB"/>
          </a:solidFill>
          <a:ln w="10160">
            <a:solidFill>
              <a:srgbClr val="333333"/>
            </a:solidFill>
          </a:ln>
        </p:spPr>
      </p:sp>
      <p:sp>
        <p:nvSpPr>
          <p:cNvPr id="19" name="z-cloud-t"/>
          <p:cNvSpPr txBox="1"/>
          <p:nvPr/>
        </p:nvSpPr>
        <p:spPr>
          <a:xfrm>
            <a:off x="4521200" y="5080000"/>
            <a:ext cx="3149600" cy="7874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Webex cloud</a:t>
            </a:r>
            <a:endParaRPr lang="en-US" sz="1050" noProof="1"/>
          </a:p>
          <a:p>
            <a:pPr algn="ctr">
              <a:lnSpc>
                <a:spcPct val="120000"/>
              </a:lnSpc>
            </a:pPr>
            <a:r>
              <a:rPr lang="en-US" sz="850" noProof="1">
                <a:solidFill>
                  <a:srgbClr val="000000"/>
                </a:solidFill>
                <a:latin typeface="Liter"/>
                <a:ea typeface="MiSans"/>
              </a:rPr>
              <a:t>Webex Calling · Webex CC · migration target (Sec. 05)</a:t>
            </a:r>
            <a:endParaRPr lang="en-US" sz="1050" noProof="1"/>
          </a:p>
        </p:txBody>
      </p:sp>
      <p:sp>
        <p:nvSpPr>
          <p:cNvPr id="20" name="ln1"/>
          <p:cNvSpPr/>
          <p:nvPr>
            <p:extLst>
              <p:ext uri="{F5677B7D-0D2A-4D9B-9A5C-6D8D7D0E5A5D}">
                <pptd:line encoding="base64url">eyJ2aWV3Qm94IjpbMTAwLDkwXSwicG9pbnRzIjoiMCwwIDEwMCw5MCJ9</pptd:line>
              </p:ext>
            </p:extLst>
          </p:nvPr>
        </p:nvSpPr>
        <p:spPr>
          <a:xfrm>
            <a:off x="3302000" y="1752600"/>
            <a:ext cx="1270000" cy="1143000"/>
          </a:xfrm>
          <a:custGeom>
            <a:avLst/>
            <a:gdLst/>
            <a:ahLst/>
            <a:cxnLst/>
            <a:rect l="l" t="t" r="r" b="b"/>
            <a:pathLst>
              <a:path w="100" h="90">
                <a:moveTo>
                  <a:pt x="0" y="0"/>
                </a:moveTo>
                <a:lnTo>
                  <a:pt x="100" y="90"/>
                </a:lnTo>
              </a:path>
            </a:pathLst>
          </a:custGeom>
          <a:noFill/>
          <a:ln w="12700" cap="rnd">
            <a:solidFill>
              <a:srgbClr val="A9AAAC"/>
            </a:solidFill>
            <a:round/>
            <a:tailEnd type="arrow"/>
          </a:ln>
        </p:spPr>
      </p:sp>
      <p:sp>
        <p:nvSpPr>
          <p:cNvPr id="21" name="ln1t"/>
          <p:cNvSpPr txBox="1"/>
          <p:nvPr/>
        </p:nvSpPr>
        <p:spPr>
          <a:xfrm>
            <a:off x="3276600" y="2006600"/>
            <a:ext cx="939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SCCP / SIP</a:t>
            </a:r>
            <a:endParaRPr lang="en-US" sz="800" noProof="1"/>
          </a:p>
        </p:txBody>
      </p:sp>
      <p:sp>
        <p:nvSpPr>
          <p:cNvPr id="22" name="ln2"/>
          <p:cNvSpPr/>
          <p:nvPr>
            <p:extLst>
              <p:ext uri="{F5677B7D-0D2A-4D9B-9A5C-6D8D7D0E5A5D}">
                <pptd:line encoding="base64url">eyJ2aWV3Qm94IjpbNzAsMV0sInBvaW50cyI6IjAsMCA3MCwwIn0</pptd:line>
              </p:ext>
            </p:extLst>
          </p:nvPr>
        </p:nvSpPr>
        <p:spPr>
          <a:xfrm>
            <a:off x="3302000" y="3429000"/>
            <a:ext cx="889000" cy="12700"/>
          </a:xfrm>
          <a:custGeom>
            <a:avLst/>
            <a:gdLst/>
            <a:ahLst/>
            <a:cxnLst/>
            <a:rect l="l" t="t" r="r" b="b"/>
            <a:pathLst>
              <a:path w="70" h="1">
                <a:moveTo>
                  <a:pt x="0" y="0"/>
                </a:moveTo>
                <a:lnTo>
                  <a:pt x="70" y="0"/>
                </a:lnTo>
              </a:path>
            </a:pathLst>
          </a:custGeom>
          <a:noFill/>
          <a:ln w="12700" cap="rnd">
            <a:solidFill>
              <a:srgbClr val="A9AAAC"/>
            </a:solidFill>
            <a:round/>
            <a:tailEnd type="arrow"/>
          </a:ln>
        </p:spPr>
      </p:sp>
      <p:sp>
        <p:nvSpPr>
          <p:cNvPr id="23" name="ln2t"/>
          <p:cNvSpPr txBox="1"/>
          <p:nvPr/>
        </p:nvSpPr>
        <p:spPr>
          <a:xfrm>
            <a:off x="3327400" y="3200400"/>
            <a:ext cx="8636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XMPP / SOAP</a:t>
            </a:r>
            <a:endParaRPr lang="en-US" sz="800" noProof="1"/>
          </a:p>
        </p:txBody>
      </p:sp>
      <p:sp>
        <p:nvSpPr>
          <p:cNvPr id="24" name="ln3"/>
          <p:cNvSpPr/>
          <p:nvPr>
            <p:extLst>
              <p:ext uri="{F5677B7D-0D2A-4D9B-9A5C-6D8D7D0E5A5D}">
                <pptd:line encoding="base64url">eyJ2aWV3Qm94IjpbMTAwLDMwXSwicG9pbnRzIjoiMCwzMCAxMDAsMCJ9</pptd:line>
              </p:ext>
            </p:extLst>
          </p:nvPr>
        </p:nvSpPr>
        <p:spPr>
          <a:xfrm>
            <a:off x="3302000" y="4826000"/>
            <a:ext cx="1270000" cy="381000"/>
          </a:xfrm>
          <a:custGeom>
            <a:avLst/>
            <a:gdLst/>
            <a:ahLst/>
            <a:cxnLst/>
            <a:rect l="l" t="t" r="r" b="b"/>
            <a:pathLst>
              <a:path w="100" h="30">
                <a:moveTo>
                  <a:pt x="0" y="30"/>
                </a:moveTo>
                <a:lnTo>
                  <a:pt x="100" y="0"/>
                </a:lnTo>
              </a:path>
            </a:pathLst>
          </a:custGeom>
          <a:noFill/>
          <a:ln w="12700" cap="rnd">
            <a:solidFill>
              <a:srgbClr val="A9AAAC"/>
            </a:solidFill>
            <a:round/>
            <a:tailEnd type="arrow"/>
          </a:ln>
        </p:spPr>
      </p:sp>
      <p:sp>
        <p:nvSpPr>
          <p:cNvPr id="25" name="ln3t"/>
          <p:cNvSpPr txBox="1"/>
          <p:nvPr/>
        </p:nvSpPr>
        <p:spPr>
          <a:xfrm>
            <a:off x="3327400" y="4978400"/>
            <a:ext cx="8636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TLS</a:t>
            </a:r>
            <a:endParaRPr lang="en-US" sz="800" noProof="1"/>
          </a:p>
        </p:txBody>
      </p:sp>
      <p:sp>
        <p:nvSpPr>
          <p:cNvPr id="26" name="ln4"/>
          <p:cNvSpPr/>
          <p:nvPr>
            <p:extLst>
              <p:ext uri="{F5677B7D-0D2A-4D9B-9A5C-6D8D7D0E5A5D}">
                <pptd:line encoding="base64url">eyJ2aWV3Qm94IjpbNzAsNjBdLCJwb2ludHMiOiIwLDYwIDcwLDAifQ</pptd:line>
              </p:ext>
            </p:extLst>
          </p:nvPr>
        </p:nvSpPr>
        <p:spPr>
          <a:xfrm>
            <a:off x="8001000" y="2108200"/>
            <a:ext cx="889000" cy="762000"/>
          </a:xfrm>
          <a:custGeom>
            <a:avLst/>
            <a:gdLst/>
            <a:ahLst/>
            <a:cxnLst/>
            <a:rect l="l" t="t" r="r" b="b"/>
            <a:pathLst>
              <a:path w="70" h="60">
                <a:moveTo>
                  <a:pt x="0" y="60"/>
                </a:moveTo>
                <a:lnTo>
                  <a:pt x="70" y="0"/>
                </a:lnTo>
              </a:path>
            </a:pathLst>
          </a:custGeom>
          <a:noFill/>
          <a:ln w="17780" cap="rnd">
            <a:solidFill>
              <a:srgbClr val="E69138"/>
            </a:solidFill>
            <a:round/>
            <a:headEnd type="arrow"/>
            <a:tailEnd type="arrow"/>
          </a:ln>
        </p:spPr>
      </p:sp>
      <p:sp>
        <p:nvSpPr>
          <p:cNvPr id="27" name="ln4t"/>
          <p:cNvSpPr txBox="1"/>
          <p:nvPr/>
        </p:nvSpPr>
        <p:spPr>
          <a:xfrm>
            <a:off x="8128000" y="22606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MGCP / SIP</a:t>
            </a:r>
            <a:endParaRPr lang="en-US" sz="800" noProof="1"/>
          </a:p>
        </p:txBody>
      </p:sp>
      <p:sp>
        <p:nvSpPr>
          <p:cNvPr id="28" name="ln5"/>
          <p:cNvSpPr/>
          <p:nvPr>
            <p:extLst>
              <p:ext uri="{F5677B7D-0D2A-4D9B-9A5C-6D8D7D0E5A5D}">
                <pptd:line encoding="base64url">eyJ2aWV3Qm94IjpbNzAsMV0sInBvaW50cyI6IjAsMCA3MCwwIn0</pptd:line>
              </p:ext>
            </p:extLst>
          </p:nvPr>
        </p:nvSpPr>
        <p:spPr>
          <a:xfrm>
            <a:off x="8001000" y="3429000"/>
            <a:ext cx="889000" cy="12700"/>
          </a:xfrm>
          <a:custGeom>
            <a:avLst/>
            <a:gdLst/>
            <a:ahLst/>
            <a:cxnLst/>
            <a:rect l="l" t="t" r="r" b="b"/>
            <a:pathLst>
              <a:path w="70" h="1">
                <a:moveTo>
                  <a:pt x="0" y="0"/>
                </a:moveTo>
                <a:lnTo>
                  <a:pt x="70" y="0"/>
                </a:lnTo>
              </a:path>
            </a:pathLst>
          </a:custGeom>
          <a:noFill/>
          <a:ln w="17780" cap="rnd">
            <a:solidFill>
              <a:srgbClr val="E69138"/>
            </a:solidFill>
            <a:round/>
            <a:headEnd type="arrow"/>
            <a:tailEnd type="arrow"/>
          </a:ln>
        </p:spPr>
      </p:sp>
      <p:sp>
        <p:nvSpPr>
          <p:cNvPr id="29" name="ln5t"/>
          <p:cNvSpPr txBox="1"/>
          <p:nvPr/>
        </p:nvSpPr>
        <p:spPr>
          <a:xfrm>
            <a:off x="8077200" y="32004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 SCCP</a:t>
            </a:r>
            <a:endParaRPr lang="en-US" sz="800" noProof="1"/>
          </a:p>
        </p:txBody>
      </p:sp>
      <p:sp>
        <p:nvSpPr>
          <p:cNvPr id="30" name="ln6"/>
          <p:cNvSpPr/>
          <p:nvPr>
            <p:extLst>
              <p:ext uri="{F5677B7D-0D2A-4D9B-9A5C-6D8D7D0E5A5D}">
                <pptd:line encoding="base64url">eyJ2aWV3Qm94IjpbNzAsNzRdLCJwb2ludHMiOiIwLDAgNzAsNzQifQ</pptd:line>
              </p:ext>
            </p:extLst>
          </p:nvPr>
        </p:nvSpPr>
        <p:spPr>
          <a:xfrm>
            <a:off x="8001000" y="4191000"/>
            <a:ext cx="889000" cy="939800"/>
          </a:xfrm>
          <a:custGeom>
            <a:avLst/>
            <a:gdLst/>
            <a:ahLst/>
            <a:cxnLst/>
            <a:rect l="l" t="t" r="r" b="b"/>
            <a:pathLst>
              <a:path w="70" h="74">
                <a:moveTo>
                  <a:pt x="0" y="0"/>
                </a:moveTo>
                <a:lnTo>
                  <a:pt x="70" y="74"/>
                </a:lnTo>
              </a:path>
            </a:pathLst>
          </a:custGeom>
          <a:noFill/>
          <a:ln w="12700" cap="rnd">
            <a:solidFill>
              <a:srgbClr val="A9AAAC"/>
            </a:solidFill>
            <a:round/>
            <a:headEnd type="arrow"/>
            <a:tailEnd type="arrow"/>
          </a:ln>
        </p:spPr>
      </p:sp>
      <p:sp>
        <p:nvSpPr>
          <p:cNvPr id="31" name="ln6t"/>
          <p:cNvSpPr txBox="1"/>
          <p:nvPr/>
        </p:nvSpPr>
        <p:spPr>
          <a:xfrm>
            <a:off x="8128000" y="4368800"/>
            <a:ext cx="8128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trunks</a:t>
            </a:r>
            <a:endParaRPr lang="en-US" sz="800" noProof="1"/>
          </a:p>
        </p:txBody>
      </p:sp>
      <p:sp>
        <p:nvSpPr>
          <p:cNvPr id="32" name="ln7"/>
          <p:cNvSpPr/>
          <p:nvPr>
            <p:extLst>
              <p:ext uri="{F5677B7D-0D2A-4D9B-9A5C-6D8D7D0E5A5D}">
                <pptd:line encoding="base64url">eyJ2aWV3Qm94IjpbMSw1Nl0sInBvaW50cyI6IjAsMCAwLDU2In0</pptd:line>
              </p:ext>
            </p:extLst>
          </p:nvPr>
        </p:nvSpPr>
        <p:spPr>
          <a:xfrm>
            <a:off x="6096000" y="4368800"/>
            <a:ext cx="12700" cy="711200"/>
          </a:xfrm>
          <a:custGeom>
            <a:avLst/>
            <a:gdLst/>
            <a:ahLst/>
            <a:cxnLst/>
            <a:rect l="l" t="t" r="r" b="b"/>
            <a:pathLst>
              <a:path w="1" h="56">
                <a:moveTo>
                  <a:pt x="0" y="0"/>
                </a:moveTo>
                <a:lnTo>
                  <a:pt x="0" y="56"/>
                </a:lnTo>
              </a:path>
            </a:pathLst>
          </a:custGeom>
          <a:noFill/>
          <a:ln w="17780" cap="rnd">
            <a:solidFill>
              <a:srgbClr val="E69138"/>
            </a:solidFill>
            <a:prstDash val="dash"/>
            <a:round/>
            <a:headEnd type="arrow"/>
            <a:tailEnd type="arrow"/>
          </a:ln>
        </p:spPr>
      </p:sp>
      <p:sp>
        <p:nvSpPr>
          <p:cNvPr id="33" name="ln7t"/>
          <p:cNvSpPr txBox="1"/>
          <p:nvPr/>
        </p:nvSpPr>
        <p:spPr>
          <a:xfrm>
            <a:off x="6197600" y="4572000"/>
            <a:ext cx="16510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hybrid / migration link</a:t>
            </a:r>
            <a:endParaRPr lang="en-US" sz="800" noProof="1"/>
          </a:p>
        </p:txBody>
      </p:sp>
      <p:sp>
        <p:nvSpPr>
          <p:cNvPr id="34" name="legend"/>
          <p:cNvSpPr txBox="1"/>
          <p:nvPr/>
        </p:nvSpPr>
        <p:spPr>
          <a:xfrm>
            <a:off x="762000" y="5943600"/>
            <a:ext cx="10668000" cy="203200"/>
          </a:xfrm>
          <a:prstGeom prst="rect">
            <a:avLst/>
          </a:prstGeom>
          <a:noFill/>
          <a:ln>
            <a:noFill/>
          </a:ln>
        </p:spPr>
        <p:txBody>
          <a:bodyPr lIns="0" rIns="0" tIns="0" bIns="0" wrap="none" rtlCol="0"/>
          <a:lstStyle/>
          <a:p>
            <a:pPr>
              <a:lnSpc>
                <a:spcPct val="135000"/>
              </a:lnSpc>
            </a:pPr>
            <a:r>
              <a:rPr lang="en-US" sz="1000" noProof="1">
                <a:solidFill>
                  <a:srgbClr val="000000"/>
                </a:solidFill>
                <a:latin typeface="Liter"/>
                <a:ea typeface="MiSans"/>
              </a:rPr>
              <a:t>—</a:t>
            </a:r>
            <a:r>
              <a:rPr lang="en-US" sz="1000" noProof="1">
                <a:solidFill>
                  <a:srgbClr val="5A5A5A"/>
                </a:solidFill>
                <a:latin typeface="Liter"/>
                <a:ea typeface="MiSans"/>
              </a:rPr>
              <a:t> orange = call-control / media paths (critical)       ·       </a:t>
            </a:r>
            <a:r>
              <a:rPr lang="en-US" sz="1000" noProof="1">
                <a:solidFill>
                  <a:srgbClr val="000000"/>
                </a:solidFill>
                <a:latin typeface="Liter"/>
                <a:ea typeface="MiSans"/>
              </a:rPr>
              <a:t>—</a:t>
            </a:r>
            <a:r>
              <a:rPr lang="en-US" sz="1000" noProof="1">
                <a:solidFill>
                  <a:srgbClr val="5A5A5A"/>
                </a:solidFill>
                <a:latin typeface="Liter"/>
                <a:ea typeface="MiSans"/>
              </a:rPr>
              <a:t> gray = service integration paths       ·       dashed = cloud migration link</a:t>
            </a:r>
            <a:endParaRPr lang="en-US" sz="1000" noProof="1"/>
          </a:p>
        </p:txBody>
      </p:sp>
      <p:sp>
        <p:nvSpPr>
          <p:cNvPr id="3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System Solution Reference Network Design (SRND) architecture overview, cisco.com</a:t>
            </a:r>
            <a:endParaRPr lang="en-US" sz="850" noProof="1"/>
          </a:p>
        </p:txBody>
      </p:sp>
      <p:sp>
        <p:nvSpPr>
          <p:cNvPr id="37" name="cml-footer-bar"/>
          <p:cNvSpPr/>
          <p:nvPr/>
        </p:nvSpPr>
        <p:spPr>
          <a:xfrm>
            <a:off x="0" y="6670000"/>
            <a:ext cx="12192000" cy="640000"/>
          </a:xfrm>
          <a:prstGeom prst="rect">
            <a:avLst/>
          </a:prstGeom>
          <a:solidFill>
            <a:srgbClr val="12161C"/>
          </a:solidFill>
          <a:ln>
            <a:noFill/>
          </a:ln>
        </p:spPr>
        <p:txBody>
          <a:bodyPr/>
          <a:lstStyle/>
          <a:p/>
        </p:txBody>
      </p:sp>
      <p:sp>
        <p:nvSpPr>
          <p:cNvPr id="38" name="cml-footer-rule"/>
          <p:cNvSpPr/>
          <p:nvPr/>
        </p:nvSpPr>
        <p:spPr>
          <a:xfrm>
            <a:off x="0" y="6670000"/>
            <a:ext cx="12192000" cy="19050"/>
          </a:xfrm>
          <a:prstGeom prst="rect">
            <a:avLst/>
          </a:prstGeom>
          <a:solidFill>
            <a:srgbClr val="2DD4BF"/>
          </a:solidFill>
          <a:ln>
            <a:noFill/>
          </a:ln>
        </p:spPr>
        <p:txBody>
          <a:bodyPr/>
          <a:lstStyle/>
          <a:p/>
        </p:txBody>
      </p:sp>
      <p:sp>
        <p:nvSpPr>
          <p:cNvPr id="39"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40"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41"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42"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43"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44"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5"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6"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7"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8"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9"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50"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51"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52"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02</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Cisco Unified Communications Core</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CUCM cluster design, the dial-plan object hierarchy, gateway and trunk configuration,</a:t>
            </a:r>
            <a:endParaRPr lang="en-US" sz="1300" noProof="1"/>
          </a:p>
          <a:p>
            <a:pPr>
              <a:lnSpc>
                <a:spcPct val="150000"/>
              </a:lnSpc>
            </a:pPr>
            <a:r>
              <a:rPr lang="en-US" sz="1300" noProof="1">
                <a:solidFill>
                  <a:srgbClr val="F2DADA"/>
                </a:solidFill>
                <a:latin typeface="Liter"/>
                <a:ea typeface="MiSans"/>
              </a:rPr>
              <a:t>and the survivability features that keep sites on the air when the WAN fails.</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02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One publisher holds the database; subscribers do the call work in 1:1 pairs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cluster design separates configuration management from call processing, so a failed node never takes a whole site down.</a:t>
            </a:r>
            <a:endParaRPr lang="en-US" sz="1100" noProof="1"/>
          </a:p>
        </p:txBody>
      </p:sp>
      <p:sp>
        <p:nvSpPr>
          <p:cNvPr id="4" name="left-h"/>
          <p:cNvSpPr txBox="1"/>
          <p:nvPr/>
        </p:nvSpPr>
        <p:spPr>
          <a:xfrm>
            <a:off x="609600" y="1143000"/>
            <a:ext cx="457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Roles inside a CUCM cluster</a:t>
            </a:r>
            <a:endParaRPr lang="en-US" sz="1100" noProof="1"/>
          </a:p>
        </p:txBody>
      </p:sp>
      <p:sp>
        <p:nvSpPr>
          <p:cNvPr id="5" name="role1"/>
          <p:cNvSpPr txBox="1"/>
          <p:nvPr/>
        </p:nvSpPr>
        <p:spPr>
          <a:xfrm>
            <a:off x="609600" y="1447800"/>
            <a:ext cx="4699000" cy="1117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Publisher</a:t>
            </a:r>
            <a:r>
              <a:rPr lang="en-US" sz="1250" noProof="1">
                <a:solidFill>
                  <a:srgbClr val="000000"/>
                </a:solidFill>
                <a:latin typeface="Liter"/>
                <a:ea typeface="MiSans"/>
              </a:rPr>
              <a:t> — single read/write master of the configuration database (Informix); all admin changes land here and replicate to subscribers.</a:t>
            </a:r>
            <a:endParaRPr lang="en-US" sz="1250" noProof="1"/>
          </a:p>
          <a:p>
            <a:pPr>
              <a:lnSpc>
                <a:spcPct val="145000"/>
              </a:lnSpc>
              <a:spcBef>
                <a:spcPts val="800"/>
              </a:spcBef>
            </a:pPr>
            <a:r>
              <a:rPr lang="en-US" sz="1250" noProof="1" b="1">
                <a:solidFill>
                  <a:srgbClr val="000000"/>
                </a:solidFill>
                <a:latin typeface="Liter"/>
                <a:ea typeface="MiSans"/>
              </a:rPr>
              <a:t>Subscribers</a:t>
            </a:r>
            <a:r>
              <a:rPr lang="en-US" sz="1250" noProof="1">
                <a:solidFill>
                  <a:srgbClr val="000000"/>
                </a:solidFill>
                <a:latin typeface="Liter"/>
                <a:ea typeface="MiSans"/>
              </a:rPr>
              <a:t> — run the call-processing service; phones and gateways register to them; keep read-only database copies.</a:t>
            </a:r>
            <a:endParaRPr lang="en-US" sz="1250" noProof="1"/>
          </a:p>
        </p:txBody>
      </p:sp>
      <p:sp>
        <p:nvSpPr>
          <p:cNvPr id="6" name="role2"/>
          <p:cNvSpPr txBox="1"/>
          <p:nvPr/>
        </p:nvSpPr>
        <p:spPr>
          <a:xfrm>
            <a:off x="609600" y="2717800"/>
            <a:ext cx="469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Redundancy groups</a:t>
            </a:r>
            <a:r>
              <a:rPr lang="en-US" sz="1250" noProof="1">
                <a:solidFill>
                  <a:srgbClr val="000000"/>
                </a:solidFill>
                <a:latin typeface="Liter"/>
                <a:ea typeface="MiSans"/>
              </a:rPr>
              <a:t> — devices follow a </a:t>
            </a:r>
            <a:r>
              <a:rPr lang="en-US" sz="1250" noProof="1" b="1">
                <a:solidFill>
                  <a:srgbClr val="000000"/>
                </a:solidFill>
                <a:latin typeface="Liter"/>
                <a:ea typeface="MiSans"/>
              </a:rPr>
              <a:t>CUCM group</a:t>
            </a:r>
            <a:r>
              <a:rPr lang="en-US" sz="1250" noProof="1">
                <a:solidFill>
                  <a:srgbClr val="000000"/>
                </a:solidFill>
                <a:latin typeface="Liter"/>
                <a:ea typeface="MiSans"/>
              </a:rPr>
              <a:t> of up to three servers (primary / secondary / tertiary) and fail over automatically.</a:t>
            </a:r>
            <a:endParaRPr lang="en-US" sz="1250" noProof="1"/>
          </a:p>
          <a:p>
            <a:pPr>
              <a:lnSpc>
                <a:spcPct val="145000"/>
              </a:lnSpc>
              <a:spcBef>
                <a:spcPts val="800"/>
              </a:spcBef>
            </a:pPr>
            <a:r>
              <a:rPr lang="en-US" sz="1250" noProof="1" b="1">
                <a:solidFill>
                  <a:srgbClr val="000000"/>
                </a:solidFill>
                <a:latin typeface="Liter"/>
                <a:ea typeface="MiSans"/>
              </a:rPr>
              <a:t>1:1 pairing</a:t>
            </a:r>
            <a:r>
              <a:rPr lang="en-US" sz="1250" noProof="1">
                <a:solidFill>
                  <a:srgbClr val="000000"/>
                </a:solidFill>
                <a:latin typeface="Liter"/>
                <a:ea typeface="MiSans"/>
              </a:rPr>
              <a:t> — SRND practice: each active subscriber has an equal-capacity standby, so a node loss costs no calls.</a:t>
            </a:r>
            <a:endParaRPr lang="en-US" sz="1250" noProof="1"/>
          </a:p>
        </p:txBody>
      </p:sp>
      <p:sp>
        <p:nvSpPr>
          <p:cNvPr id="7" name="role3"/>
          <p:cNvSpPr txBox="1"/>
          <p:nvPr/>
        </p:nvSpPr>
        <p:spPr>
          <a:xfrm>
            <a:off x="609600" y="4089400"/>
            <a:ext cx="4699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What this means operationally</a:t>
            </a:r>
            <a:endParaRPr lang="en-US" sz="1250" noProof="1"/>
          </a:p>
          <a:p>
            <a:pPr>
              <a:lnSpc>
                <a:spcPct val="145000"/>
              </a:lnSpc>
              <a:spcBef>
                <a:spcPts val="600"/>
              </a:spcBef>
            </a:pPr>
            <a:r>
              <a:rPr lang="en-US" sz="1250" noProof="1">
                <a:solidFill>
                  <a:srgbClr val="000000"/>
                </a:solidFill>
                <a:latin typeface="Liter"/>
                <a:ea typeface="MiSans"/>
              </a:rPr>
              <a:t>· Upgrades roll server-by-server; active pairs keep service up.</a:t>
            </a:r>
            <a:endParaRPr lang="en-US" sz="1250" noProof="1"/>
          </a:p>
          <a:p>
            <a:pPr>
              <a:lnSpc>
                <a:spcPct val="145000"/>
              </a:lnSpc>
              <a:spcBef>
                <a:spcPts val="400"/>
              </a:spcBef>
            </a:pPr>
            <a:r>
              <a:rPr lang="en-US" sz="1250" noProof="1">
                <a:solidFill>
                  <a:srgbClr val="000000"/>
                </a:solidFill>
                <a:latin typeface="Liter"/>
                <a:ea typeface="MiSans"/>
              </a:rPr>
              <a:t>· Configuration is changed once on the publisher, never per node.</a:t>
            </a:r>
            <a:endParaRPr lang="en-US" sz="1250" noProof="1"/>
          </a:p>
          <a:p>
            <a:pPr>
              <a:lnSpc>
                <a:spcPct val="145000"/>
              </a:lnSpc>
              <a:spcBef>
                <a:spcPts val="400"/>
              </a:spcBef>
            </a:pPr>
            <a:r>
              <a:rPr lang="en-US" sz="1250" noProof="1">
                <a:solidFill>
                  <a:srgbClr val="000000"/>
                </a:solidFill>
                <a:latin typeface="Liter"/>
                <a:ea typeface="MiSans"/>
              </a:rPr>
              <a:t>· Capacity planning counts registered devices per subscriber, not per cluster.</a:t>
            </a:r>
            <a:endParaRPr lang="en-US" sz="1250" noProof="1"/>
          </a:p>
        </p:txBody>
      </p:sp>
      <p:sp>
        <p:nvSpPr>
          <p:cNvPr id="8" name="dia-h"/>
          <p:cNvSpPr txBox="1"/>
          <p:nvPr/>
        </p:nvSpPr>
        <p:spPr>
          <a:xfrm>
            <a:off x="5867400" y="1143000"/>
            <a:ext cx="5715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Deployment view: publisher + two 1:1 subscriber pairs</a:t>
            </a:r>
            <a:endParaRPr lang="en-US" sz="1100" noProof="1"/>
          </a:p>
        </p:txBody>
      </p:sp>
      <p:sp>
        <p:nvSpPr>
          <p:cNvPr id="9" name="pub"/>
          <p:cNvSpPr/>
          <p:nvPr/>
        </p:nvSpPr>
        <p:spPr>
          <a:xfrm>
            <a:off x="7493000" y="1473200"/>
            <a:ext cx="2413000" cy="584200"/>
          </a:xfrm>
          <a:prstGeom prst="rect">
            <a:avLst/>
          </a:prstGeom>
          <a:solidFill>
            <a:srgbClr val="FFFFFF"/>
          </a:solidFill>
          <a:ln w="19050">
            <a:solidFill>
              <a:srgbClr val="000000"/>
            </a:solidFill>
          </a:ln>
        </p:spPr>
      </p:sp>
      <p:sp>
        <p:nvSpPr>
          <p:cNvPr id="10" name="pub-t"/>
          <p:cNvSpPr txBox="1"/>
          <p:nvPr/>
        </p:nvSpPr>
        <p:spPr>
          <a:xfrm>
            <a:off x="7493000" y="1473200"/>
            <a:ext cx="2413000" cy="584200"/>
          </a:xfrm>
          <a:prstGeom prst="rect">
            <a:avLst/>
          </a:prstGeom>
          <a:noFill/>
          <a:ln>
            <a:noFill/>
          </a:ln>
        </p:spPr>
        <p:txBody>
          <a:bodyPr lIns="0" rIns="0" tIns="0" bIns="0" wrap="square" rtlCol="0" anchor="ctr"/>
          <a:lstStyle/>
          <a:p>
            <a:pPr algn="ctr">
              <a:lnSpc>
                <a:spcPct val="120000"/>
              </a:lnSpc>
            </a:pPr>
            <a:r>
              <a:rPr lang="en-US" sz="1050" noProof="1" b="1">
                <a:solidFill>
                  <a:srgbClr val="333333"/>
                </a:solidFill>
                <a:latin typeface="Liter"/>
                <a:ea typeface="MiSans"/>
              </a:rPr>
              <a:t>Publisher</a:t>
            </a:r>
            <a:endParaRPr lang="en-US" sz="1050" noProof="1"/>
          </a:p>
          <a:p>
            <a:pPr algn="ctr">
              <a:lnSpc>
                <a:spcPct val="120000"/>
              </a:lnSpc>
            </a:pPr>
            <a:r>
              <a:rPr lang="en-US" sz="800" noProof="1">
                <a:solidFill>
                  <a:srgbClr val="000000"/>
                </a:solidFill>
                <a:latin typeface="Liter"/>
                <a:ea typeface="MiSans"/>
              </a:rPr>
              <a:t>config database · TFTP · admin</a:t>
            </a:r>
            <a:endParaRPr lang="en-US" sz="1050" noProof="1"/>
          </a:p>
        </p:txBody>
      </p:sp>
      <p:sp>
        <p:nvSpPr>
          <p:cNvPr id="11" name="s1a"/>
          <p:cNvSpPr/>
          <p:nvPr/>
        </p:nvSpPr>
        <p:spPr>
          <a:xfrm>
            <a:off x="5867400" y="2717800"/>
            <a:ext cx="1651000" cy="660400"/>
          </a:xfrm>
          <a:prstGeom prst="rect">
            <a:avLst/>
          </a:prstGeom>
          <a:solidFill>
            <a:srgbClr val="F7F5F0"/>
          </a:solidFill>
          <a:ln w="11430">
            <a:solidFill>
              <a:srgbClr val="333333"/>
            </a:solidFill>
          </a:ln>
        </p:spPr>
      </p:sp>
      <p:sp>
        <p:nvSpPr>
          <p:cNvPr id="12" name="s1a-t"/>
          <p:cNvSpPr txBox="1"/>
          <p:nvPr/>
        </p:nvSpPr>
        <p:spPr>
          <a:xfrm>
            <a:off x="5867400" y="27178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1 · active</a:t>
            </a:r>
            <a:endParaRPr lang="en-US" sz="950" noProof="1"/>
          </a:p>
          <a:p>
            <a:pPr algn="ctr">
              <a:lnSpc>
                <a:spcPct val="120000"/>
              </a:lnSpc>
            </a:pPr>
            <a:r>
              <a:rPr lang="en-US" sz="800" noProof="1">
                <a:solidFill>
                  <a:srgbClr val="000000"/>
                </a:solidFill>
                <a:latin typeface="Liter"/>
                <a:ea typeface="MiSans"/>
              </a:rPr>
              <a:t>call processing</a:t>
            </a:r>
            <a:endParaRPr lang="en-US" sz="950" noProof="1"/>
          </a:p>
        </p:txBody>
      </p:sp>
      <p:sp>
        <p:nvSpPr>
          <p:cNvPr id="13" name="s1b"/>
          <p:cNvSpPr/>
          <p:nvPr/>
        </p:nvSpPr>
        <p:spPr>
          <a:xfrm>
            <a:off x="5867400" y="3581400"/>
            <a:ext cx="1651000" cy="660400"/>
          </a:xfrm>
          <a:prstGeom prst="rect">
            <a:avLst/>
          </a:prstGeom>
          <a:solidFill>
            <a:srgbClr val="F7F5F0"/>
          </a:solidFill>
          <a:ln w="11430">
            <a:solidFill>
              <a:srgbClr val="333333"/>
            </a:solidFill>
            <a:prstDash val="dash"/>
          </a:ln>
        </p:spPr>
      </p:sp>
      <p:sp>
        <p:nvSpPr>
          <p:cNvPr id="14" name="s1b-t"/>
          <p:cNvSpPr txBox="1"/>
          <p:nvPr/>
        </p:nvSpPr>
        <p:spPr>
          <a:xfrm>
            <a:off x="5867400" y="35814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2 · standby</a:t>
            </a:r>
            <a:endParaRPr lang="en-US" sz="950" noProof="1"/>
          </a:p>
          <a:p>
            <a:pPr algn="ctr">
              <a:lnSpc>
                <a:spcPct val="120000"/>
              </a:lnSpc>
            </a:pPr>
            <a:r>
              <a:rPr lang="en-US" sz="800" noProof="1">
                <a:solidFill>
                  <a:srgbClr val="000000"/>
                </a:solidFill>
                <a:latin typeface="Liter"/>
                <a:ea typeface="MiSans"/>
              </a:rPr>
              <a:t>takes over on failure</a:t>
            </a:r>
            <a:endParaRPr lang="en-US" sz="950" noProof="1"/>
          </a:p>
        </p:txBody>
      </p:sp>
      <p:sp>
        <p:nvSpPr>
          <p:cNvPr id="15" name="s2a"/>
          <p:cNvSpPr/>
          <p:nvPr/>
        </p:nvSpPr>
        <p:spPr>
          <a:xfrm>
            <a:off x="9931400" y="2717800"/>
            <a:ext cx="1651000" cy="660400"/>
          </a:xfrm>
          <a:prstGeom prst="rect">
            <a:avLst/>
          </a:prstGeom>
          <a:solidFill>
            <a:srgbClr val="F7F5F0"/>
          </a:solidFill>
          <a:ln w="11430">
            <a:solidFill>
              <a:srgbClr val="333333"/>
            </a:solidFill>
          </a:ln>
        </p:spPr>
      </p:sp>
      <p:sp>
        <p:nvSpPr>
          <p:cNvPr id="16" name="s2a-t"/>
          <p:cNvSpPr txBox="1"/>
          <p:nvPr/>
        </p:nvSpPr>
        <p:spPr>
          <a:xfrm>
            <a:off x="9931400" y="27178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3 · active</a:t>
            </a:r>
            <a:endParaRPr lang="en-US" sz="950" noProof="1"/>
          </a:p>
          <a:p>
            <a:pPr algn="ctr">
              <a:lnSpc>
                <a:spcPct val="120000"/>
              </a:lnSpc>
            </a:pPr>
            <a:r>
              <a:rPr lang="en-US" sz="800" noProof="1">
                <a:solidFill>
                  <a:srgbClr val="000000"/>
                </a:solidFill>
                <a:latin typeface="Liter"/>
                <a:ea typeface="MiSans"/>
              </a:rPr>
              <a:t>call processing</a:t>
            </a:r>
            <a:endParaRPr lang="en-US" sz="950" noProof="1"/>
          </a:p>
        </p:txBody>
      </p:sp>
      <p:sp>
        <p:nvSpPr>
          <p:cNvPr id="17" name="s2b"/>
          <p:cNvSpPr/>
          <p:nvPr/>
        </p:nvSpPr>
        <p:spPr>
          <a:xfrm>
            <a:off x="9931400" y="3581400"/>
            <a:ext cx="1651000" cy="660400"/>
          </a:xfrm>
          <a:prstGeom prst="rect">
            <a:avLst/>
          </a:prstGeom>
          <a:solidFill>
            <a:srgbClr val="F7F5F0"/>
          </a:solidFill>
          <a:ln w="11430">
            <a:solidFill>
              <a:srgbClr val="333333"/>
            </a:solidFill>
            <a:prstDash val="dash"/>
          </a:ln>
        </p:spPr>
      </p:sp>
      <p:sp>
        <p:nvSpPr>
          <p:cNvPr id="18" name="s2b-t"/>
          <p:cNvSpPr txBox="1"/>
          <p:nvPr/>
        </p:nvSpPr>
        <p:spPr>
          <a:xfrm>
            <a:off x="9931400" y="3581400"/>
            <a:ext cx="1651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Sub 4 · standby</a:t>
            </a:r>
            <a:endParaRPr lang="en-US" sz="950" noProof="1"/>
          </a:p>
          <a:p>
            <a:pPr algn="ctr">
              <a:lnSpc>
                <a:spcPct val="120000"/>
              </a:lnSpc>
            </a:pPr>
            <a:r>
              <a:rPr lang="en-US" sz="800" noProof="1">
                <a:solidFill>
                  <a:srgbClr val="000000"/>
                </a:solidFill>
                <a:latin typeface="Liter"/>
                <a:ea typeface="MiSans"/>
              </a:rPr>
              <a:t>takes over on failure</a:t>
            </a:r>
            <a:endParaRPr lang="en-US" sz="950" noProof="1"/>
          </a:p>
        </p:txBody>
      </p:sp>
      <p:sp>
        <p:nvSpPr>
          <p:cNvPr id="19" name="repl1"/>
          <p:cNvSpPr/>
          <p:nvPr>
            <p:extLst>
              <p:ext uri="{F5677B7D-0D2A-4D9B-9A5C-6D8D7D0E5A5D}">
                <pptd:line encoding="base64url">eyJ2aWV3Qm94IjpbMTMwLDUyXSwicG9pbnRzIjoiMTMwLDAgMCw1MiJ9</pptd:line>
              </p:ext>
            </p:extLst>
          </p:nvPr>
        </p:nvSpPr>
        <p:spPr>
          <a:xfrm>
            <a:off x="6692900" y="2057400"/>
            <a:ext cx="1651000" cy="660400"/>
          </a:xfrm>
          <a:custGeom>
            <a:avLst/>
            <a:gdLst/>
            <a:ahLst/>
            <a:cxnLst/>
            <a:rect l="l" t="t" r="r" b="b"/>
            <a:pathLst>
              <a:path w="130" h="52">
                <a:moveTo>
                  <a:pt x="130" y="0"/>
                </a:moveTo>
                <a:lnTo>
                  <a:pt x="0" y="52"/>
                </a:lnTo>
              </a:path>
            </a:pathLst>
          </a:custGeom>
          <a:noFill/>
          <a:ln w="11430" cap="rnd">
            <a:solidFill>
              <a:srgbClr val="A9AAAC"/>
            </a:solidFill>
            <a:round/>
            <a:tailEnd type="arrow"/>
          </a:ln>
        </p:spPr>
      </p:sp>
      <p:sp>
        <p:nvSpPr>
          <p:cNvPr id="20" name="repl2"/>
          <p:cNvSpPr/>
          <p:nvPr>
            <p:extLst>
              <p:ext uri="{F5677B7D-0D2A-4D9B-9A5C-6D8D7D0E5A5D}">
                <pptd:line encoding="base64url">eyJ2aWV3Qm94IjpbMTMxLDUyXSwicG9pbnRzIjoiMCwwIDEzMSw1MiJ9</pptd:line>
              </p:ext>
            </p:extLst>
          </p:nvPr>
        </p:nvSpPr>
        <p:spPr>
          <a:xfrm>
            <a:off x="9093200" y="2057400"/>
            <a:ext cx="1663700" cy="660400"/>
          </a:xfrm>
          <a:custGeom>
            <a:avLst/>
            <a:gdLst/>
            <a:ahLst/>
            <a:cxnLst/>
            <a:rect l="l" t="t" r="r" b="b"/>
            <a:pathLst>
              <a:path w="131" h="52">
                <a:moveTo>
                  <a:pt x="0" y="0"/>
                </a:moveTo>
                <a:lnTo>
                  <a:pt x="131" y="52"/>
                </a:lnTo>
              </a:path>
            </a:pathLst>
          </a:custGeom>
          <a:noFill/>
          <a:ln w="11430" cap="rnd">
            <a:solidFill>
              <a:srgbClr val="A9AAAC"/>
            </a:solidFill>
            <a:round/>
            <a:tailEnd type="arrow"/>
          </a:ln>
        </p:spPr>
      </p:sp>
      <p:sp>
        <p:nvSpPr>
          <p:cNvPr id="21" name="repl-t"/>
          <p:cNvSpPr txBox="1"/>
          <p:nvPr/>
        </p:nvSpPr>
        <p:spPr>
          <a:xfrm>
            <a:off x="8153400" y="2235200"/>
            <a:ext cx="1143000" cy="177800"/>
          </a:xfrm>
          <a:prstGeom prst="rect">
            <a:avLst/>
          </a:prstGeom>
          <a:noFill/>
          <a:ln>
            <a:noFill/>
          </a:ln>
        </p:spPr>
        <p:txBody>
          <a:bodyPr lIns="0" rIns="0" tIns="0" bIns="0" wrap="none" rtlCol="0"/>
          <a:lstStyle/>
          <a:p>
            <a:pPr>
              <a:lnSpc>
                <a:spcPct val="120000"/>
              </a:lnSpc>
            </a:pPr>
            <a:r>
              <a:rPr lang="en-US" sz="800" noProof="1">
                <a:solidFill>
                  <a:srgbClr val="5A5A5A"/>
                </a:solidFill>
                <a:latin typeface="Liter"/>
                <a:ea typeface="MiSans"/>
              </a:rPr>
              <a:t>database replication</a:t>
            </a:r>
            <a:endParaRPr lang="en-US" sz="800" noProof="1"/>
          </a:p>
        </p:txBody>
      </p:sp>
      <p:sp>
        <p:nvSpPr>
          <p:cNvPr id="22" name="fail1"/>
          <p:cNvSpPr/>
          <p:nvPr>
            <p:extLst>
              <p:ext uri="{F5677B7D-0D2A-4D9B-9A5C-6D8D7D0E5A5D}">
                <pptd:line encoding="base64url">eyJ2aWV3Qm94IjpbMSwxNl0sInBvaW50cyI6IjAsMCAwLDE2In0</pptd:line>
              </p:ext>
            </p:extLst>
          </p:nvPr>
        </p:nvSpPr>
        <p:spPr>
          <a:xfrm>
            <a:off x="6692900" y="3378200"/>
            <a:ext cx="12700" cy="203200"/>
          </a:xfrm>
          <a:custGeom>
            <a:avLst/>
            <a:gdLst/>
            <a:ahLst/>
            <a:cxnLst/>
            <a:rect l="l" t="t" r="r" b="b"/>
            <a:pathLst>
              <a:path w="1" h="16">
                <a:moveTo>
                  <a:pt x="0" y="0"/>
                </a:moveTo>
                <a:lnTo>
                  <a:pt x="0" y="16"/>
                </a:lnTo>
              </a:path>
            </a:pathLst>
          </a:custGeom>
          <a:noFill/>
          <a:ln w="15240" cap="rnd">
            <a:solidFill>
              <a:srgbClr val="E69138"/>
            </a:solidFill>
            <a:round/>
            <a:tailEnd type="arrow"/>
          </a:ln>
        </p:spPr>
      </p:sp>
      <p:sp>
        <p:nvSpPr>
          <p:cNvPr id="23" name="fail2"/>
          <p:cNvSpPr/>
          <p:nvPr>
            <p:extLst>
              <p:ext uri="{F5677B7D-0D2A-4D9B-9A5C-6D8D7D0E5A5D}">
                <pptd:line encoding="base64url">eyJ2aWV3Qm94IjpbMSwxNl0sInBvaW50cyI6IjAsMCAwLDE2In0</pptd:line>
              </p:ext>
            </p:extLst>
          </p:nvPr>
        </p:nvSpPr>
        <p:spPr>
          <a:xfrm>
            <a:off x="10756900" y="3378200"/>
            <a:ext cx="12700" cy="203200"/>
          </a:xfrm>
          <a:custGeom>
            <a:avLst/>
            <a:gdLst/>
            <a:ahLst/>
            <a:cxnLst/>
            <a:rect l="l" t="t" r="r" b="b"/>
            <a:pathLst>
              <a:path w="1" h="16">
                <a:moveTo>
                  <a:pt x="0" y="0"/>
                </a:moveTo>
                <a:lnTo>
                  <a:pt x="0" y="16"/>
                </a:lnTo>
              </a:path>
            </a:pathLst>
          </a:custGeom>
          <a:noFill/>
          <a:ln w="15240" cap="rnd">
            <a:solidFill>
              <a:srgbClr val="E69138"/>
            </a:solidFill>
            <a:round/>
            <a:tailEnd type="arrow"/>
          </a:ln>
        </p:spPr>
      </p:sp>
      <p:sp>
        <p:nvSpPr>
          <p:cNvPr id="24" name="dev1"/>
          <p:cNvSpPr/>
          <p:nvPr/>
        </p:nvSpPr>
        <p:spPr>
          <a:xfrm>
            <a:off x="5867400" y="4826000"/>
            <a:ext cx="1651000" cy="457200"/>
          </a:xfrm>
          <a:prstGeom prst="rect">
            <a:avLst/>
          </a:prstGeom>
          <a:solidFill>
            <a:srgbClr val="FFFFFF"/>
          </a:solidFill>
          <a:ln w="10160">
            <a:solidFill>
              <a:srgbClr val="333333"/>
            </a:solidFill>
          </a:ln>
        </p:spPr>
      </p:sp>
      <p:sp>
        <p:nvSpPr>
          <p:cNvPr id="25" name="dev1-t"/>
          <p:cNvSpPr txBox="1"/>
          <p:nvPr/>
        </p:nvSpPr>
        <p:spPr>
          <a:xfrm>
            <a:off x="5867400" y="4826000"/>
            <a:ext cx="1651000" cy="4572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Phones · group A</a:t>
            </a:r>
            <a:endParaRPr lang="en-US" sz="900" noProof="1"/>
          </a:p>
        </p:txBody>
      </p:sp>
      <p:sp>
        <p:nvSpPr>
          <p:cNvPr id="26" name="dev2"/>
          <p:cNvSpPr/>
          <p:nvPr/>
        </p:nvSpPr>
        <p:spPr>
          <a:xfrm>
            <a:off x="9931400" y="4826000"/>
            <a:ext cx="1651000" cy="457200"/>
          </a:xfrm>
          <a:prstGeom prst="rect">
            <a:avLst/>
          </a:prstGeom>
          <a:solidFill>
            <a:srgbClr val="FFFFFF"/>
          </a:solidFill>
          <a:ln w="10160">
            <a:solidFill>
              <a:srgbClr val="333333"/>
            </a:solidFill>
          </a:ln>
        </p:spPr>
      </p:sp>
      <p:sp>
        <p:nvSpPr>
          <p:cNvPr id="27" name="dev2-t"/>
          <p:cNvSpPr txBox="1"/>
          <p:nvPr/>
        </p:nvSpPr>
        <p:spPr>
          <a:xfrm>
            <a:off x="9931400" y="4826000"/>
            <a:ext cx="1651000" cy="4572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Phones · group B</a:t>
            </a:r>
            <a:endParaRPr lang="en-US" sz="900" noProof="1"/>
          </a:p>
        </p:txBody>
      </p:sp>
      <p:sp>
        <p:nvSpPr>
          <p:cNvPr id="28" name="reg1"/>
          <p:cNvSpPr/>
          <p:nvPr>
            <p:extLst>
              <p:ext uri="{F5677B7D-0D2A-4D9B-9A5C-6D8D7D0E5A5D}">
                <pptd:line encoding="base64url">eyJ2aWV3Qm94IjpbMSw0Nl0sInBvaW50cyI6IjAsMCAwLDQ2In0</pptd:line>
              </p:ext>
            </p:extLst>
          </p:nvPr>
        </p:nvSpPr>
        <p:spPr>
          <a:xfrm>
            <a:off x="6692900" y="4241800"/>
            <a:ext cx="12700" cy="584200"/>
          </a:xfrm>
          <a:custGeom>
            <a:avLst/>
            <a:gdLst/>
            <a:ahLst/>
            <a:cxnLst/>
            <a:rect l="l" t="t" r="r" b="b"/>
            <a:pathLst>
              <a:path w="1" h="46">
                <a:moveTo>
                  <a:pt x="0" y="0"/>
                </a:moveTo>
                <a:lnTo>
                  <a:pt x="0" y="46"/>
                </a:lnTo>
              </a:path>
            </a:pathLst>
          </a:custGeom>
          <a:noFill/>
          <a:ln w="11430" cap="rnd">
            <a:solidFill>
              <a:srgbClr val="A9AAAC"/>
            </a:solidFill>
            <a:round/>
          </a:ln>
        </p:spPr>
      </p:sp>
      <p:sp>
        <p:nvSpPr>
          <p:cNvPr id="29" name="reg2"/>
          <p:cNvSpPr/>
          <p:nvPr>
            <p:extLst>
              <p:ext uri="{F5677B7D-0D2A-4D9B-9A5C-6D8D7D0E5A5D}">
                <pptd:line encoding="base64url">eyJ2aWV3Qm94IjpbMSw0Nl0sInBvaW50cyI6IjAsMCAwLDQ2In0</pptd:line>
              </p:ext>
            </p:extLst>
          </p:nvPr>
        </p:nvSpPr>
        <p:spPr>
          <a:xfrm>
            <a:off x="10756900" y="4241800"/>
            <a:ext cx="12700" cy="584200"/>
          </a:xfrm>
          <a:custGeom>
            <a:avLst/>
            <a:gdLst/>
            <a:ahLst/>
            <a:cxnLst/>
            <a:rect l="l" t="t" r="r" b="b"/>
            <a:pathLst>
              <a:path w="1" h="46">
                <a:moveTo>
                  <a:pt x="0" y="0"/>
                </a:moveTo>
                <a:lnTo>
                  <a:pt x="0" y="46"/>
                </a:lnTo>
              </a:path>
            </a:pathLst>
          </a:custGeom>
          <a:noFill/>
          <a:ln w="11430" cap="rnd">
            <a:solidFill>
              <a:srgbClr val="A9AAAC"/>
            </a:solidFill>
            <a:round/>
          </a:ln>
        </p:spPr>
      </p:sp>
      <p:sp>
        <p:nvSpPr>
          <p:cNvPr id="30" name="dia-note"/>
          <p:cNvSpPr txBox="1"/>
          <p:nvPr/>
        </p:nvSpPr>
        <p:spPr>
          <a:xfrm>
            <a:off x="5867400" y="5461000"/>
            <a:ext cx="5715000" cy="558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Up to </a:t>
            </a:r>
            <a:r>
              <a:rPr lang="en-US" sz="1000" noProof="1" b="1">
                <a:solidFill>
                  <a:srgbClr val="5A5A5A"/>
                </a:solidFill>
                <a:latin typeface="Liter"/>
                <a:ea typeface="MiSans"/>
              </a:rPr>
              <a:t>8 call-processing subscriber pairs</a:t>
            </a:r>
            <a:r>
              <a:rPr lang="en-US" sz="1000" noProof="1">
                <a:solidFill>
                  <a:srgbClr val="5A5A5A"/>
                </a:solidFill>
                <a:latin typeface="Liter"/>
                <a:ea typeface="MiSans"/>
              </a:rPr>
              <a:t> per cluster; a single cluster serves on the order of </a:t>
            </a:r>
            <a:r>
              <a:rPr lang="en-US" sz="1000" noProof="1" b="1">
                <a:solidFill>
                  <a:srgbClr val="000000"/>
                </a:solidFill>
                <a:latin typeface="Liter"/>
                <a:ea typeface="MiSans"/>
              </a:rPr>
              <a:t>40,000+ devices</a:t>
            </a:r>
            <a:r>
              <a:rPr lang="en-US" sz="1000" noProof="1">
                <a:solidFill>
                  <a:srgbClr val="5A5A5A"/>
                </a:solidFill>
                <a:latin typeface="Liter"/>
                <a:ea typeface="MiSans"/>
              </a:rPr>
              <a:t> when sized per Cisco SRND. Scale figures are release- and server-dependent — always validate against the SRND for your version.</a:t>
            </a:r>
            <a:endParaRPr lang="en-US" sz="1000" noProof="1"/>
          </a:p>
        </p:txBody>
      </p:sp>
      <p:sp>
        <p:nvSpPr>
          <p:cNvPr id="3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Collaboration SRND — CUCM cluster design and redundancy sections; CUCM Administration Guide, cisco.com</a:t>
            </a:r>
            <a:endParaRPr lang="en-US" sz="850" noProof="1"/>
          </a:p>
        </p:txBody>
      </p:sp>
      <p:sp>
        <p:nvSpPr>
          <p:cNvPr id="33" name="cml-footer-bar"/>
          <p:cNvSpPr/>
          <p:nvPr/>
        </p:nvSpPr>
        <p:spPr>
          <a:xfrm>
            <a:off x="0" y="6670000"/>
            <a:ext cx="12192000" cy="640000"/>
          </a:xfrm>
          <a:prstGeom prst="rect">
            <a:avLst/>
          </a:prstGeom>
          <a:solidFill>
            <a:srgbClr val="12161C"/>
          </a:solidFill>
          <a:ln>
            <a:noFill/>
          </a:ln>
        </p:spPr>
        <p:txBody>
          <a:bodyPr/>
          <a:lstStyle/>
          <a:p/>
        </p:txBody>
      </p:sp>
      <p:sp>
        <p:nvSpPr>
          <p:cNvPr id="34" name="cml-footer-rule"/>
          <p:cNvSpPr/>
          <p:nvPr/>
        </p:nvSpPr>
        <p:spPr>
          <a:xfrm>
            <a:off x="0" y="6670000"/>
            <a:ext cx="12192000" cy="19050"/>
          </a:xfrm>
          <a:prstGeom prst="rect">
            <a:avLst/>
          </a:prstGeom>
          <a:solidFill>
            <a:srgbClr val="2DD4BF"/>
          </a:solidFill>
          <a:ln>
            <a:noFill/>
          </a:ln>
        </p:spPr>
        <p:txBody>
          <a:bodyPr/>
          <a:lstStyle/>
          <a:p/>
        </p:txBody>
      </p:sp>
      <p:sp>
        <p:nvSpPr>
          <p:cNvPr id="3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4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3.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dial plan is layered: partitions and CSS decide who may call what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Calling search spaces grant visibility into partitions; route patterns, lists and groups then steer the matched call to a gateway or trunk.</a:t>
            </a:r>
            <a:endParaRPr lang="en-US" sz="1100" noProof="1"/>
          </a:p>
        </p:txBody>
      </p:sp>
      <p:sp>
        <p:nvSpPr>
          <p:cNvPr id="4" name="hier-h"/>
          <p:cNvSpPr txBox="1"/>
          <p:nvPr/>
        </p:nvSpPr>
        <p:spPr>
          <a:xfrm>
            <a:off x="609600" y="11430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Object hierarchy a call traverses</a:t>
            </a:r>
            <a:endParaRPr lang="en-US" sz="1100" noProof="1"/>
          </a:p>
        </p:txBody>
      </p:sp>
      <p:sp>
        <p:nvSpPr>
          <p:cNvPr id="5" name="h1"/>
          <p:cNvSpPr/>
          <p:nvPr/>
        </p:nvSpPr>
        <p:spPr>
          <a:xfrm>
            <a:off x="609600" y="1447800"/>
            <a:ext cx="2286000" cy="533400"/>
          </a:xfrm>
          <a:prstGeom prst="rect">
            <a:avLst/>
          </a:prstGeom>
          <a:solidFill>
            <a:srgbClr val="FFFFFF"/>
          </a:solidFill>
          <a:ln w="17780">
            <a:solidFill>
              <a:srgbClr val="000000"/>
            </a:solidFill>
          </a:ln>
        </p:spPr>
      </p:sp>
      <p:sp>
        <p:nvSpPr>
          <p:cNvPr id="6" name="h1t"/>
          <p:cNvSpPr txBox="1"/>
          <p:nvPr/>
        </p:nvSpPr>
        <p:spPr>
          <a:xfrm>
            <a:off x="609600" y="14478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Device + CSS</a:t>
            </a:r>
            <a:endParaRPr lang="en-US" sz="950" noProof="1"/>
          </a:p>
          <a:p>
            <a:pPr algn="ctr">
              <a:lnSpc>
                <a:spcPct val="120000"/>
              </a:lnSpc>
            </a:pPr>
            <a:r>
              <a:rPr lang="en-US" sz="800" noProof="1">
                <a:solidFill>
                  <a:srgbClr val="000000"/>
                </a:solidFill>
                <a:latin typeface="Liter"/>
                <a:ea typeface="MiSans"/>
              </a:rPr>
              <a:t>who is calling</a:t>
            </a:r>
            <a:endParaRPr lang="en-US" sz="950" noProof="1"/>
          </a:p>
        </p:txBody>
      </p:sp>
      <p:sp>
        <p:nvSpPr>
          <p:cNvPr id="7" name="h2"/>
          <p:cNvSpPr/>
          <p:nvPr/>
        </p:nvSpPr>
        <p:spPr>
          <a:xfrm>
            <a:off x="609600" y="2133600"/>
            <a:ext cx="2286000" cy="533400"/>
          </a:xfrm>
          <a:prstGeom prst="rect">
            <a:avLst/>
          </a:prstGeom>
          <a:solidFill>
            <a:srgbClr val="F7F5F0"/>
          </a:solidFill>
          <a:ln w="10160">
            <a:solidFill>
              <a:srgbClr val="333333"/>
            </a:solidFill>
          </a:ln>
        </p:spPr>
      </p:sp>
      <p:sp>
        <p:nvSpPr>
          <p:cNvPr id="8" name="h2t"/>
          <p:cNvSpPr txBox="1"/>
          <p:nvPr/>
        </p:nvSpPr>
        <p:spPr>
          <a:xfrm>
            <a:off x="609600" y="21336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Partitions</a:t>
            </a:r>
            <a:endParaRPr lang="en-US" sz="950" noProof="1"/>
          </a:p>
          <a:p>
            <a:pPr algn="ctr">
              <a:lnSpc>
                <a:spcPct val="120000"/>
              </a:lnSpc>
            </a:pPr>
            <a:r>
              <a:rPr lang="en-US" sz="800" noProof="1">
                <a:solidFill>
                  <a:srgbClr val="000000"/>
                </a:solidFill>
                <a:latin typeface="Liter"/>
                <a:ea typeface="MiSans"/>
              </a:rPr>
              <a:t>which numbers are visible</a:t>
            </a:r>
            <a:endParaRPr lang="en-US" sz="950" noProof="1"/>
          </a:p>
        </p:txBody>
      </p:sp>
      <p:sp>
        <p:nvSpPr>
          <p:cNvPr id="9" name="h3"/>
          <p:cNvSpPr/>
          <p:nvPr/>
        </p:nvSpPr>
        <p:spPr>
          <a:xfrm>
            <a:off x="609600" y="2819400"/>
            <a:ext cx="2286000" cy="533400"/>
          </a:xfrm>
          <a:prstGeom prst="rect">
            <a:avLst/>
          </a:prstGeom>
          <a:solidFill>
            <a:srgbClr val="F7F5F0"/>
          </a:solidFill>
          <a:ln w="10160">
            <a:solidFill>
              <a:srgbClr val="333333"/>
            </a:solidFill>
          </a:ln>
        </p:spPr>
      </p:sp>
      <p:sp>
        <p:nvSpPr>
          <p:cNvPr id="10" name="h3t"/>
          <p:cNvSpPr txBox="1"/>
          <p:nvPr/>
        </p:nvSpPr>
        <p:spPr>
          <a:xfrm>
            <a:off x="609600" y="28194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pattern</a:t>
            </a:r>
            <a:endParaRPr lang="en-US" sz="950" noProof="1"/>
          </a:p>
          <a:p>
            <a:pPr algn="ctr">
              <a:lnSpc>
                <a:spcPct val="120000"/>
              </a:lnSpc>
            </a:pPr>
            <a:r>
              <a:rPr lang="en-US" sz="800" noProof="1">
                <a:solidFill>
                  <a:srgbClr val="000000"/>
                </a:solidFill>
                <a:latin typeface="Liter"/>
                <a:ea typeface="MiSans"/>
              </a:rPr>
              <a:t>digit match, e.g. 9.1[2-9]XX[2-9]XXXXXX</a:t>
            </a:r>
            <a:endParaRPr lang="en-US" sz="950" noProof="1"/>
          </a:p>
        </p:txBody>
      </p:sp>
      <p:sp>
        <p:nvSpPr>
          <p:cNvPr id="11" name="h4"/>
          <p:cNvSpPr/>
          <p:nvPr/>
        </p:nvSpPr>
        <p:spPr>
          <a:xfrm>
            <a:off x="609600" y="3505200"/>
            <a:ext cx="2286000" cy="533400"/>
          </a:xfrm>
          <a:prstGeom prst="rect">
            <a:avLst/>
          </a:prstGeom>
          <a:solidFill>
            <a:srgbClr val="F7F5F0"/>
          </a:solidFill>
          <a:ln w="10160">
            <a:solidFill>
              <a:srgbClr val="333333"/>
            </a:solidFill>
          </a:ln>
        </p:spPr>
      </p:sp>
      <p:sp>
        <p:nvSpPr>
          <p:cNvPr id="12" name="h4t"/>
          <p:cNvSpPr txBox="1"/>
          <p:nvPr/>
        </p:nvSpPr>
        <p:spPr>
          <a:xfrm>
            <a:off x="609600" y="35052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list</a:t>
            </a:r>
            <a:endParaRPr lang="en-US" sz="950" noProof="1"/>
          </a:p>
          <a:p>
            <a:pPr algn="ctr">
              <a:lnSpc>
                <a:spcPct val="120000"/>
              </a:lnSpc>
            </a:pPr>
            <a:r>
              <a:rPr lang="en-US" sz="800" noProof="1">
                <a:solidFill>
                  <a:srgbClr val="000000"/>
                </a:solidFill>
                <a:latin typeface="Liter"/>
                <a:ea typeface="MiSans"/>
              </a:rPr>
              <a:t>ordered path preference</a:t>
            </a:r>
            <a:endParaRPr lang="en-US" sz="950" noProof="1"/>
          </a:p>
        </p:txBody>
      </p:sp>
      <p:sp>
        <p:nvSpPr>
          <p:cNvPr id="13" name="h5"/>
          <p:cNvSpPr/>
          <p:nvPr/>
        </p:nvSpPr>
        <p:spPr>
          <a:xfrm>
            <a:off x="609600" y="4191000"/>
            <a:ext cx="2286000" cy="533400"/>
          </a:xfrm>
          <a:prstGeom prst="rect">
            <a:avLst/>
          </a:prstGeom>
          <a:solidFill>
            <a:srgbClr val="F7F5F0"/>
          </a:solidFill>
          <a:ln w="10160">
            <a:solidFill>
              <a:srgbClr val="333333"/>
            </a:solidFill>
          </a:ln>
        </p:spPr>
      </p:sp>
      <p:sp>
        <p:nvSpPr>
          <p:cNvPr id="14" name="h5t"/>
          <p:cNvSpPr txBox="1"/>
          <p:nvPr/>
        </p:nvSpPr>
        <p:spPr>
          <a:xfrm>
            <a:off x="609600" y="41910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Route group</a:t>
            </a:r>
            <a:endParaRPr lang="en-US" sz="950" noProof="1"/>
          </a:p>
          <a:p>
            <a:pPr algn="ctr">
              <a:lnSpc>
                <a:spcPct val="120000"/>
              </a:lnSpc>
            </a:pPr>
            <a:r>
              <a:rPr lang="en-US" sz="800" noProof="1">
                <a:solidFill>
                  <a:srgbClr val="000000"/>
                </a:solidFill>
                <a:latin typeface="Liter"/>
                <a:ea typeface="MiSans"/>
              </a:rPr>
              <a:t>gateways / SIP trunks</a:t>
            </a:r>
            <a:endParaRPr lang="en-US" sz="950" noProof="1"/>
          </a:p>
        </p:txBody>
      </p:sp>
      <p:sp>
        <p:nvSpPr>
          <p:cNvPr id="15" name="h6"/>
          <p:cNvSpPr/>
          <p:nvPr/>
        </p:nvSpPr>
        <p:spPr>
          <a:xfrm>
            <a:off x="609600" y="4876800"/>
            <a:ext cx="2286000" cy="533400"/>
          </a:xfrm>
          <a:prstGeom prst="rect">
            <a:avLst/>
          </a:prstGeom>
          <a:solidFill>
            <a:srgbClr val="D2C7EB"/>
          </a:solidFill>
          <a:ln w="10160">
            <a:solidFill>
              <a:srgbClr val="333333"/>
            </a:solidFill>
          </a:ln>
        </p:spPr>
      </p:sp>
      <p:sp>
        <p:nvSpPr>
          <p:cNvPr id="16" name="h6t"/>
          <p:cNvSpPr txBox="1"/>
          <p:nvPr/>
        </p:nvSpPr>
        <p:spPr>
          <a:xfrm>
            <a:off x="609600" y="4876800"/>
            <a:ext cx="2286000" cy="533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PSTN / remote site</a:t>
            </a:r>
            <a:endParaRPr lang="en-US" sz="950" noProof="1"/>
          </a:p>
          <a:p>
            <a:pPr algn="ctr">
              <a:lnSpc>
                <a:spcPct val="120000"/>
              </a:lnSpc>
            </a:pPr>
            <a:r>
              <a:rPr lang="en-US" sz="800" noProof="1">
                <a:solidFill>
                  <a:srgbClr val="000000"/>
                </a:solidFill>
                <a:latin typeface="Liter"/>
                <a:ea typeface="MiSans"/>
              </a:rPr>
              <a:t>call leaves the estate</a:t>
            </a:r>
            <a:endParaRPr lang="en-US" sz="950" noProof="1"/>
          </a:p>
        </p:txBody>
      </p:sp>
      <p:sp>
        <p:nvSpPr>
          <p:cNvPr id="17" name="ha1"/>
          <p:cNvSpPr/>
          <p:nvPr>
            <p:extLst>
              <p:ext uri="{F5677B7D-0D2A-4D9B-9A5C-6D8D7D0E5A5D}">
                <pptd:line encoding="base64url">eyJ2aWV3Qm94IjpbMSwxMl0sInBvaW50cyI6IjAsMCAwLDEyIn0</pptd:line>
              </p:ext>
            </p:extLst>
          </p:nvPr>
        </p:nvSpPr>
        <p:spPr>
          <a:xfrm>
            <a:off x="1752600" y="19812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8" name="ha2"/>
          <p:cNvSpPr/>
          <p:nvPr>
            <p:extLst>
              <p:ext uri="{F5677B7D-0D2A-4D9B-9A5C-6D8D7D0E5A5D}">
                <pptd:line encoding="base64url">eyJ2aWV3Qm94IjpbMSwxMl0sInBvaW50cyI6IjAsMCAwLDEyIn0</pptd:line>
              </p:ext>
            </p:extLst>
          </p:nvPr>
        </p:nvSpPr>
        <p:spPr>
          <a:xfrm>
            <a:off x="1752600" y="2667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9" name="ha3"/>
          <p:cNvSpPr/>
          <p:nvPr>
            <p:extLst>
              <p:ext uri="{F5677B7D-0D2A-4D9B-9A5C-6D8D7D0E5A5D}">
                <pptd:line encoding="base64url">eyJ2aWV3Qm94IjpbMSwxMl0sInBvaW50cyI6IjAsMCAwLDEyIn0</pptd:line>
              </p:ext>
            </p:extLst>
          </p:nvPr>
        </p:nvSpPr>
        <p:spPr>
          <a:xfrm>
            <a:off x="1752600" y="33528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0" name="ha4"/>
          <p:cNvSpPr/>
          <p:nvPr>
            <p:extLst>
              <p:ext uri="{F5677B7D-0D2A-4D9B-9A5C-6D8D7D0E5A5D}">
                <pptd:line encoding="base64url">eyJ2aWV3Qm94IjpbMSwxMl0sInBvaW50cyI6IjAsMCAwLDEyIn0</pptd:line>
              </p:ext>
            </p:extLst>
          </p:nvPr>
        </p:nvSpPr>
        <p:spPr>
          <a:xfrm>
            <a:off x="1752600" y="4038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1" name="ha5"/>
          <p:cNvSpPr/>
          <p:nvPr>
            <p:extLst>
              <p:ext uri="{F5677B7D-0D2A-4D9B-9A5C-6D8D7D0E5A5D}">
                <pptd:line encoding="base64url">eyJ2aWV3Qm94IjpbMSwxMl0sInBvaW50cyI6IjAsMCAwLDEyIn0</pptd:line>
              </p:ext>
            </p:extLst>
          </p:nvPr>
        </p:nvSpPr>
        <p:spPr>
          <a:xfrm>
            <a:off x="1752600" y="4724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22" name="side-note"/>
          <p:cNvSpPr txBox="1"/>
          <p:nvPr/>
        </p:nvSpPr>
        <p:spPr>
          <a:xfrm>
            <a:off x="3098800" y="1447800"/>
            <a:ext cx="2413000" cy="3962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Policy lives at the top.</a:t>
            </a:r>
            <a:r>
              <a:rPr lang="en-US" sz="1000" noProof="1">
                <a:solidFill>
                  <a:srgbClr val="5A5A5A"/>
                </a:solidFill>
                <a:latin typeface="Liter"/>
                <a:ea typeface="MiSans"/>
              </a:rPr>
              <a:t> A lobby phone gets a CSS that sees only internal partitions; an executive phone sees internal + local + international.</a:t>
            </a:r>
            <a:endParaRPr lang="en-US" sz="1000" noProof="1"/>
          </a:p>
          <a:p>
            <a:pPr>
              <a:lnSpc>
                <a:spcPct val="135000"/>
              </a:lnSpc>
              <a:spcBef>
                <a:spcPts val="1000"/>
              </a:spcBef>
            </a:pPr>
            <a:r>
              <a:rPr lang="en-US" sz="1000" noProof="1" b="1">
                <a:solidFill>
                  <a:srgbClr val="5A5A5A"/>
                </a:solidFill>
                <a:latin typeface="Liter"/>
                <a:ea typeface="MiSans"/>
              </a:rPr>
              <a:t>Routing lives at the bottom.</a:t>
            </a:r>
            <a:r>
              <a:rPr lang="en-US" sz="1000" noProof="1">
                <a:solidFill>
                  <a:srgbClr val="5A5A5A"/>
                </a:solidFill>
                <a:latin typeface="Liter"/>
                <a:ea typeface="MiSans"/>
              </a:rPr>
              <a:t> Route lists give primary and overflow paths (e.g. SIP trunk → ISDN fallback) without changing patterns.</a:t>
            </a:r>
            <a:endParaRPr lang="en-US" sz="1000" noProof="1"/>
          </a:p>
          <a:p>
            <a:pPr>
              <a:lnSpc>
                <a:spcPct val="135000"/>
              </a:lnSpc>
              <a:spcBef>
                <a:spcPts val="1000"/>
              </a:spcBef>
            </a:pPr>
            <a:r>
              <a:rPr lang="en-US" sz="1000" noProof="1" b="1">
                <a:solidFill>
                  <a:srgbClr val="5A5A5A"/>
                </a:solidFill>
                <a:latin typeface="Liter"/>
                <a:ea typeface="MiSans"/>
              </a:rPr>
              <a:t>Toll fraud control</a:t>
            </a:r>
            <a:r>
              <a:rPr lang="en-US" sz="1000" noProof="1">
                <a:solidFill>
                  <a:srgbClr val="5A5A5A"/>
                </a:solidFill>
                <a:latin typeface="Liter"/>
                <a:ea typeface="MiSans"/>
              </a:rPr>
              <a:t> is exactly this: restrictive CSS on trunks and devices, blocked patterns for premium prefixes.</a:t>
            </a:r>
            <a:endParaRPr lang="en-US" sz="1000" noProof="1"/>
          </a:p>
        </p:txBody>
      </p:sp>
      <p:sp>
        <p:nvSpPr>
          <p:cNvPr id="23" name="code-h"/>
          <p:cNvSpPr txBox="1"/>
          <p:nvPr/>
        </p:nvSpPr>
        <p:spPr>
          <a:xfrm>
            <a:off x="5867400" y="1143000"/>
            <a:ext cx="5715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Typical configuration objects (CUCM admin)</a:t>
            </a:r>
            <a:endParaRPr lang="en-US" sz="1100" noProof="1"/>
          </a:p>
        </p:txBody>
      </p:sp>
      <p:sp>
        <p:nvSpPr>
          <p:cNvPr id="24" name="code-box"/>
          <p:cNvSpPr/>
          <p:nvPr/>
        </p:nvSpPr>
        <p:spPr>
          <a:xfrm>
            <a:off x="5867400" y="1447800"/>
            <a:ext cx="5715000" cy="2489200"/>
          </a:xfrm>
          <a:prstGeom prst="rect">
            <a:avLst/>
          </a:prstGeom>
          <a:solidFill>
            <a:srgbClr val="F8F8F8"/>
          </a:solidFill>
          <a:ln w="7620">
            <a:solidFill>
              <a:srgbClr val="CFCFCF"/>
            </a:solidFill>
          </a:ln>
        </p:spPr>
      </p:sp>
      <p:sp>
        <p:nvSpPr>
          <p:cNvPr id="25" name="code-text"/>
          <p:cNvSpPr txBox="1"/>
          <p:nvPr/>
        </p:nvSpPr>
        <p:spPr>
          <a:xfrm>
            <a:off x="6045200" y="1574800"/>
            <a:ext cx="5384800" cy="2286000"/>
          </a:xfrm>
          <a:prstGeom prst="rect">
            <a:avLst/>
          </a:prstGeom>
          <a:noFill/>
          <a:ln>
            <a:noFill/>
          </a:ln>
        </p:spPr>
        <p:txBody>
          <a:bodyPr lIns="0" rIns="0" tIns="0" bIns="0" wrap="square" rtlCol="0"/>
          <a:lstStyle/>
          <a:p>
            <a:pPr>
              <a:lnSpc>
                <a:spcPct val="140000"/>
              </a:lnSpc>
            </a:pPr>
            <a:r>
              <a:rPr lang="en-US" sz="950" noProof="1">
                <a:solidFill>
                  <a:srgbClr val="000000"/>
                </a:solidFill>
                <a:latin typeface="JetBrains Mono"/>
                <a:ea typeface="MiSans"/>
              </a:rPr>
              <a:t># Partition &amp; calling search space</a:t>
            </a:r>
            <a:endParaRPr lang="en-US" sz="950" noProof="1"/>
          </a:p>
          <a:p>
            <a:pPr>
              <a:lnSpc>
                <a:spcPct val="140000"/>
              </a:lnSpc>
            </a:pPr>
            <a:r>
              <a:rPr lang="en-US" sz="950" noProof="1">
                <a:solidFill>
                  <a:srgbClr val="000000"/>
                </a:solidFill>
                <a:latin typeface="JetBrains Mono"/>
                <a:ea typeface="MiSans"/>
              </a:rPr>
              <a:t>PT-Internal · PT-Local · PT-Intl</a:t>
            </a:r>
            <a:endParaRPr lang="en-US" sz="950" noProof="1"/>
          </a:p>
          <a:p>
            <a:pPr>
              <a:lnSpc>
                <a:spcPct val="140000"/>
              </a:lnSpc>
            </a:pPr>
            <a:r>
              <a:rPr lang="en-US" sz="950" noProof="1">
                <a:solidFill>
                  <a:srgbClr val="000000"/>
                </a:solidFill>
                <a:latin typeface="JetBrains Mono"/>
                <a:ea typeface="MiSans"/>
              </a:rPr>
              <a:t>CSS-Employee = PT-Internal + PT-Local</a:t>
            </a:r>
            <a:endParaRPr lang="en-US" sz="950" noProof="1"/>
          </a:p>
          <a:p>
            <a:pPr>
              <a:lnSpc>
                <a:spcPct val="140000"/>
              </a:lnSpc>
            </a:pPr>
            <a:r>
              <a:rPr lang="en-US" sz="950" noProof="1">
                <a:solidFill>
                  <a:srgbClr val="000000"/>
                </a:solidFill>
                <a:latin typeface="JetBrains Mono"/>
                <a:ea typeface="MiSans"/>
              </a:rPr>
              <a:t># Route pattern (NANP, 9 = outside line)</a:t>
            </a:r>
            <a:endParaRPr lang="en-US" sz="950" noProof="1"/>
          </a:p>
          <a:p>
            <a:pPr>
              <a:lnSpc>
                <a:spcPct val="140000"/>
              </a:lnSpc>
            </a:pPr>
            <a:r>
              <a:rPr lang="en-US" sz="950" noProof="1" b="1">
                <a:solidFill>
                  <a:srgbClr val="000000"/>
                </a:solidFill>
                <a:latin typeface="JetBrains Mono"/>
                <a:ea typeface="MiSans"/>
              </a:rPr>
              <a:t>9.1[2-9]XX[2-9]XXXXXX</a:t>
            </a:r>
            <a:r>
              <a:rPr lang="en-US" sz="950" noProof="1">
                <a:solidFill>
                  <a:srgbClr val="000000"/>
                </a:solidFill>
                <a:latin typeface="JetBrains Mono"/>
                <a:ea typeface="MiSans"/>
              </a:rPr>
              <a:t> → PT-Local</a:t>
            </a:r>
            <a:endParaRPr lang="en-US" sz="950" noProof="1"/>
          </a:p>
          <a:p>
            <a:pPr>
              <a:lnSpc>
                <a:spcPct val="140000"/>
              </a:lnSpc>
            </a:pPr>
            <a:r>
              <a:rPr lang="en-US" sz="950" noProof="1">
                <a:solidFill>
                  <a:srgbClr val="000000"/>
                </a:solidFill>
                <a:latin typeface="JetBrains Mono"/>
                <a:ea typeface="MiSans"/>
              </a:rPr>
              <a:t># Path preference</a:t>
            </a:r>
            <a:endParaRPr lang="en-US" sz="950" noProof="1"/>
          </a:p>
          <a:p>
            <a:pPr>
              <a:lnSpc>
                <a:spcPct val="140000"/>
              </a:lnSpc>
            </a:pPr>
            <a:r>
              <a:rPr lang="en-US" sz="950" noProof="1">
                <a:solidFill>
                  <a:srgbClr val="000000"/>
                </a:solidFill>
                <a:latin typeface="JetBrains Mono"/>
                <a:ea typeface="MiSans"/>
              </a:rPr>
              <a:t>RL-Outbound → RG-SIP-Trunk (primary)</a:t>
            </a:r>
            <a:endParaRPr lang="en-US" sz="950" noProof="1"/>
          </a:p>
          <a:p>
            <a:pPr>
              <a:lnSpc>
                <a:spcPct val="140000"/>
              </a:lnSpc>
            </a:pPr>
            <a:r>
              <a:rPr lang="en-US" sz="950" noProof="1">
                <a:solidFill>
                  <a:srgbClr val="000000"/>
                </a:solidFill>
                <a:latin typeface="JetBrains Mono"/>
                <a:ea typeface="MiSans"/>
              </a:rPr>
              <a:t>             → RG-ISDN-GW   (fallback)</a:t>
            </a:r>
            <a:endParaRPr lang="en-US" sz="950" noProof="1"/>
          </a:p>
          <a:p>
            <a:pPr>
              <a:lnSpc>
                <a:spcPct val="140000"/>
              </a:lnSpc>
            </a:pPr>
            <a:r>
              <a:rPr lang="en-US" sz="950" noProof="1">
                <a:solidFill>
                  <a:srgbClr val="000000"/>
                </a:solidFill>
                <a:latin typeface="JetBrains Mono"/>
                <a:ea typeface="MiSans"/>
              </a:rPr>
              <a:t># Bandwidth policy between sites</a:t>
            </a:r>
            <a:endParaRPr lang="en-US" sz="950" noProof="1"/>
          </a:p>
          <a:p>
            <a:pPr>
              <a:lnSpc>
                <a:spcPct val="140000"/>
              </a:lnSpc>
            </a:pPr>
            <a:r>
              <a:rPr lang="en-US" sz="950" noProof="1">
                <a:solidFill>
                  <a:srgbClr val="000000"/>
                </a:solidFill>
                <a:latin typeface="JetBrains Mono"/>
                <a:ea typeface="MiSans"/>
              </a:rPr>
              <a:t>Region HQ ↔ Branch : </a:t>
            </a:r>
            <a:r>
              <a:rPr lang="en-US" sz="950" noProof="1" b="1">
                <a:solidFill>
                  <a:srgbClr val="000000"/>
                </a:solidFill>
                <a:latin typeface="JetBrains Mono"/>
                <a:ea typeface="MiSans"/>
              </a:rPr>
              <a:t>G.729</a:t>
            </a:r>
            <a:endParaRPr lang="en-US" sz="950" noProof="1"/>
          </a:p>
          <a:p>
            <a:pPr>
              <a:lnSpc>
                <a:spcPct val="140000"/>
              </a:lnSpc>
            </a:pPr>
            <a:r>
              <a:rPr lang="en-US" sz="950" noProof="1">
                <a:solidFill>
                  <a:srgbClr val="000000"/>
                </a:solidFill>
                <a:latin typeface="JetBrains Mono"/>
                <a:ea typeface="MiSans"/>
              </a:rPr>
              <a:t>Region HQ ↔ HQ     : </a:t>
            </a:r>
            <a:r>
              <a:rPr lang="en-US" sz="950" noProof="1" b="1">
                <a:solidFill>
                  <a:srgbClr val="000000"/>
                </a:solidFill>
                <a:latin typeface="JetBrains Mono"/>
                <a:ea typeface="MiSans"/>
              </a:rPr>
              <a:t>G.711</a:t>
            </a:r>
            <a:endParaRPr lang="en-US" sz="950" noProof="1"/>
          </a:p>
        </p:txBody>
      </p:sp>
      <p:sp>
        <p:nvSpPr>
          <p:cNvPr id="26" name="code-note"/>
          <p:cNvSpPr txBox="1"/>
          <p:nvPr/>
        </p:nvSpPr>
        <p:spPr>
          <a:xfrm>
            <a:off x="5867400" y="4089400"/>
            <a:ext cx="5715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Regions and locations</a:t>
            </a:r>
            <a:r>
              <a:rPr lang="en-US" sz="1250" noProof="1">
                <a:solidFill>
                  <a:srgbClr val="000000"/>
                </a:solidFill>
                <a:latin typeface="Liter"/>
                <a:ea typeface="MiSans"/>
              </a:rPr>
              <a:t> apply the codec policy from Section 01: regions set the codec per site pair, locations enforce </a:t>
            </a:r>
            <a:r>
              <a:rPr lang="en-US" sz="1250" noProof="1" b="1">
                <a:solidFill>
                  <a:srgbClr val="000000"/>
                </a:solidFill>
                <a:latin typeface="Liter"/>
                <a:ea typeface="MiSans"/>
              </a:rPr>
              <a:t>call admission control (CAC)</a:t>
            </a:r>
            <a:r>
              <a:rPr lang="en-US" sz="1250" noProof="1">
                <a:solidFill>
                  <a:srgbClr val="000000"/>
                </a:solidFill>
                <a:latin typeface="Liter"/>
                <a:ea typeface="MiSans"/>
              </a:rPr>
              <a:t> so WAN links are never oversubscribed.</a:t>
            </a:r>
            <a:endParaRPr lang="en-US" sz="1250" noProof="1"/>
          </a:p>
          <a:p>
            <a:pPr>
              <a:lnSpc>
                <a:spcPct val="145000"/>
              </a:lnSpc>
              <a:spcBef>
                <a:spcPts val="800"/>
              </a:spcBef>
            </a:pPr>
            <a:r>
              <a:rPr lang="en-US" sz="1250" noProof="1" b="1">
                <a:solidFill>
                  <a:srgbClr val="000000"/>
                </a:solidFill>
                <a:latin typeface="Liter"/>
                <a:ea typeface="MiSans"/>
              </a:rPr>
              <a:t>Device pools</a:t>
            </a:r>
            <a:r>
              <a:rPr lang="en-US" sz="1250" noProof="1">
                <a:solidFill>
                  <a:srgbClr val="000000"/>
                </a:solidFill>
                <a:latin typeface="Liter"/>
                <a:ea typeface="MiSans"/>
              </a:rPr>
              <a:t> bundle region, CUCM group, SRST reference and time zone — assign once per site, inherit on every phone.</a:t>
            </a:r>
            <a:endParaRPr lang="en-US" sz="12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Administration Guide — dial plan, partitions/CSS, route plan chapters; example patterns are illustrative NANP forms</a:t>
            </a:r>
            <a:endParaRPr lang="en-US" sz="850" noProof="1"/>
          </a:p>
        </p:txBody>
      </p:sp>
      <p:sp>
        <p:nvSpPr>
          <p:cNvPr id="29" name="cml-footer-bar"/>
          <p:cNvSpPr/>
          <p:nvPr/>
        </p:nvSpPr>
        <p:spPr>
          <a:xfrm>
            <a:off x="0" y="6670000"/>
            <a:ext cx="12192000" cy="640000"/>
          </a:xfrm>
          <a:prstGeom prst="rect">
            <a:avLst/>
          </a:prstGeom>
          <a:solidFill>
            <a:srgbClr val="12161C"/>
          </a:solidFill>
          <a:ln>
            <a:noFill/>
          </a:ln>
        </p:spPr>
        <p:txBody>
          <a:bodyPr/>
          <a:lstStyle/>
          <a:p/>
        </p:txBody>
      </p:sp>
      <p:sp>
        <p:nvSpPr>
          <p:cNvPr id="30" name="cml-footer-rule"/>
          <p:cNvSpPr/>
          <p:nvPr/>
        </p:nvSpPr>
        <p:spPr>
          <a:xfrm>
            <a:off x="0" y="6670000"/>
            <a:ext cx="12192000" cy="19050"/>
          </a:xfrm>
          <a:prstGeom prst="rect">
            <a:avLst/>
          </a:prstGeom>
          <a:solidFill>
            <a:srgbClr val="2DD4BF"/>
          </a:solidFill>
          <a:ln>
            <a:noFill/>
          </a:ln>
        </p:spPr>
        <p:txBody>
          <a:bodyPr/>
          <a:lstStyle/>
          <a:p/>
        </p:txBody>
      </p:sp>
      <p:sp>
        <p:nvSpPr>
          <p:cNvPr id="3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4.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Normalize to +E.164 once at ingress; transform only at the edges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One canonical format inside the cluster keeps routing, voicemail and CDR consistent — presentation is a per-trunk concern.</a:t>
            </a:r>
            <a:endParaRPr lang="en-US" sz="1100" noProof="1"/>
          </a:p>
        </p:txBody>
      </p:sp>
      <p:sp>
        <p:nvSpPr>
          <p:cNvPr id="4" name="flow-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zones of a disciplined numbering plan</a:t>
            </a:r>
            <a:endParaRPr lang="en-US" sz="1100" noProof="1"/>
          </a:p>
        </p:txBody>
      </p:sp>
      <p:sp>
        <p:nvSpPr>
          <p:cNvPr id="5" name="z1"/>
          <p:cNvSpPr/>
          <p:nvPr/>
        </p:nvSpPr>
        <p:spPr>
          <a:xfrm>
            <a:off x="609600" y="1447800"/>
            <a:ext cx="5461000" cy="838200"/>
          </a:xfrm>
          <a:prstGeom prst="rect">
            <a:avLst/>
          </a:prstGeom>
          <a:solidFill>
            <a:srgbClr val="F7F5F0"/>
          </a:solidFill>
          <a:ln w="10160">
            <a:solidFill>
              <a:srgbClr val="333333"/>
            </a:solidFill>
          </a:ln>
        </p:spPr>
      </p:sp>
      <p:sp>
        <p:nvSpPr>
          <p:cNvPr id="6" name="z1t"/>
          <p:cNvSpPr txBox="1"/>
          <p:nvPr/>
        </p:nvSpPr>
        <p:spPr>
          <a:xfrm>
            <a:off x="762000" y="15240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Ingress — globalize</a:t>
            </a:r>
            <a:endParaRPr lang="en-US" sz="1000" noProof="1"/>
          </a:p>
          <a:p>
            <a:pPr>
              <a:lnSpc>
                <a:spcPct val="130000"/>
              </a:lnSpc>
            </a:pPr>
            <a:r>
              <a:rPr lang="en-US" sz="850" noProof="1">
                <a:solidFill>
                  <a:srgbClr val="000000"/>
                </a:solidFill>
                <a:latin typeface="Liter"/>
                <a:ea typeface="MiSans"/>
              </a:rPr>
              <a:t>gateway / trunk calling and called transformations convert whatever the carrier sends (10-digit, 7-digit, 4-digit) into +E.164 before CUCM routes</a:t>
            </a:r>
            <a:endParaRPr lang="en-US" sz="1000" noProof="1"/>
          </a:p>
        </p:txBody>
      </p:sp>
      <p:sp>
        <p:nvSpPr>
          <p:cNvPr id="7" name="za1"/>
          <p:cNvSpPr/>
          <p:nvPr>
            <p:extLst>
              <p:ext uri="{F5677B7D-0D2A-4D9B-9A5C-6D8D7D0E5A5D}">
                <pptd:line encoding="base64url">eyJ2aWV3Qm94IjpbMSwxMl0sInBvaW50cyI6IjAsMCAwLDEyIn0</pptd:line>
              </p:ext>
            </p:extLst>
          </p:nvPr>
        </p:nvSpPr>
        <p:spPr>
          <a:xfrm>
            <a:off x="3340100" y="22860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8" name="z2"/>
          <p:cNvSpPr/>
          <p:nvPr/>
        </p:nvSpPr>
        <p:spPr>
          <a:xfrm>
            <a:off x="609600" y="2438400"/>
            <a:ext cx="5461000" cy="838200"/>
          </a:xfrm>
          <a:prstGeom prst="rect">
            <a:avLst/>
          </a:prstGeom>
          <a:solidFill>
            <a:srgbClr val="FBEEDD"/>
          </a:solidFill>
          <a:ln w="13970">
            <a:solidFill>
              <a:srgbClr val="E69138"/>
            </a:solidFill>
          </a:ln>
        </p:spPr>
      </p:sp>
      <p:sp>
        <p:nvSpPr>
          <p:cNvPr id="9" name="z2t"/>
          <p:cNvSpPr txBox="1"/>
          <p:nvPr/>
        </p:nvSpPr>
        <p:spPr>
          <a:xfrm>
            <a:off x="762000" y="25146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Core — route globally</a:t>
            </a:r>
            <a:endParaRPr lang="en-US" sz="1000" noProof="1"/>
          </a:p>
          <a:p>
            <a:pPr>
              <a:lnSpc>
                <a:spcPct val="130000"/>
              </a:lnSpc>
            </a:pPr>
            <a:r>
              <a:rPr lang="en-US" sz="850" noProof="1">
                <a:solidFill>
                  <a:srgbClr val="000000"/>
                </a:solidFill>
                <a:latin typeface="Liter"/>
                <a:ea typeface="MiSans"/>
              </a:rPr>
              <a:t>partitions, CSS and route patterns match one canonical form; identical numbers never mean two things; CDR, voicemail and directories all agree</a:t>
            </a:r>
            <a:endParaRPr lang="en-US" sz="1000" noProof="1"/>
          </a:p>
        </p:txBody>
      </p:sp>
      <p:sp>
        <p:nvSpPr>
          <p:cNvPr id="10" name="za2"/>
          <p:cNvSpPr/>
          <p:nvPr>
            <p:extLst>
              <p:ext uri="{F5677B7D-0D2A-4D9B-9A5C-6D8D7D0E5A5D}">
                <pptd:line encoding="base64url">eyJ2aWV3Qm94IjpbMSwxMl0sInBvaW50cyI6IjAsMCAwLDEyIn0</pptd:line>
              </p:ext>
            </p:extLst>
          </p:nvPr>
        </p:nvSpPr>
        <p:spPr>
          <a:xfrm>
            <a:off x="3340100" y="3276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z3"/>
          <p:cNvSpPr/>
          <p:nvPr/>
        </p:nvSpPr>
        <p:spPr>
          <a:xfrm>
            <a:off x="609600" y="3429000"/>
            <a:ext cx="5461000" cy="838200"/>
          </a:xfrm>
          <a:prstGeom prst="rect">
            <a:avLst/>
          </a:prstGeom>
          <a:solidFill>
            <a:srgbClr val="F7F5F0"/>
          </a:solidFill>
          <a:ln w="10160">
            <a:solidFill>
              <a:srgbClr val="333333"/>
            </a:solidFill>
          </a:ln>
        </p:spPr>
      </p:sp>
      <p:sp>
        <p:nvSpPr>
          <p:cNvPr id="12" name="z3t"/>
          <p:cNvSpPr txBox="1"/>
          <p:nvPr/>
        </p:nvSpPr>
        <p:spPr>
          <a:xfrm>
            <a:off x="762000" y="3505200"/>
            <a:ext cx="51816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Egress — localize</a:t>
            </a:r>
            <a:endParaRPr lang="en-US" sz="1000" noProof="1"/>
          </a:p>
          <a:p>
            <a:pPr>
              <a:lnSpc>
                <a:spcPct val="130000"/>
              </a:lnSpc>
            </a:pPr>
            <a:r>
              <a:rPr lang="en-US" sz="850" noProof="1">
                <a:solidFill>
                  <a:srgbClr val="000000"/>
                </a:solidFill>
                <a:latin typeface="Liter"/>
                <a:ea typeface="MiSans"/>
              </a:rPr>
              <a:t>called-party transformations strip the + and shape the digits each carrier expects; calling-party masks present the right caller ID per trunk</a:t>
            </a:r>
            <a:endParaRPr lang="en-US" sz="1000" noProof="1"/>
          </a:p>
        </p:txBody>
      </p:sp>
      <p:sp>
        <p:nvSpPr>
          <p:cNvPr id="13" name="flow-note"/>
          <p:cNvSpPr txBox="1"/>
          <p:nvPr/>
        </p:nvSpPr>
        <p:spPr>
          <a:xfrm>
            <a:off x="609600" y="4445000"/>
            <a:ext cx="5461000" cy="1168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Why this matters in migrations:</a:t>
            </a:r>
            <a:r>
              <a:rPr lang="en-US" sz="1250" noProof="1">
                <a:solidFill>
                  <a:srgbClr val="000000"/>
                </a:solidFill>
                <a:latin typeface="Liter"/>
                <a:ea typeface="MiSans"/>
              </a:rPr>
              <a:t> a cluster that normalized early moves to Webex Calling with a number inventory it can trust; a cluster full of local habits (9-outside, 4-digit inter-site, inconsistent caller ID) must fix its numbering before it can move anything.</a:t>
            </a:r>
            <a:endParaRPr lang="en-US" sz="1250" noProof="1"/>
          </a:p>
        </p:txBody>
      </p:sp>
      <p:sp>
        <p:nvSpPr>
          <p:cNvPr id="14" name="flow-note2"/>
          <p:cNvSpPr txBox="1"/>
          <p:nvPr/>
        </p:nvSpPr>
        <p:spPr>
          <a:xfrm>
            <a:off x="609600" y="5638800"/>
            <a:ext cx="54610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Users still dial habits — 9 + number, extension to extension; translation patterns absorb the habit and emit +E.164.</a:t>
            </a:r>
            <a:endParaRPr lang="en-US" sz="1000" noProof="1"/>
          </a:p>
        </p:txBody>
      </p:sp>
      <p:sp>
        <p:nvSpPr>
          <p:cNvPr id="15" name="tool-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digit-manipulation toolbox</a:t>
            </a:r>
            <a:endParaRPr lang="en-US" sz="1100" noProof="1"/>
          </a:p>
        </p:txBody>
      </p:sp>
      <p:graphicFrame>
        <p:nvGraphicFramePr>
          <p:cNvPr id="16" name="tool-table"/>
          <p:cNvGraphicFramePr>
            <a:graphicFrameLocks noGrp="1"/>
          </p:cNvGraphicFramePr>
          <p:nvPr/>
        </p:nvGraphicFramePr>
        <p:xfrm>
          <a:off x="6604000" y="1447800"/>
          <a:ext cx="4978400" cy="3352800"/>
        </p:xfrm>
        <a:graphic>
          <a:graphicData uri="http://schemas.openxmlformats.org/drawingml/2006/table">
            <a:tbl>
              <a:tblPr/>
              <a:tblGrid>
                <a:gridCol w="1891792"/>
                <a:gridCol w="3086608"/>
              </a:tblGrid>
              <a:tr h="301752">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Job and example</a:t>
                      </a:r>
                    </a:p>
                  </a:txBody>
                  <a:tcPr marL="91440" marR="91440" marT="45720" marB="45720" anchor="ctr">
                    <a:lnL>
                      <a:noFill/>
                    </a:lnL>
                    <a:lnR>
                      <a:noFill/>
                    </a:lnR>
                    <a:lnT>
                      <a:noFill/>
                    </a:lnT>
                    <a:lnB w="15240">
                      <a:solidFill>
                        <a:srgbClr val="000000"/>
                      </a:solidFill>
                    </a:lnB>
                    <a:noFill/>
                  </a:tcPr>
                </a:tc>
              </a:tr>
              <a:tr h="610210">
                <a:tc>
                  <a:txBody>
                    <a:bodyPr wrap="square" rtlCol="0" anchor="ctr"/>
                    <a:lstStyle/>
                    <a:p>
                      <a:pPr algn="l"/>
                      <a:r>
                        <a:rPr lang="en-US" sz="1050" noProof="1">
                          <a:solidFill>
                            <a:srgbClr val="000000"/>
                          </a:solidFill>
                          <a:latin typeface="Liter"/>
                          <a:ea typeface="MiSans"/>
                        </a:rPr>
                        <a:t>Translation pattern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rewrite digits pre-routing; 9.1[2-9]XX[2-9]XXXXXX → +1\1\2\3 (absorb user dialing habit)</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Called party xform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per route pattern at egress; +1312XXXXXXX → 312XXXXXXX for a carrier that wants 10 digits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Calling party mask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shape outbound caller ID; extension 4123 → +13125554123 via external phone number mask</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Route list / group xform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trunk-specific transforms without touching patterns — one pattern, many carrier formats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Prefix / strip on gateway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POTS dial-peer strips the matched pattern by default; forward-digits or prefix restores what the PRI needs</a:t>
                      </a:r>
                    </a:p>
                  </a:txBody>
                  <a:tcPr marL="91440" marR="91440" marT="45720" marB="45720" anchor="ctr">
                    <a:lnL>
                      <a:noFill/>
                    </a:lnL>
                    <a:lnR>
                      <a:noFill/>
                    </a:lnR>
                    <a:lnT>
                      <a:noFill/>
                    </a:lnT>
                    <a:lnB w="7620">
                      <a:solidFill>
                        <a:srgbClr val="D9D9D9"/>
                      </a:solidFill>
                    </a:lnB>
                    <a:noFill/>
                  </a:tcPr>
                </a:tc>
              </a:tr>
            </a:tbl>
          </a:graphicData>
        </a:graphic>
      </p:graphicFrame>
      <p:sp>
        <p:nvSpPr>
          <p:cNvPr id="17" name="plus-box"/>
          <p:cNvSpPr/>
          <p:nvPr/>
        </p:nvSpPr>
        <p:spPr>
          <a:xfrm>
            <a:off x="6604000" y="5003800"/>
            <a:ext cx="4978400" cy="990600"/>
          </a:xfrm>
          <a:prstGeom prst="roundRect">
            <a:avLst>
              <a:gd name="adj" fmla="val 12000"/>
            </a:avLst>
          </a:prstGeom>
          <a:solidFill>
            <a:srgbClr val="F3F3F3"/>
          </a:solidFill>
          <a:ln>
            <a:noFill/>
          </a:ln>
        </p:spPr>
      </p:sp>
      <p:sp>
        <p:nvSpPr>
          <p:cNvPr id="18" name="plus-box-t"/>
          <p:cNvSpPr txBox="1"/>
          <p:nvPr/>
        </p:nvSpPr>
        <p:spPr>
          <a:xfrm>
            <a:off x="6756400" y="5105400"/>
            <a:ext cx="4673600" cy="787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plus is literal:</a:t>
            </a:r>
            <a:r>
              <a:rPr lang="en-US" sz="1000" noProof="1">
                <a:solidFill>
                  <a:srgbClr val="5A5A5A"/>
                </a:solidFill>
                <a:latin typeface="Liter"/>
                <a:ea typeface="MiSans"/>
              </a:rPr>
              <a:t> in CUCM patterns the + is part of the match, escaped as \+. Display numbers to users as +E.164, let translations convert to the local habit — never teach the core a habit.</a:t>
            </a:r>
            <a:endParaRPr lang="en-US" sz="1000" noProof="1"/>
          </a:p>
        </p:txBody>
      </p:sp>
      <p:sp>
        <p:nvSpPr>
          <p:cNvPr id="1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dial-plan design guide — globalization with +E.164; ITU-T E.164 numbering plan</a:t>
            </a:r>
            <a:endParaRPr lang="en-US" sz="850" noProof="1"/>
          </a:p>
        </p:txBody>
      </p:sp>
      <p:sp>
        <p:nvSpPr>
          <p:cNvPr id="21" name="cml-footer-bar"/>
          <p:cNvSpPr/>
          <p:nvPr/>
        </p:nvSpPr>
        <p:spPr>
          <a:xfrm>
            <a:off x="0" y="6670000"/>
            <a:ext cx="12192000" cy="640000"/>
          </a:xfrm>
          <a:prstGeom prst="rect">
            <a:avLst/>
          </a:prstGeom>
          <a:solidFill>
            <a:srgbClr val="12161C"/>
          </a:solidFill>
          <a:ln>
            <a:noFill/>
          </a:ln>
        </p:spPr>
        <p:txBody>
          <a:bodyPr/>
          <a:lstStyle/>
          <a:p/>
        </p:txBody>
      </p:sp>
      <p:sp>
        <p:nvSpPr>
          <p:cNvPr id="22" name="cml-footer-rule"/>
          <p:cNvSpPr/>
          <p:nvPr/>
        </p:nvSpPr>
        <p:spPr>
          <a:xfrm>
            <a:off x="0" y="6670000"/>
            <a:ext cx="12192000" cy="19050"/>
          </a:xfrm>
          <a:prstGeom prst="rect">
            <a:avLst/>
          </a:prstGeom>
          <a:solidFill>
            <a:srgbClr val="2DD4BF"/>
          </a:solidFill>
          <a:ln>
            <a:noFill/>
          </a:ln>
        </p:spPr>
        <p:txBody>
          <a:bodyPr/>
          <a:lstStyle/>
          <a:p/>
        </p:txBody>
      </p:sp>
      <p:sp>
        <p:nvSpPr>
          <p:cNvPr id="2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5.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Provisioning is templated: device pools and BAT turn 1,000 phones into a repeat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Hand-configuring phones does not scale; templates and the Bulk Administration Tool make provisioning a spreadsheet exercise.</a:t>
            </a:r>
            <a:endParaRPr lang="en-US" sz="1100" noProof="1"/>
          </a:p>
        </p:txBody>
      </p:sp>
      <p:sp>
        <p:nvSpPr>
          <p:cNvPr id="4" name="chain-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object chain every phone inherits</a:t>
            </a:r>
            <a:endParaRPr lang="en-US" sz="1100" noProof="1"/>
          </a:p>
        </p:txBody>
      </p:sp>
      <p:sp>
        <p:nvSpPr>
          <p:cNvPr id="5" name="c1"/>
          <p:cNvSpPr/>
          <p:nvPr/>
        </p:nvSpPr>
        <p:spPr>
          <a:xfrm>
            <a:off x="609600" y="1473200"/>
            <a:ext cx="2286000" cy="584200"/>
          </a:xfrm>
          <a:prstGeom prst="rect">
            <a:avLst/>
          </a:prstGeom>
          <a:solidFill>
            <a:srgbClr val="FFFFFF"/>
          </a:solidFill>
          <a:ln w="16510">
            <a:solidFill>
              <a:srgbClr val="000000"/>
            </a:solidFill>
          </a:ln>
        </p:spPr>
      </p:sp>
      <p:sp>
        <p:nvSpPr>
          <p:cNvPr id="6" name="c1t"/>
          <p:cNvSpPr txBox="1"/>
          <p:nvPr/>
        </p:nvSpPr>
        <p:spPr>
          <a:xfrm>
            <a:off x="60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Device pool</a:t>
            </a:r>
            <a:endParaRPr lang="en-US" sz="950" noProof="1"/>
          </a:p>
          <a:p>
            <a:pPr algn="ctr">
              <a:lnSpc>
                <a:spcPct val="120000"/>
              </a:lnSpc>
            </a:pPr>
            <a:r>
              <a:rPr lang="en-US" sz="800" noProof="1">
                <a:solidFill>
                  <a:srgbClr val="000000"/>
                </a:solidFill>
                <a:latin typeface="Liter"/>
                <a:ea typeface="MiSans"/>
              </a:rPr>
              <a:t>site context: region, group, SRST</a:t>
            </a:r>
            <a:endParaRPr lang="en-US" sz="950" noProof="1"/>
          </a:p>
        </p:txBody>
      </p:sp>
      <p:sp>
        <p:nvSpPr>
          <p:cNvPr id="7" name="ca1"/>
          <p:cNvSpPr/>
          <p:nvPr>
            <p:extLst>
              <p:ext uri="{F5677B7D-0D2A-4D9B-9A5C-6D8D7D0E5A5D}">
                <pptd:line encoding="base64url">eyJ2aWV3Qm94IjpbMjAsMV0sInBvaW50cyI6IjAsMCAyMCwwIn0</pptd:line>
              </p:ext>
            </p:extLst>
          </p:nvPr>
        </p:nvSpPr>
        <p:spPr>
          <a:xfrm>
            <a:off x="289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8" name="c2"/>
          <p:cNvSpPr/>
          <p:nvPr/>
        </p:nvSpPr>
        <p:spPr>
          <a:xfrm>
            <a:off x="3149600" y="1473200"/>
            <a:ext cx="2286000" cy="584200"/>
          </a:xfrm>
          <a:prstGeom prst="rect">
            <a:avLst/>
          </a:prstGeom>
          <a:solidFill>
            <a:srgbClr val="F7F5F0"/>
          </a:solidFill>
          <a:ln w="10160">
            <a:solidFill>
              <a:srgbClr val="333333"/>
            </a:solidFill>
          </a:ln>
        </p:spPr>
      </p:sp>
      <p:sp>
        <p:nvSpPr>
          <p:cNvPr id="9" name="c2t"/>
          <p:cNvSpPr txBox="1"/>
          <p:nvPr/>
        </p:nvSpPr>
        <p:spPr>
          <a:xfrm>
            <a:off x="314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Phone / line templates</a:t>
            </a:r>
            <a:endParaRPr lang="en-US" sz="950" noProof="1"/>
          </a:p>
          <a:p>
            <a:pPr algn="ctr">
              <a:lnSpc>
                <a:spcPct val="120000"/>
              </a:lnSpc>
            </a:pPr>
            <a:r>
              <a:rPr lang="en-US" sz="800" noProof="1">
                <a:solidFill>
                  <a:srgbClr val="000000"/>
                </a:solidFill>
                <a:latin typeface="Liter"/>
                <a:ea typeface="MiSans"/>
              </a:rPr>
              <a:t>button layout, services, DN pattern</a:t>
            </a:r>
            <a:endParaRPr lang="en-US" sz="950" noProof="1"/>
          </a:p>
        </p:txBody>
      </p:sp>
      <p:sp>
        <p:nvSpPr>
          <p:cNvPr id="10" name="ca2"/>
          <p:cNvSpPr/>
          <p:nvPr>
            <p:extLst>
              <p:ext uri="{F5677B7D-0D2A-4D9B-9A5C-6D8D7D0E5A5D}">
                <pptd:line encoding="base64url">eyJ2aWV3Qm94IjpbMjAsMV0sInBvaW50cyI6IjAsMCAyMCwwIn0</pptd:line>
              </p:ext>
            </p:extLst>
          </p:nvPr>
        </p:nvSpPr>
        <p:spPr>
          <a:xfrm>
            <a:off x="543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1" name="c3"/>
          <p:cNvSpPr/>
          <p:nvPr/>
        </p:nvSpPr>
        <p:spPr>
          <a:xfrm>
            <a:off x="5689600" y="1473200"/>
            <a:ext cx="2286000" cy="584200"/>
          </a:xfrm>
          <a:prstGeom prst="rect">
            <a:avLst/>
          </a:prstGeom>
          <a:solidFill>
            <a:srgbClr val="F7F5F0"/>
          </a:solidFill>
          <a:ln w="10160">
            <a:solidFill>
              <a:srgbClr val="333333"/>
            </a:solidFill>
          </a:ln>
        </p:spPr>
      </p:sp>
      <p:sp>
        <p:nvSpPr>
          <p:cNvPr id="12" name="c3t"/>
          <p:cNvSpPr txBox="1"/>
          <p:nvPr/>
        </p:nvSpPr>
        <p:spPr>
          <a:xfrm>
            <a:off x="568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BAT job</a:t>
            </a:r>
            <a:endParaRPr lang="en-US" sz="950" noProof="1"/>
          </a:p>
          <a:p>
            <a:pPr algn="ctr">
              <a:lnSpc>
                <a:spcPct val="120000"/>
              </a:lnSpc>
            </a:pPr>
            <a:r>
              <a:rPr lang="en-US" sz="800" noProof="1">
                <a:solidFill>
                  <a:srgbClr val="000000"/>
                </a:solidFill>
                <a:latin typeface="Liter"/>
                <a:ea typeface="MiSans"/>
              </a:rPr>
              <a:t>CSV of users + phones + DNs</a:t>
            </a:r>
            <a:endParaRPr lang="en-US" sz="950" noProof="1"/>
          </a:p>
        </p:txBody>
      </p:sp>
      <p:sp>
        <p:nvSpPr>
          <p:cNvPr id="13" name="ca3"/>
          <p:cNvSpPr/>
          <p:nvPr>
            <p:extLst>
              <p:ext uri="{F5677B7D-0D2A-4D9B-9A5C-6D8D7D0E5A5D}">
                <pptd:line encoding="base64url">eyJ2aWV3Qm94IjpbMjAsMV0sInBvaW50cyI6IjAsMCAyMCwwIn0</pptd:line>
              </p:ext>
            </p:extLst>
          </p:nvPr>
        </p:nvSpPr>
        <p:spPr>
          <a:xfrm>
            <a:off x="7975600" y="1752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4" name="c4"/>
          <p:cNvSpPr/>
          <p:nvPr/>
        </p:nvSpPr>
        <p:spPr>
          <a:xfrm>
            <a:off x="8229600" y="1473200"/>
            <a:ext cx="2286000" cy="584200"/>
          </a:xfrm>
          <a:prstGeom prst="rect">
            <a:avLst/>
          </a:prstGeom>
          <a:solidFill>
            <a:srgbClr val="D2C7EB"/>
          </a:solidFill>
          <a:ln w="10160">
            <a:solidFill>
              <a:srgbClr val="333333"/>
            </a:solidFill>
          </a:ln>
        </p:spPr>
      </p:sp>
      <p:sp>
        <p:nvSpPr>
          <p:cNvPr id="15" name="c4t"/>
          <p:cNvSpPr txBox="1"/>
          <p:nvPr/>
        </p:nvSpPr>
        <p:spPr>
          <a:xfrm>
            <a:off x="8229600" y="1473200"/>
            <a:ext cx="2286000" cy="5842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Registered phone</a:t>
            </a:r>
            <a:endParaRPr lang="en-US" sz="950" noProof="1"/>
          </a:p>
          <a:p>
            <a:pPr algn="ctr">
              <a:lnSpc>
                <a:spcPct val="120000"/>
              </a:lnSpc>
            </a:pPr>
            <a:r>
              <a:rPr lang="en-US" sz="800" noProof="1">
                <a:solidFill>
                  <a:srgbClr val="000000"/>
                </a:solidFill>
                <a:latin typeface="Liter"/>
                <a:ea typeface="MiSans"/>
              </a:rPr>
              <a:t>validated against the template</a:t>
            </a:r>
            <a:endParaRPr lang="en-US" sz="950" noProof="1"/>
          </a:p>
        </p:txBody>
      </p:sp>
      <p:sp>
        <p:nvSpPr>
          <p:cNvPr id="16" name="bat-h"/>
          <p:cNvSpPr txBox="1"/>
          <p:nvPr/>
        </p:nvSpPr>
        <p:spPr>
          <a:xfrm>
            <a:off x="609600" y="241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BAT import, step by step</a:t>
            </a:r>
            <a:endParaRPr lang="en-US" sz="1100" noProof="1"/>
          </a:p>
        </p:txBody>
      </p:sp>
      <p:sp>
        <p:nvSpPr>
          <p:cNvPr id="17" name="bat-steps"/>
          <p:cNvSpPr txBox="1"/>
          <p:nvPr/>
        </p:nvSpPr>
        <p:spPr>
          <a:xfrm>
            <a:off x="609600" y="2717800"/>
            <a:ext cx="5334000" cy="304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a:t>
            </a:r>
            <a:r>
              <a:rPr lang="en-US" sz="1250" noProof="1">
                <a:solidFill>
                  <a:srgbClr val="000000"/>
                </a:solidFill>
                <a:latin typeface="Liter"/>
                <a:ea typeface="MiSans"/>
              </a:rPr>
              <a:t> Export a sample CSV from BAT with the exact column set for the chosen template.</a:t>
            </a:r>
            <a:endParaRPr lang="en-US" sz="1250" noProof="1"/>
          </a:p>
          <a:p>
            <a:pPr>
              <a:lnSpc>
                <a:spcPct val="145000"/>
              </a:lnSpc>
              <a:spcBef>
                <a:spcPts val="900"/>
              </a:spcBef>
            </a:pPr>
            <a:r>
              <a:rPr lang="en-US" sz="1250" noProof="1" b="1">
                <a:solidFill>
                  <a:srgbClr val="000000"/>
                </a:solidFill>
                <a:latin typeface="Liter"/>
                <a:ea typeface="MiSans"/>
              </a:rPr>
              <a:t>2.</a:t>
            </a:r>
            <a:r>
              <a:rPr lang="en-US" sz="1250" noProof="1">
                <a:solidFill>
                  <a:srgbClr val="000000"/>
                </a:solidFill>
                <a:latin typeface="Liter"/>
                <a:ea typeface="MiSans"/>
              </a:rPr>
              <a:t> Fill users, MAC addresses, DNs and site codes — one row per phone, generated from your HR or asset data.</a:t>
            </a:r>
            <a:endParaRPr lang="en-US" sz="1250" noProof="1"/>
          </a:p>
          <a:p>
            <a:pPr>
              <a:lnSpc>
                <a:spcPct val="145000"/>
              </a:lnSpc>
              <a:spcBef>
                <a:spcPts val="900"/>
              </a:spcBef>
            </a:pPr>
            <a:r>
              <a:rPr lang="en-US" sz="1250" noProof="1" b="1">
                <a:solidFill>
                  <a:srgbClr val="000000"/>
                </a:solidFill>
                <a:latin typeface="Liter"/>
                <a:ea typeface="MiSans"/>
              </a:rPr>
              <a:t>3.</a:t>
            </a:r>
            <a:r>
              <a:rPr lang="en-US" sz="1250" noProof="1">
                <a:solidFill>
                  <a:srgbClr val="000000"/>
                </a:solidFill>
                <a:latin typeface="Liter"/>
                <a:ea typeface="MiSans"/>
              </a:rPr>
              <a:t> Upload, validate (dry run), then run the job; review the job log for rejected rows, fix and re-run only the failures.</a:t>
            </a:r>
            <a:endParaRPr lang="en-US" sz="1250" noProof="1"/>
          </a:p>
          <a:p>
            <a:pPr>
              <a:lnSpc>
                <a:spcPct val="145000"/>
              </a:lnSpc>
              <a:spcBef>
                <a:spcPts val="900"/>
              </a:spcBef>
            </a:pPr>
            <a:r>
              <a:rPr lang="en-US" sz="1250" noProof="1" b="1">
                <a:solidFill>
                  <a:srgbClr val="000000"/>
                </a:solidFill>
                <a:latin typeface="Liter"/>
                <a:ea typeface="MiSans"/>
              </a:rPr>
              <a:t>4.</a:t>
            </a:r>
            <a:r>
              <a:rPr lang="en-US" sz="1250" noProof="1">
                <a:solidFill>
                  <a:srgbClr val="000000"/>
                </a:solidFill>
                <a:latin typeface="Liter"/>
                <a:ea typeface="MiSans"/>
              </a:rPr>
              <a:t> Spot-check registrations in RTMT before shipping phones to desks.</a:t>
            </a:r>
            <a:endParaRPr lang="en-US" sz="1250" noProof="1"/>
          </a:p>
          <a:p>
            <a:pPr>
              <a:lnSpc>
                <a:spcPct val="145000"/>
              </a:lnSpc>
              <a:spcBef>
                <a:spcPts val="900"/>
              </a:spcBef>
            </a:pPr>
            <a:r>
              <a:rPr lang="en-US" sz="1250" noProof="1" b="1">
                <a:solidFill>
                  <a:srgbClr val="000000"/>
                </a:solidFill>
                <a:latin typeface="Liter"/>
                <a:ea typeface="MiSans"/>
              </a:rPr>
              <a:t>5.</a:t>
            </a:r>
            <a:r>
              <a:rPr lang="en-US" sz="1250" noProof="1">
                <a:solidFill>
                  <a:srgbClr val="000000"/>
                </a:solidFill>
                <a:latin typeface="Liter"/>
                <a:ea typeface="MiSans"/>
              </a:rPr>
              <a:t> Archive the CSV — it is the authoritative record of what was built, and the input to a future migration.</a:t>
            </a:r>
            <a:endParaRPr lang="en-US" sz="1250" noProof="1"/>
          </a:p>
        </p:txBody>
      </p:sp>
      <p:sp>
        <p:nvSpPr>
          <p:cNvPr id="18" name="udp-h"/>
          <p:cNvSpPr txBox="1"/>
          <p:nvPr/>
        </p:nvSpPr>
        <p:spPr>
          <a:xfrm>
            <a:off x="6604000" y="241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Hot-desking: provision people, not desks</a:t>
            </a:r>
            <a:endParaRPr lang="en-US" sz="1100" noProof="1"/>
          </a:p>
        </p:txBody>
      </p:sp>
      <p:sp>
        <p:nvSpPr>
          <p:cNvPr id="19" name="udp-text"/>
          <p:cNvSpPr txBox="1"/>
          <p:nvPr/>
        </p:nvSpPr>
        <p:spPr>
          <a:xfrm>
            <a:off x="6604000" y="2717800"/>
            <a:ext cx="4978400" cy="1651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With </a:t>
            </a:r>
            <a:r>
              <a:rPr lang="en-US" sz="1250" noProof="1" b="1">
                <a:solidFill>
                  <a:srgbClr val="000000"/>
                </a:solidFill>
                <a:latin typeface="Liter"/>
                <a:ea typeface="MiSans"/>
              </a:rPr>
              <a:t>Extension Mobility</a:t>
            </a:r>
            <a:r>
              <a:rPr lang="en-US" sz="1250" noProof="1">
                <a:solidFill>
                  <a:srgbClr val="000000"/>
                </a:solidFill>
                <a:latin typeface="Liter"/>
                <a:ea typeface="MiSans"/>
              </a:rPr>
              <a:t>, a user's DN, speed dials and services live in a </a:t>
            </a:r>
            <a:r>
              <a:rPr lang="en-US" sz="1250" noProof="1" b="1">
                <a:solidFill>
                  <a:srgbClr val="000000"/>
                </a:solidFill>
                <a:latin typeface="Liter"/>
                <a:ea typeface="MiSans"/>
              </a:rPr>
              <a:t>device profile (UDP)</a:t>
            </a:r>
            <a:r>
              <a:rPr lang="en-US" sz="1250" noProof="1">
                <a:solidFill>
                  <a:srgbClr val="000000"/>
                </a:solidFill>
                <a:latin typeface="Liter"/>
                <a:ea typeface="MiSans"/>
              </a:rPr>
              <a:t> that follows their login to any phone. Desks get generic phones; people get their identity on log-in — the same CSV discipline, applied to profiles instead of hardware.</a:t>
            </a:r>
            <a:endParaRPr lang="en-US" sz="1250" noProof="1"/>
          </a:p>
        </p:txBody>
      </p:sp>
      <p:sp>
        <p:nvSpPr>
          <p:cNvPr id="20" name="udp-box"/>
          <p:cNvSpPr/>
          <p:nvPr/>
        </p:nvSpPr>
        <p:spPr>
          <a:xfrm>
            <a:off x="6604000" y="4521200"/>
            <a:ext cx="4978400" cy="1219200"/>
          </a:xfrm>
          <a:prstGeom prst="roundRect">
            <a:avLst>
              <a:gd name="adj" fmla="val 12000"/>
            </a:avLst>
          </a:prstGeom>
          <a:solidFill>
            <a:srgbClr val="F3F3F3"/>
          </a:solidFill>
          <a:ln>
            <a:noFill/>
          </a:ln>
        </p:spPr>
      </p:sp>
      <p:sp>
        <p:nvSpPr>
          <p:cNvPr id="21" name="udp-box-t"/>
          <p:cNvSpPr txBox="1"/>
          <p:nvPr/>
        </p:nvSpPr>
        <p:spPr>
          <a:xfrm>
            <a:off x="6807200" y="46482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Rule of thumb:</a:t>
            </a:r>
            <a:r>
              <a:rPr lang="en-US" sz="1000" noProof="1">
                <a:solidFill>
                  <a:srgbClr val="5A5A5A"/>
                </a:solidFill>
                <a:latin typeface="Liter"/>
                <a:ea typeface="MiSans"/>
              </a:rPr>
              <a:t> anything you configure twice by hand belongs in a template. Device pool per site, phone template per model, line template per numbering range — after that, new sites are a copy and a find-replace.</a:t>
            </a:r>
            <a:endParaRPr lang="en-US" sz="1000" noProof="1"/>
          </a:p>
        </p:txBody>
      </p:sp>
      <p:sp>
        <p:nvSpPr>
          <p:cNvPr id="2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Bulk Administration Guide and administration documentation, cisco.com</a:t>
            </a:r>
            <a:endParaRPr lang="en-US" sz="850" noProof="1"/>
          </a:p>
        </p:txBody>
      </p:sp>
      <p:sp>
        <p:nvSpPr>
          <p:cNvPr id="24" name="cml-footer-bar"/>
          <p:cNvSpPr/>
          <p:nvPr/>
        </p:nvSpPr>
        <p:spPr>
          <a:xfrm>
            <a:off x="0" y="6670000"/>
            <a:ext cx="12192000" cy="640000"/>
          </a:xfrm>
          <a:prstGeom prst="rect">
            <a:avLst/>
          </a:prstGeom>
          <a:solidFill>
            <a:srgbClr val="12161C"/>
          </a:solidFill>
          <a:ln>
            <a:noFill/>
          </a:ln>
        </p:spPr>
        <p:txBody>
          <a:bodyPr/>
          <a:lstStyle/>
          <a:p/>
        </p:txBody>
      </p:sp>
      <p:sp>
        <p:nvSpPr>
          <p:cNvPr id="25" name="cml-footer-rule"/>
          <p:cNvSpPr/>
          <p:nvPr/>
        </p:nvSpPr>
        <p:spPr>
          <a:xfrm>
            <a:off x="0" y="6670000"/>
            <a:ext cx="12192000" cy="19050"/>
          </a:xfrm>
          <a:prstGeom prst="rect">
            <a:avLst/>
          </a:prstGeom>
          <a:solidFill>
            <a:srgbClr val="2DD4BF"/>
          </a:solidFill>
          <a:ln>
            <a:noFill/>
          </a:ln>
        </p:spPr>
        <p:txBody>
          <a:bodyPr/>
          <a:lstStyle/>
          <a:p/>
        </p:txBody>
      </p:sp>
      <p:sp>
        <p:nvSpPr>
          <p:cNvPr id="2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Gateways bridge to the PSTN; SRST keeps a branch alive when the WAN fails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IOS gateways terminate T1/E1 or SIP provider trunks; survivable remote site telephony turns the branch router into fallback call control.</a:t>
            </a:r>
            <a:endParaRPr lang="en-US" sz="1100" noProof="1"/>
          </a:p>
        </p:txBody>
      </p:sp>
      <p:sp>
        <p:nvSpPr>
          <p:cNvPr id="4" name="cmp-h"/>
          <p:cNvSpPr txBox="1"/>
          <p:nvPr/>
        </p:nvSpPr>
        <p:spPr>
          <a:xfrm>
            <a:off x="609600" y="11430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ways to control a gateway — choose SIP unless constrained</a:t>
            </a:r>
            <a:endParaRPr lang="en-US" sz="1100" noProof="1"/>
          </a:p>
        </p:txBody>
      </p:sp>
      <p:graphicFrame>
        <p:nvGraphicFramePr>
          <p:cNvPr id="5" name="cmp-table"/>
          <p:cNvGraphicFramePr>
            <a:graphicFrameLocks noGrp="1"/>
          </p:cNvGraphicFramePr>
          <p:nvPr/>
        </p:nvGraphicFramePr>
        <p:xfrm>
          <a:off x="609600" y="1447800"/>
          <a:ext cx="5334000" cy="2235200"/>
        </p:xfrm>
        <a:graphic>
          <a:graphicData uri="http://schemas.openxmlformats.org/drawingml/2006/table">
            <a:tbl>
              <a:tblPr/>
              <a:tblGrid>
                <a:gridCol w="1066800"/>
                <a:gridCol w="2240280"/>
                <a:gridCol w="2026920"/>
              </a:tblGrid>
              <a:tr h="402336">
                <a:tc>
                  <a:txBody>
                    <a:bodyPr wrap="square" rtlCol="0" anchor="ctr"/>
                    <a:lstStyle/>
                    <a:p>
                      <a:pPr algn="l"/>
                      <a:r>
                        <a:rPr lang="en-US" sz="1050" noProof="1" b="1">
                          <a:solidFill>
                            <a:srgbClr val="000000"/>
                          </a:solidFill>
                          <a:latin typeface="Liter"/>
                          <a:ea typeface="MiSans"/>
                        </a:rPr>
                        <a:t>Mode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Strength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Constraint</a:t>
                      </a:r>
                    </a:p>
                  </a:txBody>
                  <a:tcPr marL="91440" marR="91440" marT="45720" marB="45720" anchor="ctr">
                    <a:lnL>
                      <a:noFill/>
                    </a:lnL>
                    <a:lnR>
                      <a:noFill/>
                    </a:lnR>
                    <a:lnT>
                      <a:noFill/>
                    </a:lnT>
                    <a:lnB w="15240">
                      <a:solidFill>
                        <a:srgbClr val="000000"/>
                      </a:solidFill>
                    </a:lnB>
                    <a:noFill/>
                  </a:tcPr>
                </a:tc>
              </a:tr>
              <a:tr h="610880">
                <a:tc>
                  <a:txBody>
                    <a:bodyPr wrap="square" rtlCol="0" anchor="ctr"/>
                    <a:lstStyle/>
                    <a:p>
                      <a:pPr algn="l"/>
                      <a:r>
                        <a:rPr lang="en-US" sz="1050" noProof="1">
                          <a:solidFill>
                            <a:srgbClr val="000000"/>
                          </a:solidFill>
                          <a:latin typeface="Liter"/>
                          <a:ea typeface="MiSans"/>
                        </a:rPr>
                        <a:t>SIP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feature set, modern provider handoff</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Dial plan logic lives in CUCM + IOS</a:t>
                      </a:r>
                    </a:p>
                  </a:txBody>
                  <a:tcPr marL="91440" marR="91440" marT="45720" marB="45720" anchor="ctr">
                    <a:lnL>
                      <a:noFill/>
                    </a:lnL>
                    <a:lnR>
                      <a:noFill/>
                    </a:lnR>
                    <a:lnT>
                      <a:noFill/>
                    </a:lnT>
                    <a:lnB w="7620">
                      <a:solidFill>
                        <a:srgbClr val="D9D9D9"/>
                      </a:solidFill>
                    </a:lnB>
                    <a:noFill/>
                  </a:tcPr>
                </a:tc>
              </a:tr>
              <a:tr h="610880">
                <a:tc>
                  <a:txBody>
                    <a:bodyPr wrap="square" rtlCol="0" anchor="ctr"/>
                    <a:lstStyle/>
                    <a:p>
                      <a:pPr algn="l"/>
                      <a:r>
                        <a:rPr lang="en-US" sz="1050" noProof="1">
                          <a:solidFill>
                            <a:srgbClr val="000000"/>
                          </a:solidFill>
                          <a:latin typeface="Liter"/>
                          <a:ea typeface="MiSans"/>
                        </a:rPr>
                        <a:t>MGCP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Centralized control, simple router config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Less flexible; D-channel backhaul</a:t>
                      </a:r>
                    </a:p>
                  </a:txBody>
                  <a:tcPr marL="91440" marR="91440" marT="45720" marB="45720" anchor="ctr">
                    <a:lnL>
                      <a:noFill/>
                    </a:lnL>
                    <a:lnR>
                      <a:noFill/>
                    </a:lnR>
                    <a:lnT>
                      <a:noFill/>
                    </a:lnT>
                    <a:lnB w="7620">
                      <a:solidFill>
                        <a:srgbClr val="D9D9D9"/>
                      </a:solidFill>
                    </a:lnB>
                    <a:noFill/>
                  </a:tcPr>
                </a:tc>
              </a:tr>
              <a:tr h="611104">
                <a:tc>
                  <a:txBody>
                    <a:bodyPr wrap="square" rtlCol="0" anchor="ctr"/>
                    <a:lstStyle/>
                    <a:p>
                      <a:pPr algn="l"/>
                      <a:r>
                        <a:rPr lang="en-US" sz="1050" noProof="1">
                          <a:solidFill>
                            <a:srgbClr val="000000"/>
                          </a:solidFill>
                          <a:latin typeface="Liter"/>
                          <a:ea typeface="MiSans"/>
                        </a:rPr>
                        <a:t>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Mature, feature-rich legacy interworking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More IOS-side dial plan to maintain</a:t>
                      </a:r>
                    </a:p>
                  </a:txBody>
                  <a:tcPr marL="91440" marR="91440" marT="45720" marB="45720" anchor="ctr">
                    <a:lnL>
                      <a:noFill/>
                    </a:lnL>
                    <a:lnR>
                      <a:noFill/>
                    </a:lnR>
                    <a:lnT>
                      <a:noFill/>
                    </a:lnT>
                    <a:lnB w="7620">
                      <a:solidFill>
                        <a:srgbClr val="D9D9D9"/>
                      </a:solidFill>
                    </a:lnB>
                    <a:noFill/>
                  </a:tcPr>
                </a:tc>
              </a:tr>
            </a:tbl>
          </a:graphicData>
        </a:graphic>
      </p:graphicFrame>
      <p:sp>
        <p:nvSpPr>
          <p:cNvPr id="6" name="srst-h"/>
          <p:cNvSpPr txBox="1"/>
          <p:nvPr/>
        </p:nvSpPr>
        <p:spPr>
          <a:xfrm>
            <a:off x="609600" y="38862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Survivability: what happens on WAN failure</a:t>
            </a:r>
            <a:endParaRPr lang="en-US" sz="1100" noProof="1"/>
          </a:p>
        </p:txBody>
      </p:sp>
      <p:sp>
        <p:nvSpPr>
          <p:cNvPr id="7" name="srst1"/>
          <p:cNvSpPr/>
          <p:nvPr/>
        </p:nvSpPr>
        <p:spPr>
          <a:xfrm>
            <a:off x="609600" y="4216400"/>
            <a:ext cx="1625600" cy="584200"/>
          </a:xfrm>
          <a:prstGeom prst="rect">
            <a:avLst/>
          </a:prstGeom>
          <a:solidFill>
            <a:srgbClr val="F7F5F0"/>
          </a:solidFill>
          <a:ln w="10160">
            <a:solidFill>
              <a:srgbClr val="333333"/>
            </a:solidFill>
          </a:ln>
        </p:spPr>
      </p:sp>
      <p:sp>
        <p:nvSpPr>
          <p:cNvPr id="8" name="srst1t"/>
          <p:cNvSpPr txBox="1"/>
          <p:nvPr/>
        </p:nvSpPr>
        <p:spPr>
          <a:xfrm>
            <a:off x="609600" y="4216400"/>
            <a:ext cx="16256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Normal</a:t>
            </a:r>
            <a:endParaRPr lang="en-US" sz="900" noProof="1"/>
          </a:p>
          <a:p>
            <a:pPr algn="ctr">
              <a:lnSpc>
                <a:spcPct val="120000"/>
              </a:lnSpc>
            </a:pPr>
            <a:r>
              <a:rPr lang="en-US" sz="800" noProof="1">
                <a:solidFill>
                  <a:srgbClr val="000000"/>
                </a:solidFill>
                <a:latin typeface="Liter"/>
                <a:ea typeface="MiSans"/>
              </a:rPr>
              <a:t>phones → CUCM</a:t>
            </a:r>
            <a:endParaRPr lang="en-US" sz="900" noProof="1"/>
          </a:p>
        </p:txBody>
      </p:sp>
      <p:sp>
        <p:nvSpPr>
          <p:cNvPr id="9" name="srst-a1"/>
          <p:cNvSpPr/>
          <p:nvPr>
            <p:extLst>
              <p:ext uri="{F5677B7D-0D2A-4D9B-9A5C-6D8D7D0E5A5D}">
                <pptd:line encoding="base64url">eyJ2aWV3Qm94IjpbMjAsMV0sInBvaW50cyI6IjAsMCAyMCwwIn0</pptd:line>
              </p:ext>
            </p:extLst>
          </p:nvPr>
        </p:nvSpPr>
        <p:spPr>
          <a:xfrm>
            <a:off x="2235200" y="44958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0" name="srst2"/>
          <p:cNvSpPr/>
          <p:nvPr/>
        </p:nvSpPr>
        <p:spPr>
          <a:xfrm>
            <a:off x="2489200" y="4216400"/>
            <a:ext cx="1625600" cy="584200"/>
          </a:xfrm>
          <a:prstGeom prst="rect">
            <a:avLst/>
          </a:prstGeom>
          <a:solidFill>
            <a:srgbClr val="F7F5F0"/>
          </a:solidFill>
          <a:ln w="10160">
            <a:solidFill>
              <a:srgbClr val="333333"/>
            </a:solidFill>
          </a:ln>
        </p:spPr>
      </p:sp>
      <p:sp>
        <p:nvSpPr>
          <p:cNvPr id="11" name="srst2t"/>
          <p:cNvSpPr txBox="1"/>
          <p:nvPr/>
        </p:nvSpPr>
        <p:spPr>
          <a:xfrm>
            <a:off x="2489200" y="4216400"/>
            <a:ext cx="16256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WAN down</a:t>
            </a:r>
            <a:endParaRPr lang="en-US" sz="900" noProof="1"/>
          </a:p>
          <a:p>
            <a:pPr algn="ctr">
              <a:lnSpc>
                <a:spcPct val="120000"/>
              </a:lnSpc>
            </a:pPr>
            <a:r>
              <a:rPr lang="en-US" sz="800" noProof="1">
                <a:solidFill>
                  <a:srgbClr val="000000"/>
                </a:solidFill>
                <a:latin typeface="Liter"/>
                <a:ea typeface="MiSans"/>
              </a:rPr>
              <a:t>keepalives time out</a:t>
            </a:r>
            <a:endParaRPr lang="en-US" sz="900" noProof="1"/>
          </a:p>
        </p:txBody>
      </p:sp>
      <p:sp>
        <p:nvSpPr>
          <p:cNvPr id="12" name="srst-a2"/>
          <p:cNvSpPr/>
          <p:nvPr>
            <p:extLst>
              <p:ext uri="{F5677B7D-0D2A-4D9B-9A5C-6D8D7D0E5A5D}">
                <pptd:line encoding="base64url">eyJ2aWV3Qm94IjpbMjAsMV0sInBvaW50cyI6IjAsMCAyMCwwIn0</pptd:line>
              </p:ext>
            </p:extLst>
          </p:nvPr>
        </p:nvSpPr>
        <p:spPr>
          <a:xfrm>
            <a:off x="4114800" y="44958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3" name="srst3"/>
          <p:cNvSpPr/>
          <p:nvPr/>
        </p:nvSpPr>
        <p:spPr>
          <a:xfrm>
            <a:off x="4368800" y="4216400"/>
            <a:ext cx="1574800" cy="584200"/>
          </a:xfrm>
          <a:prstGeom prst="rect">
            <a:avLst/>
          </a:prstGeom>
          <a:solidFill>
            <a:srgbClr val="FFFFFF"/>
          </a:solidFill>
          <a:ln w="16510">
            <a:solidFill>
              <a:srgbClr val="000000"/>
            </a:solidFill>
          </a:ln>
        </p:spPr>
      </p:sp>
      <p:sp>
        <p:nvSpPr>
          <p:cNvPr id="14" name="srst3t"/>
          <p:cNvSpPr txBox="1"/>
          <p:nvPr/>
        </p:nvSpPr>
        <p:spPr>
          <a:xfrm>
            <a:off x="4368800" y="4216400"/>
            <a:ext cx="1574800" cy="5842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SRST fallback</a:t>
            </a:r>
            <a:endParaRPr lang="en-US" sz="900" noProof="1"/>
          </a:p>
          <a:p>
            <a:pPr algn="ctr">
              <a:lnSpc>
                <a:spcPct val="120000"/>
              </a:lnSpc>
            </a:pPr>
            <a:r>
              <a:rPr lang="en-US" sz="800" noProof="1">
                <a:solidFill>
                  <a:srgbClr val="000000"/>
                </a:solidFill>
                <a:latin typeface="Liter"/>
                <a:ea typeface="MiSans"/>
              </a:rPr>
              <a:t>phones → router</a:t>
            </a:r>
            <a:endParaRPr lang="en-US" sz="900" noProof="1"/>
          </a:p>
        </p:txBody>
      </p:sp>
      <p:sp>
        <p:nvSpPr>
          <p:cNvPr id="15" name="srst-note"/>
          <p:cNvSpPr txBox="1"/>
          <p:nvPr/>
        </p:nvSpPr>
        <p:spPr>
          <a:xfrm>
            <a:off x="609600" y="5003800"/>
            <a:ext cx="5334000" cy="1016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Phones re-register to the branch router, which serves basic calling and PSTN access via local trunks. When the WAN returns, phones fall back to CUCM. Modern estates increasingly use </a:t>
            </a:r>
            <a:r>
              <a:rPr lang="en-US" sz="1250" noProof="1" b="1">
                <a:solidFill>
                  <a:srgbClr val="000000"/>
                </a:solidFill>
                <a:latin typeface="Liter"/>
                <a:ea typeface="MiSans"/>
              </a:rPr>
              <a:t>SRST on Catalyst / ISR with SIP</a:t>
            </a:r>
            <a:r>
              <a:rPr lang="en-US" sz="1250" noProof="1">
                <a:solidFill>
                  <a:srgbClr val="000000"/>
                </a:solidFill>
                <a:latin typeface="Liter"/>
                <a:ea typeface="MiSans"/>
              </a:rPr>
              <a:t>; sizing limits (max phones, DNs) are per platform — check the SRST version guide.</a:t>
            </a:r>
            <a:endParaRPr lang="en-US" sz="1250" noProof="1"/>
          </a:p>
        </p:txBody>
      </p:sp>
      <p:sp>
        <p:nvSpPr>
          <p:cNvPr id="16" name="code-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IOS voice configuration (ISR / Catalyst)</a:t>
            </a:r>
            <a:endParaRPr lang="en-US" sz="1100" noProof="1"/>
          </a:p>
        </p:txBody>
      </p:sp>
      <p:sp>
        <p:nvSpPr>
          <p:cNvPr id="17" name="code-box"/>
          <p:cNvSpPr/>
          <p:nvPr/>
        </p:nvSpPr>
        <p:spPr>
          <a:xfrm>
            <a:off x="6477000" y="1447800"/>
            <a:ext cx="5105400" cy="3251200"/>
          </a:xfrm>
          <a:prstGeom prst="rect">
            <a:avLst/>
          </a:prstGeom>
          <a:solidFill>
            <a:srgbClr val="F8F8F8"/>
          </a:solidFill>
          <a:ln w="7620">
            <a:solidFill>
              <a:srgbClr val="CFCFCF"/>
            </a:solidFill>
          </a:ln>
        </p:spPr>
      </p:sp>
      <p:sp>
        <p:nvSpPr>
          <p:cNvPr id="18" name="code-text"/>
          <p:cNvSpPr txBox="1"/>
          <p:nvPr/>
        </p:nvSpPr>
        <p:spPr>
          <a:xfrm>
            <a:off x="6654800" y="1574800"/>
            <a:ext cx="4775200" cy="3048000"/>
          </a:xfrm>
          <a:prstGeom prst="rect">
            <a:avLst/>
          </a:prstGeom>
          <a:noFill/>
          <a:ln>
            <a:noFill/>
          </a:ln>
        </p:spPr>
        <p:txBody>
          <a:bodyPr lIns="0" rIns="0" tIns="0" bIns="0" wrap="square" rtlCol="0"/>
          <a:lstStyle/>
          <a:p>
            <a:pPr>
              <a:lnSpc>
                <a:spcPct val="140000"/>
              </a:lnSpc>
            </a:pPr>
            <a:r>
              <a:rPr lang="en-US" sz="900" noProof="1">
                <a:solidFill>
                  <a:srgbClr val="000000"/>
                </a:solidFill>
                <a:latin typeface="JetBrains Mono"/>
                <a:ea typeface="MiSans"/>
              </a:rPr>
              <a:t>! SIP trunk toward provider</a:t>
            </a:r>
            <a:endParaRPr lang="en-US" sz="900" noProof="1"/>
          </a:p>
          <a:p>
            <a:pPr>
              <a:lnSpc>
                <a:spcPct val="140000"/>
              </a:lnSpc>
            </a:pPr>
            <a:r>
              <a:rPr lang="en-US" sz="900" noProof="1">
                <a:solidFill>
                  <a:srgbClr val="000000"/>
                </a:solidFill>
                <a:latin typeface="JetBrains Mono"/>
                <a:ea typeface="MiSans"/>
              </a:rPr>
              <a:t>dial-peer voice 100 voip</a:t>
            </a:r>
            <a:endParaRPr lang="en-US" sz="900" noProof="1"/>
          </a:p>
          <a:p>
            <a:pPr>
              <a:lnSpc>
                <a:spcPct val="140000"/>
              </a:lnSpc>
            </a:pPr>
            <a:r>
              <a:rPr lang="en-US" sz="900" noProof="1">
                <a:solidFill>
                  <a:srgbClr val="000000"/>
                </a:solidFill>
                <a:latin typeface="JetBrains Mono"/>
                <a:ea typeface="MiSans"/>
              </a:rPr>
              <a:t> destination-pattern 9T</a:t>
            </a:r>
            <a:endParaRPr lang="en-US" sz="900" noProof="1"/>
          </a:p>
          <a:p>
            <a:pPr>
              <a:lnSpc>
                <a:spcPct val="140000"/>
              </a:lnSpc>
            </a:pPr>
            <a:r>
              <a:rPr lang="en-US" sz="900" noProof="1">
                <a:solidFill>
                  <a:srgbClr val="000000"/>
                </a:solidFill>
                <a:latin typeface="JetBrains Mono"/>
                <a:ea typeface="MiSans"/>
              </a:rPr>
              <a:t> session protocol sipv2</a:t>
            </a:r>
            <a:endParaRPr lang="en-US" sz="900" noProof="1"/>
          </a:p>
          <a:p>
            <a:pPr>
              <a:lnSpc>
                <a:spcPct val="140000"/>
              </a:lnSpc>
            </a:pPr>
            <a:r>
              <a:rPr lang="en-US" sz="900" noProof="1">
                <a:solidFill>
                  <a:srgbClr val="000000"/>
                </a:solidFill>
                <a:latin typeface="JetBrains Mono"/>
                <a:ea typeface="MiSans"/>
              </a:rPr>
              <a:t> session target ipv4:</a:t>
            </a:r>
            <a:r>
              <a:rPr lang="en-US" sz="900" noProof="1" b="1">
                <a:solidFill>
                  <a:srgbClr val="000000"/>
                </a:solidFill>
                <a:latin typeface="JetBrains Mono"/>
                <a:ea typeface="MiSans"/>
              </a:rPr>
              <a:t>203.0.113.10</a:t>
            </a:r>
            <a:endParaRPr lang="en-US" sz="900" noProof="1"/>
          </a:p>
          <a:p>
            <a:pPr>
              <a:lnSpc>
                <a:spcPct val="140000"/>
              </a:lnSpc>
            </a:pPr>
            <a:r>
              <a:rPr lang="en-US" sz="900" noProof="1">
                <a:solidFill>
                  <a:srgbClr val="000000"/>
                </a:solidFill>
                <a:latin typeface="JetBrains Mono"/>
                <a:ea typeface="MiSans"/>
              </a:rPr>
              <a:t> codec g711ulaw</a:t>
            </a:r>
            <a:endParaRPr lang="en-US" sz="900" noProof="1"/>
          </a:p>
          <a:p>
            <a:pPr>
              <a:lnSpc>
                <a:spcPct val="140000"/>
              </a:lnSpc>
            </a:pPr>
            <a:r>
              <a:rPr lang="en-US" sz="900" noProof="1">
                <a:solidFill>
                  <a:srgbClr val="000000"/>
                </a:solidFill>
                <a:latin typeface="JetBrains Mono"/>
                <a:ea typeface="MiSans"/>
              </a:rPr>
              <a:t>! inbound leg from CUCM</a:t>
            </a:r>
            <a:endParaRPr lang="en-US" sz="900" noProof="1"/>
          </a:p>
          <a:p>
            <a:pPr>
              <a:lnSpc>
                <a:spcPct val="140000"/>
              </a:lnSpc>
            </a:pPr>
            <a:r>
              <a:rPr lang="en-US" sz="900" noProof="1">
                <a:solidFill>
                  <a:srgbClr val="000000"/>
                </a:solidFill>
                <a:latin typeface="JetBrains Mono"/>
                <a:ea typeface="MiSans"/>
              </a:rPr>
              <a:t>dial-peer voice 200 voip</a:t>
            </a:r>
            <a:endParaRPr lang="en-US" sz="900" noProof="1"/>
          </a:p>
          <a:p>
            <a:pPr>
              <a:lnSpc>
                <a:spcPct val="140000"/>
              </a:lnSpc>
            </a:pPr>
            <a:r>
              <a:rPr lang="en-US" sz="900" noProof="1">
                <a:solidFill>
                  <a:srgbClr val="000000"/>
                </a:solidFill>
                <a:latin typeface="JetBrains Mono"/>
                <a:ea typeface="MiSans"/>
              </a:rPr>
              <a:t> destination-pattern </a:t>
            </a:r>
            <a:r>
              <a:rPr lang="en-US" sz="900" noProof="1" b="1">
                <a:solidFill>
                  <a:srgbClr val="000000"/>
                </a:solidFill>
                <a:latin typeface="JetBrains Mono"/>
                <a:ea typeface="MiSans"/>
              </a:rPr>
              <a:t>1...</a:t>
            </a:r>
            <a:endParaRPr lang="en-US" sz="900" noProof="1"/>
          </a:p>
          <a:p>
            <a:pPr>
              <a:lnSpc>
                <a:spcPct val="140000"/>
              </a:lnSpc>
            </a:pPr>
            <a:r>
              <a:rPr lang="en-US" sz="900" noProof="1">
                <a:solidFill>
                  <a:srgbClr val="000000"/>
                </a:solidFill>
                <a:latin typeface="JetBrains Mono"/>
                <a:ea typeface="MiSans"/>
              </a:rPr>
              <a:t> session target ipv4:10.10.1.11</a:t>
            </a:r>
            <a:endParaRPr lang="en-US" sz="900" noProof="1"/>
          </a:p>
          <a:p>
            <a:pPr>
              <a:lnSpc>
                <a:spcPct val="140000"/>
              </a:lnSpc>
            </a:pPr>
            <a:r>
              <a:rPr lang="en-US" sz="900" noProof="1">
                <a:solidFill>
                  <a:srgbClr val="000000"/>
                </a:solidFill>
                <a:latin typeface="JetBrains Mono"/>
                <a:ea typeface="MiSans"/>
              </a:rPr>
              <a:t>! survivability for the branch</a:t>
            </a:r>
            <a:endParaRPr lang="en-US" sz="900" noProof="1"/>
          </a:p>
          <a:p>
            <a:pPr>
              <a:lnSpc>
                <a:spcPct val="140000"/>
              </a:lnSpc>
            </a:pPr>
            <a:r>
              <a:rPr lang="en-US" sz="900" noProof="1">
                <a:solidFill>
                  <a:srgbClr val="000000"/>
                </a:solidFill>
                <a:latin typeface="JetBrains Mono"/>
                <a:ea typeface="MiSans"/>
              </a:rPr>
              <a:t>voice register global</a:t>
            </a:r>
            <a:endParaRPr lang="en-US" sz="900" noProof="1"/>
          </a:p>
          <a:p>
            <a:pPr>
              <a:lnSpc>
                <a:spcPct val="140000"/>
              </a:lnSpc>
            </a:pPr>
            <a:r>
              <a:rPr lang="en-US" sz="900" noProof="1">
                <a:solidFill>
                  <a:srgbClr val="000000"/>
                </a:solidFill>
                <a:latin typeface="JetBrains Mono"/>
                <a:ea typeface="MiSans"/>
              </a:rPr>
              <a:t> mode srst</a:t>
            </a:r>
            <a:endParaRPr lang="en-US" sz="900" noProof="1"/>
          </a:p>
          <a:p>
            <a:pPr>
              <a:lnSpc>
                <a:spcPct val="140000"/>
              </a:lnSpc>
            </a:pPr>
            <a:r>
              <a:rPr lang="en-US" sz="900" noProof="1">
                <a:solidFill>
                  <a:srgbClr val="000000"/>
                </a:solidFill>
                <a:latin typeface="JetBrains Mono"/>
                <a:ea typeface="MiSans"/>
              </a:rPr>
              <a:t> max-dn 40  max-pool 20</a:t>
            </a:r>
            <a:endParaRPr lang="en-US" sz="900" noProof="1"/>
          </a:p>
          <a:p>
            <a:pPr>
              <a:lnSpc>
                <a:spcPct val="140000"/>
              </a:lnSpc>
            </a:pPr>
            <a:r>
              <a:rPr lang="en-US" sz="900" noProof="1">
                <a:solidFill>
                  <a:srgbClr val="000000"/>
                </a:solidFill>
                <a:latin typeface="JetBrains Mono"/>
                <a:ea typeface="MiSans"/>
              </a:rPr>
              <a:t>! DSP resources for xcoder/conf</a:t>
            </a:r>
            <a:endParaRPr lang="en-US" sz="900" noProof="1"/>
          </a:p>
          <a:p>
            <a:pPr>
              <a:lnSpc>
                <a:spcPct val="140000"/>
              </a:lnSpc>
            </a:pPr>
            <a:r>
              <a:rPr lang="en-US" sz="900" noProof="1">
                <a:solidFill>
                  <a:srgbClr val="000000"/>
                </a:solidFill>
                <a:latin typeface="JetBrains Mono"/>
                <a:ea typeface="MiSans"/>
              </a:rPr>
              <a:t>dspfarm profile 1 transcode</a:t>
            </a:r>
            <a:endParaRPr lang="en-US" sz="900" noProof="1"/>
          </a:p>
          <a:p>
            <a:pPr>
              <a:lnSpc>
                <a:spcPct val="140000"/>
              </a:lnSpc>
            </a:pPr>
            <a:r>
              <a:rPr lang="en-US" sz="900" noProof="1">
                <a:solidFill>
                  <a:srgbClr val="000000"/>
                </a:solidFill>
                <a:latin typeface="JetBrains Mono"/>
                <a:ea typeface="MiSans"/>
              </a:rPr>
              <a:t> codec g711ulaw  codec g729r8</a:t>
            </a:r>
            <a:endParaRPr lang="en-US" sz="900" noProof="1"/>
          </a:p>
        </p:txBody>
      </p:sp>
      <p:sp>
        <p:nvSpPr>
          <p:cNvPr id="19" name="code-note"/>
          <p:cNvSpPr txBox="1"/>
          <p:nvPr/>
        </p:nvSpPr>
        <p:spPr>
          <a:xfrm>
            <a:off x="6477000" y="4851400"/>
            <a:ext cx="5105400" cy="11684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Read it top to bottom: </a:t>
            </a:r>
            <a:r>
              <a:rPr lang="en-US" sz="1000" noProof="1" b="1">
                <a:solidFill>
                  <a:srgbClr val="5A5A5A"/>
                </a:solidFill>
                <a:latin typeface="Liter"/>
                <a:ea typeface="MiSans"/>
              </a:rPr>
              <a:t>outbound</a:t>
            </a:r>
            <a:r>
              <a:rPr lang="en-US" sz="1000" noProof="1">
                <a:solidFill>
                  <a:srgbClr val="5A5A5A"/>
                </a:solidFill>
                <a:latin typeface="Liter"/>
                <a:ea typeface="MiSans"/>
              </a:rPr>
              <a:t> peer matches the 9-prefix to the provider, </a:t>
            </a:r>
            <a:r>
              <a:rPr lang="en-US" sz="1000" noProof="1" b="1">
                <a:solidFill>
                  <a:srgbClr val="5A5A5A"/>
                </a:solidFill>
                <a:latin typeface="Liter"/>
                <a:ea typeface="MiSans"/>
              </a:rPr>
              <a:t>inbound</a:t>
            </a:r>
            <a:r>
              <a:rPr lang="en-US" sz="1000" noProof="1">
                <a:solidFill>
                  <a:srgbClr val="5A5A5A"/>
                </a:solidFill>
                <a:latin typeface="Liter"/>
                <a:ea typeface="MiSans"/>
              </a:rPr>
              <a:t> peer matches the 4-digit site range from CUCM, SRST caps registrations to the platform limit, and the DSP farm resolves codec mismatch and conferencing.</a:t>
            </a:r>
            <a:endParaRPr lang="en-US" sz="1000" noProof="1"/>
          </a:p>
          <a:p>
            <a:pPr>
              <a:lnSpc>
                <a:spcPct val="135000"/>
              </a:lnSpc>
              <a:spcBef>
                <a:spcPts val="600"/>
              </a:spcBef>
            </a:pPr>
            <a:r>
              <a:rPr lang="en-US" sz="1000" noProof="1">
                <a:solidFill>
                  <a:srgbClr val="5A5A5A"/>
                </a:solidFill>
                <a:latin typeface="Liter"/>
                <a:ea typeface="MiSans"/>
              </a:rPr>
              <a:t>All IPs and patterns are placeholders — substitute your addressing.</a:t>
            </a:r>
            <a:endParaRPr lang="en-US" sz="1000" noProof="1"/>
          </a:p>
        </p:txBody>
      </p:sp>
      <p:sp>
        <p:nvSpPr>
          <p:cNvPr id="2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IOS Voice Configuration Library — dial peers, SIP, SRST; configuration excerpt simplified for instruction</a:t>
            </a:r>
            <a:endParaRPr lang="en-US" sz="850" noProof="1"/>
          </a:p>
        </p:txBody>
      </p:sp>
      <p:sp>
        <p:nvSpPr>
          <p:cNvPr id="22" name="cml-footer-bar"/>
          <p:cNvSpPr/>
          <p:nvPr/>
        </p:nvSpPr>
        <p:spPr>
          <a:xfrm>
            <a:off x="0" y="6670000"/>
            <a:ext cx="12192000" cy="640000"/>
          </a:xfrm>
          <a:prstGeom prst="rect">
            <a:avLst/>
          </a:prstGeom>
          <a:solidFill>
            <a:srgbClr val="12161C"/>
          </a:solidFill>
          <a:ln>
            <a:noFill/>
          </a:ln>
        </p:spPr>
        <p:txBody>
          <a:bodyPr/>
          <a:lstStyle/>
          <a:p/>
        </p:txBody>
      </p:sp>
      <p:sp>
        <p:nvSpPr>
          <p:cNvPr id="23" name="cml-footer-rule"/>
          <p:cNvSpPr/>
          <p:nvPr/>
        </p:nvSpPr>
        <p:spPr>
          <a:xfrm>
            <a:off x="0" y="6670000"/>
            <a:ext cx="12192000" cy="19050"/>
          </a:xfrm>
          <a:prstGeom prst="rect">
            <a:avLst/>
          </a:prstGeom>
          <a:solidFill>
            <a:srgbClr val="2DD4BF"/>
          </a:solidFill>
          <a:ln>
            <a:noFill/>
          </a:ln>
        </p:spPr>
        <p:txBody>
          <a:bodyPr/>
          <a:lstStyle/>
          <a:p/>
        </p:txBody>
      </p:sp>
      <p:sp>
        <p:nvSpPr>
          <p:cNvPr id="24"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5"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6"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7"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8"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9"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0"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1"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2"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3"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4"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5"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6"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7"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7.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gateway config is three stanzas: voice service, the PRI, and matched dial-peers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IOS voice gateway reduces to the same skeleton; master the dial-peer matching order and most call failures become obvious.</a:t>
            </a:r>
            <a:endParaRPr lang="en-US" sz="1100" noProof="1"/>
          </a:p>
        </p:txBody>
      </p:sp>
      <p:sp>
        <p:nvSpPr>
          <p:cNvPr id="4" name="code-h"/>
          <p:cNvSpPr txBox="1"/>
          <p:nvPr/>
        </p:nvSpPr>
        <p:spPr>
          <a:xfrm>
            <a:off x="609600" y="1143000"/>
            <a:ext cx="5842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working skeleton (ISR with T1 PRI)</a:t>
            </a:r>
            <a:endParaRPr lang="en-US" sz="1100" noProof="1"/>
          </a:p>
        </p:txBody>
      </p:sp>
      <p:sp>
        <p:nvSpPr>
          <p:cNvPr id="5" name="code"/>
          <p:cNvSpPr txBox="1"/>
          <p:nvPr/>
        </p:nvSpPr>
        <p:spPr>
          <a:xfrm>
            <a:off x="609600" y="1447800"/>
            <a:ext cx="5969000" cy="4013200"/>
          </a:xfrm>
          <a:prstGeom prst="rect">
            <a:avLst/>
          </a:prstGeom>
          <a:noFill/>
          <a:ln>
            <a:noFill/>
          </a:ln>
        </p:spPr>
        <p:txBody>
          <a:bodyPr lIns="0" rIns="0" tIns="0" bIns="0" wrap="square" rtlCol="0"/>
          <a:lstStyle/>
          <a:p>
            <a:pPr>
              <a:lnSpc>
                <a:spcPct val="130000"/>
              </a:lnSpc>
            </a:pPr>
            <a:r>
              <a:rPr lang="en-US" sz="950" noProof="1">
                <a:solidFill>
                  <a:srgbClr val="000000"/>
                </a:solidFill>
                <a:latin typeface="JetBrains Mono"/>
                <a:ea typeface="MiSans"/>
              </a:rPr>
              <a:t>voice service voip
 ip address trusted list
  ipv4 10.10.1.0 255.255.255.0  ! toll-fraud guard
 allow-connections h323 to sip
controller T1 0/0/0
 pri-group timeslots 1-24
interface Serial0/0/0:23
 isdn switch-type primary-ni
dial-peer voice 9100 pots
 description ** INBOUND FROM PSTN **
 incoming called-number .
 direct-inward-dial
 port 0/0/0:23
dial-peer voice 2000 voip
 description ** TO CUCM SUB1 **
 destination-pattern 2...
 session target ipv4:10.10.1.11
 codec g711ulaw</a:t>
            </a:r>
            <a:endParaRPr lang="en-US" sz="950" noProof="1"/>
          </a:p>
        </p:txBody>
      </p:sp>
      <p:sp>
        <p:nvSpPr>
          <p:cNvPr id="6" name="code-note"/>
          <p:cNvSpPr txBox="1"/>
          <p:nvPr/>
        </p:nvSpPr>
        <p:spPr>
          <a:xfrm>
            <a:off x="609600" y="5613400"/>
            <a:ext cx="5969000" cy="381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Placeholder IPs and patterns — substitute your addressing. Add a second VoIP peer to the backup subscriber for failover.</a:t>
            </a:r>
            <a:endParaRPr lang="en-US" sz="1000" noProof="1"/>
          </a:p>
        </p:txBody>
      </p:sp>
      <p:sp>
        <p:nvSpPr>
          <p:cNvPr id="7" name="match-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Dial-peer matching — the order that decides everything</a:t>
            </a:r>
            <a:endParaRPr lang="en-US" sz="1100" noProof="1"/>
          </a:p>
        </p:txBody>
      </p:sp>
      <p:graphicFrame>
        <p:nvGraphicFramePr>
          <p:cNvPr id="8" name="match-table"/>
          <p:cNvGraphicFramePr>
            <a:graphicFrameLocks noGrp="1"/>
          </p:cNvGraphicFramePr>
          <p:nvPr/>
        </p:nvGraphicFramePr>
        <p:xfrm>
          <a:off x="7086600" y="1447800"/>
          <a:ext cx="4495800" cy="2641600"/>
        </p:xfrm>
        <a:graphic>
          <a:graphicData uri="http://schemas.openxmlformats.org/drawingml/2006/table">
            <a:tbl>
              <a:tblPr/>
              <a:tblGrid>
                <a:gridCol w="1348740"/>
                <a:gridCol w="3147060"/>
              </a:tblGrid>
              <a:tr h="343408">
                <a:tc>
                  <a:txBody>
                    <a:bodyPr wrap="square" rtlCol="0" anchor="ctr"/>
                    <a:lstStyle/>
                    <a:p>
                      <a:pPr algn="l"/>
                      <a:r>
                        <a:rPr lang="en-US" sz="1050" noProof="1" b="1">
                          <a:solidFill>
                            <a:srgbClr val="000000"/>
                          </a:solidFill>
                          <a:latin typeface="Liter"/>
                          <a:ea typeface="MiSans"/>
                        </a:rPr>
                        <a:t>Rule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Behavior</a:t>
                      </a:r>
                    </a:p>
                  </a:txBody>
                  <a:tcPr marL="91440" marR="91440" marT="45720" marB="45720" anchor="ctr">
                    <a:lnL>
                      <a:noFill/>
                    </a:lnL>
                    <a:lnR>
                      <a:noFill/>
                    </a:lnR>
                    <a:lnT>
                      <a:noFill/>
                    </a:lnT>
                    <a:lnB w="15240">
                      <a:solidFill>
                        <a:srgbClr val="000000"/>
                      </a:solidFill>
                    </a:lnB>
                    <a:noFill/>
                  </a:tcPr>
                </a:tc>
              </a:tr>
              <a:tr h="574548">
                <a:tc>
                  <a:txBody>
                    <a:bodyPr wrap="square" rtlCol="0" anchor="ctr"/>
                    <a:lstStyle/>
                    <a:p>
                      <a:pPr algn="l"/>
                      <a:r>
                        <a:rPr lang="en-US" sz="1050" noProof="1">
                          <a:solidFill>
                            <a:srgbClr val="000000"/>
                          </a:solidFill>
                          <a:latin typeface="Liter"/>
                          <a:ea typeface="MiSans"/>
                        </a:rPr>
                        <a:t>inbound leg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matches incoming called-number → answer-address → destination-pattern → default peer 0, in that order</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outbound leg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longest match on destination-pattern wins; preference breaks ties between peers</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DID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direct-inward-dial uses the received digits as the outbound match — without it the caller gets a second dial tone</a:t>
                      </a:r>
                    </a:p>
                  </a:txBody>
                  <a:tcPr marL="91440" marR="91440" marT="45720" marB="45720" anchor="ctr">
                    <a:lnL>
                      <a:noFill/>
                    </a:lnL>
                    <a:lnR>
                      <a:noFill/>
                    </a:lnR>
                    <a:lnT>
                      <a:noFill/>
                    </a:lnT>
                    <a:lnB w="7620">
                      <a:solidFill>
                        <a:srgbClr val="D9D9D9"/>
                      </a:solidFill>
                    </a:lnB>
                    <a:noFill/>
                  </a:tcPr>
                </a:tc>
              </a:tr>
              <a:tr h="574548">
                <a:tc>
                  <a:txBody>
                    <a:bodyPr wrap="square" rtlCol="0" anchor="ctr"/>
                    <a:lstStyle/>
                    <a:p>
                      <a:pPr algn="l"/>
                      <a:r>
                        <a:rPr lang="en-US" sz="1050" noProof="1">
                          <a:solidFill>
                            <a:srgbClr val="000000"/>
                          </a:solidFill>
                          <a:latin typeface="Liter"/>
                          <a:ea typeface="MiSans"/>
                        </a:rPr>
                        <a:t>digit strip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POTS peers strip the matched pattern by default; forward-digits or prefix restores what the PRI needs</a:t>
                      </a:r>
                    </a:p>
                  </a:txBody>
                  <a:tcPr marL="91440" marR="91440" marT="45720" marB="45720" anchor="ctr">
                    <a:lnL>
                      <a:noFill/>
                    </a:lnL>
                    <a:lnR>
                      <a:noFill/>
                    </a:lnR>
                    <a:lnT>
                      <a:noFill/>
                    </a:lnT>
                    <a:lnB w="7620">
                      <a:solidFill>
                        <a:srgbClr val="D9D9D9"/>
                      </a:solidFill>
                    </a:lnB>
                    <a:noFill/>
                  </a:tcPr>
                </a:tc>
              </a:tr>
            </a:tbl>
          </a:graphicData>
        </a:graphic>
      </p:graphicFrame>
      <p:sp>
        <p:nvSpPr>
          <p:cNvPr id="9" name="dbg-box"/>
          <p:cNvSpPr/>
          <p:nvPr/>
        </p:nvSpPr>
        <p:spPr>
          <a:xfrm>
            <a:off x="7086600" y="4292600"/>
            <a:ext cx="4495800" cy="1219200"/>
          </a:xfrm>
          <a:prstGeom prst="roundRect">
            <a:avLst>
              <a:gd name="adj" fmla="val 12000"/>
            </a:avLst>
          </a:prstGeom>
          <a:solidFill>
            <a:srgbClr val="F3F3F3"/>
          </a:solidFill>
          <a:ln>
            <a:noFill/>
          </a:ln>
        </p:spPr>
      </p:sp>
      <p:sp>
        <p:nvSpPr>
          <p:cNvPr id="10" name="dbg-box-t"/>
          <p:cNvSpPr txBox="1"/>
          <p:nvPr/>
        </p:nvSpPr>
        <p:spPr>
          <a:xfrm>
            <a:off x="7239000" y="4419600"/>
            <a:ext cx="41910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Two legs per call, always:</a:t>
            </a:r>
            <a:r>
              <a:rPr lang="en-US" sz="1000" noProof="1">
                <a:solidFill>
                  <a:srgbClr val="5A5A5A"/>
                </a:solidFill>
                <a:latin typeface="Liter"/>
                <a:ea typeface="MiSans"/>
              </a:rPr>
              <a:t> one inbound match and one outbound match. When a call fails, ask which leg failed — then debug it:</a:t>
            </a:r>
            <a:endParaRPr lang="en-US" sz="1000" noProof="1"/>
          </a:p>
          <a:p>
            <a:pPr>
              <a:lnSpc>
                <a:spcPct val="135000"/>
              </a:lnSpc>
              <a:spcBef>
                <a:spcPts val="600"/>
              </a:spcBef>
            </a:pPr>
            <a:r>
              <a:rPr lang="en-US" sz="850" noProof="1">
                <a:solidFill>
                  <a:srgbClr val="5A5A5A"/>
                </a:solidFill>
                <a:latin typeface="JetBrains Mono"/>
                <a:ea typeface="JetBrains Mono"/>
              </a:rPr>
              <a:t>debug isdn q931 · debug voip ccapi inout · debug ccsip messages</a:t>
            </a:r>
            <a:endParaRPr lang="en-US" sz="1000" noProof="1"/>
          </a:p>
        </p:txBody>
      </p:sp>
      <p:sp>
        <p:nvSpPr>
          <p:cNvPr id="11" name="match-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Debugs are loud — run them in a window with logging buffered and a filter, never blind on a production console.</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IOS Voice Configuration Library — dial peers, PRI and voice service commands; excerpt simplified for instruction</a:t>
            </a:r>
            <a:endParaRPr lang="en-US" sz="850" noProof="1"/>
          </a:p>
        </p:txBody>
      </p:sp>
      <p:sp>
        <p:nvSpPr>
          <p:cNvPr id="14" name="cml-footer-bar"/>
          <p:cNvSpPr/>
          <p:nvPr/>
        </p:nvSpPr>
        <p:spPr>
          <a:xfrm>
            <a:off x="0" y="6670000"/>
            <a:ext cx="12192000" cy="640000"/>
          </a:xfrm>
          <a:prstGeom prst="rect">
            <a:avLst/>
          </a:prstGeom>
          <a:solidFill>
            <a:srgbClr val="12161C"/>
          </a:solidFill>
          <a:ln>
            <a:noFill/>
          </a:ln>
        </p:spPr>
        <p:txBody>
          <a:bodyPr/>
          <a:lstStyle/>
          <a:p/>
        </p:txBody>
      </p:sp>
      <p:sp>
        <p:nvSpPr>
          <p:cNvPr id="15" name="cml-footer-rule"/>
          <p:cNvSpPr/>
          <p:nvPr/>
        </p:nvSpPr>
        <p:spPr>
          <a:xfrm>
            <a:off x="0" y="6670000"/>
            <a:ext cx="12192000" cy="19050"/>
          </a:xfrm>
          <a:prstGeom prst="rect">
            <a:avLst/>
          </a:prstGeom>
          <a:solidFill>
            <a:srgbClr val="2DD4BF"/>
          </a:solidFill>
          <a:ln>
            <a:noFill/>
          </a:ln>
        </p:spPr>
        <p:txBody>
          <a:bodyPr/>
          <a:lstStyle/>
          <a:p/>
        </p:txBody>
      </p:sp>
      <p:sp>
        <p:nvSpPr>
          <p:cNvPr id="1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8.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CUBE is the demarcation point: every external SIP call crosses the border element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Cisco Unified Border Element terminates the provider trunk on your router — protocol interworking, security boundary and SIP normalization in one place.</a:t>
            </a:r>
            <a:endParaRPr lang="en-US" sz="1100" noProof="1"/>
          </a:p>
        </p:txBody>
      </p:sp>
      <p:sp>
        <p:nvSpPr>
          <p:cNvPr id="4" name="what-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the border element does for you</a:t>
            </a:r>
            <a:endParaRPr lang="en-US" sz="1100" noProof="1"/>
          </a:p>
        </p:txBody>
      </p:sp>
      <p:sp>
        <p:nvSpPr>
          <p:cNvPr id="5" name="what-list"/>
          <p:cNvSpPr txBox="1"/>
          <p:nvPr/>
        </p:nvSpPr>
        <p:spPr>
          <a:xfrm>
            <a:off x="609600" y="1447800"/>
            <a:ext cx="5334000" cy="330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Demarcation and security</a:t>
            </a:r>
            <a:r>
              <a:rPr lang="en-US" sz="1250" noProof="1">
                <a:solidFill>
                  <a:srgbClr val="000000"/>
                </a:solidFill>
                <a:latin typeface="Liter"/>
                <a:ea typeface="MiSans"/>
              </a:rPr>
              <a:t> — the provider sees one controlled IP; your internal addressing and topology stay hidden; TLS/SRTP terminates here.</a:t>
            </a:r>
            <a:endParaRPr lang="en-US" sz="1250" noProof="1"/>
          </a:p>
          <a:p>
            <a:pPr>
              <a:lnSpc>
                <a:spcPct val="145000"/>
              </a:lnSpc>
              <a:spcBef>
                <a:spcPts val="1000"/>
              </a:spcBef>
            </a:pPr>
            <a:r>
              <a:rPr lang="en-US" sz="1250" noProof="1" b="1">
                <a:solidFill>
                  <a:srgbClr val="000000"/>
                </a:solidFill>
                <a:latin typeface="Liter"/>
                <a:ea typeface="MiSans"/>
              </a:rPr>
              <a:t>SIP normalization</a:t>
            </a:r>
            <a:r>
              <a:rPr lang="en-US" sz="1250" noProof="1">
                <a:solidFill>
                  <a:srgbClr val="000000"/>
                </a:solidFill>
                <a:latin typeface="Liter"/>
                <a:ea typeface="MiSans"/>
              </a:rPr>
              <a:t> — SIP profiles rewrite headers, divert headers, and number formats so two SIP dialects interoperate without either side changing.</a:t>
            </a:r>
            <a:endParaRPr lang="en-US" sz="1250" noProof="1"/>
          </a:p>
          <a:p>
            <a:pPr>
              <a:lnSpc>
                <a:spcPct val="145000"/>
              </a:lnSpc>
              <a:spcBef>
                <a:spcPts val="1000"/>
              </a:spcBef>
            </a:pPr>
            <a:r>
              <a:rPr lang="en-US" sz="1250" noProof="1" b="1">
                <a:solidFill>
                  <a:srgbClr val="000000"/>
                </a:solidFill>
                <a:latin typeface="Liter"/>
                <a:ea typeface="MiSans"/>
              </a:rPr>
              <a:t>Media anchoring</a:t>
            </a:r>
            <a:r>
              <a:rPr lang="en-US" sz="1250" noProof="1">
                <a:solidFill>
                  <a:srgbClr val="000000"/>
                </a:solidFill>
                <a:latin typeface="Liter"/>
                <a:ea typeface="MiSans"/>
              </a:rPr>
              <a:t> — RTP pins to the CUBE, enabling transcoding, DTMF interworking and lawful recording at the edge.</a:t>
            </a:r>
            <a:endParaRPr lang="en-US" sz="1250" noProof="1"/>
          </a:p>
          <a:p>
            <a:pPr>
              <a:lnSpc>
                <a:spcPct val="145000"/>
              </a:lnSpc>
              <a:spcBef>
                <a:spcPts val="1000"/>
              </a:spcBef>
            </a:pPr>
            <a:r>
              <a:rPr lang="en-US" sz="1250" noProof="1" b="1">
                <a:solidFill>
                  <a:srgbClr val="000000"/>
                </a:solidFill>
                <a:latin typeface="Liter"/>
                <a:ea typeface="MiSans"/>
              </a:rPr>
              <a:t>Connection management</a:t>
            </a:r>
            <a:r>
              <a:rPr lang="en-US" sz="1250" noProof="1">
                <a:solidFill>
                  <a:srgbClr val="000000"/>
                </a:solidFill>
                <a:latin typeface="Liter"/>
                <a:ea typeface="MiSans"/>
              </a:rPr>
              <a:t> — dial peers steer inbound and outbound legs; survivability options keep local calling up if CUCM is unreachable.</a:t>
            </a:r>
            <a:endParaRPr lang="en-US" sz="1250" noProof="1"/>
          </a:p>
        </p:txBody>
      </p:sp>
      <p:sp>
        <p:nvSpPr>
          <p:cNvPr id="6" name="what-note"/>
          <p:cNvSpPr/>
          <p:nvPr/>
        </p:nvSpPr>
        <p:spPr>
          <a:xfrm>
            <a:off x="609600" y="4927600"/>
            <a:ext cx="5334000" cy="990600"/>
          </a:xfrm>
          <a:prstGeom prst="roundRect">
            <a:avLst>
              <a:gd name="adj" fmla="val 12000"/>
            </a:avLst>
          </a:prstGeom>
          <a:solidFill>
            <a:srgbClr val="F3F3F3"/>
          </a:solidFill>
          <a:ln>
            <a:noFill/>
          </a:ln>
        </p:spPr>
      </p:sp>
      <p:sp>
        <p:nvSpPr>
          <p:cNvPr id="7" name="what-note-t"/>
          <p:cNvSpPr txBox="1"/>
          <p:nvPr/>
        </p:nvSpPr>
        <p:spPr>
          <a:xfrm>
            <a:off x="787400" y="5029200"/>
            <a:ext cx="50038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Same box, two names:</a:t>
            </a:r>
            <a:r>
              <a:rPr lang="en-US" sz="1000" noProof="1">
                <a:solidFill>
                  <a:srgbClr val="5A5A5A"/>
                </a:solidFill>
                <a:latin typeface="Liter"/>
                <a:ea typeface="MiSans"/>
              </a:rPr>
              <a:t> CUBE is the Cisco IOS XE function; "SBC" (session border controller) is the industry role. When a provider contract says SBC, they mean this layer — dedicated or combined on the site's ISR / Catalyst 8300.</a:t>
            </a:r>
            <a:endParaRPr lang="en-US" sz="1000" noProof="1"/>
          </a:p>
        </p:txBody>
      </p:sp>
      <p:sp>
        <p:nvSpPr>
          <p:cNvPr id="8" name="code-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Minimal CUBE excerpt (IOS XE)</a:t>
            </a:r>
            <a:endParaRPr lang="en-US" sz="1100" noProof="1"/>
          </a:p>
        </p:txBody>
      </p:sp>
      <p:sp>
        <p:nvSpPr>
          <p:cNvPr id="9" name="code-box"/>
          <p:cNvSpPr/>
          <p:nvPr/>
        </p:nvSpPr>
        <p:spPr>
          <a:xfrm>
            <a:off x="6477000" y="1447800"/>
            <a:ext cx="5105400" cy="3403600"/>
          </a:xfrm>
          <a:prstGeom prst="rect">
            <a:avLst/>
          </a:prstGeom>
          <a:solidFill>
            <a:srgbClr val="F8F8F8"/>
          </a:solidFill>
          <a:ln w="7620">
            <a:solidFill>
              <a:srgbClr val="CFCFCF"/>
            </a:solidFill>
          </a:ln>
        </p:spPr>
      </p:sp>
      <p:sp>
        <p:nvSpPr>
          <p:cNvPr id="10" name="code-text"/>
          <p:cNvSpPr txBox="1"/>
          <p:nvPr/>
        </p:nvSpPr>
        <p:spPr>
          <a:xfrm>
            <a:off x="6654800" y="1574800"/>
            <a:ext cx="4775200" cy="3175000"/>
          </a:xfrm>
          <a:prstGeom prst="rect">
            <a:avLst/>
          </a:prstGeom>
          <a:noFill/>
          <a:ln>
            <a:noFill/>
          </a:ln>
        </p:spPr>
        <p:txBody>
          <a:bodyPr lIns="0" rIns="0" tIns="0" bIns="0" wrap="square" rtlCol="0"/>
          <a:lstStyle/>
          <a:p>
            <a:pPr>
              <a:lnSpc>
                <a:spcPct val="140000"/>
              </a:lnSpc>
            </a:pPr>
            <a:r>
              <a:rPr lang="en-US" sz="900" noProof="1">
                <a:solidFill>
                  <a:srgbClr val="000000"/>
                </a:solidFill>
                <a:latin typeface="JetBrains Mono"/>
                <a:ea typeface="MiSans"/>
              </a:rPr>
              <a:t>! enable border element behavior</a:t>
            </a:r>
            <a:endParaRPr lang="en-US" sz="900" noProof="1"/>
          </a:p>
          <a:p>
            <a:pPr>
              <a:lnSpc>
                <a:spcPct val="140000"/>
              </a:lnSpc>
            </a:pPr>
            <a:r>
              <a:rPr lang="en-US" sz="900" noProof="1">
                <a:solidFill>
                  <a:srgbClr val="000000"/>
                </a:solidFill>
                <a:latin typeface="JetBrains Mono"/>
                <a:ea typeface="MiSans"/>
              </a:rPr>
              <a:t>voice service voip</a:t>
            </a:r>
            <a:endParaRPr lang="en-US" sz="900" noProof="1"/>
          </a:p>
          <a:p>
            <a:pPr>
              <a:lnSpc>
                <a:spcPct val="140000"/>
              </a:lnSpc>
            </a:pPr>
            <a:r>
              <a:rPr lang="en-US" sz="900" noProof="1">
                <a:solidFill>
                  <a:srgbClr val="000000"/>
                </a:solidFill>
                <a:latin typeface="JetBrains Mono"/>
                <a:ea typeface="MiSans"/>
              </a:rPr>
              <a:t> mode border-element</a:t>
            </a:r>
            <a:endParaRPr lang="en-US" sz="900" noProof="1"/>
          </a:p>
          <a:p>
            <a:pPr>
              <a:lnSpc>
                <a:spcPct val="140000"/>
              </a:lnSpc>
            </a:pPr>
            <a:r>
              <a:rPr lang="en-US" sz="900" noProof="1">
                <a:solidFill>
                  <a:srgbClr val="000000"/>
                </a:solidFill>
                <a:latin typeface="JetBrains Mono"/>
                <a:ea typeface="MiSans"/>
              </a:rPr>
              <a:t> allow-connections sip to sip</a:t>
            </a:r>
            <a:endParaRPr lang="en-US" sz="900" noProof="1"/>
          </a:p>
          <a:p>
            <a:pPr>
              <a:lnSpc>
                <a:spcPct val="140000"/>
              </a:lnSpc>
            </a:pPr>
            <a:r>
              <a:rPr lang="en-US" sz="900" noProof="1">
                <a:solidFill>
                  <a:srgbClr val="000000"/>
                </a:solidFill>
                <a:latin typeface="JetBrains Mono"/>
                <a:ea typeface="MiSans"/>
              </a:rPr>
              <a:t> sip</a:t>
            </a:r>
            <a:endParaRPr lang="en-US" sz="900" noProof="1"/>
          </a:p>
          <a:p>
            <a:pPr>
              <a:lnSpc>
                <a:spcPct val="140000"/>
              </a:lnSpc>
            </a:pPr>
            <a:r>
              <a:rPr lang="en-US" sz="900" noProof="1">
                <a:solidFill>
                  <a:srgbClr val="000000"/>
                </a:solidFill>
                <a:latin typeface="JetBrains Mono"/>
                <a:ea typeface="MiSans"/>
              </a:rPr>
              <a:t>  bind control source-interface Gi0/0/1</a:t>
            </a:r>
            <a:endParaRPr lang="en-US" sz="900" noProof="1"/>
          </a:p>
          <a:p>
            <a:pPr>
              <a:lnSpc>
                <a:spcPct val="140000"/>
              </a:lnSpc>
            </a:pPr>
            <a:r>
              <a:rPr lang="en-US" sz="900" noProof="1">
                <a:solidFill>
                  <a:srgbClr val="000000"/>
                </a:solidFill>
                <a:latin typeface="JetBrains Mono"/>
                <a:ea typeface="MiSans"/>
              </a:rPr>
              <a:t>  bind media  source-interface Gi0/0/1</a:t>
            </a:r>
            <a:endParaRPr lang="en-US" sz="900" noProof="1"/>
          </a:p>
          <a:p>
            <a:pPr>
              <a:lnSpc>
                <a:spcPct val="140000"/>
              </a:lnSpc>
            </a:pPr>
            <a:r>
              <a:rPr lang="en-US" sz="900" noProof="1">
                <a:solidFill>
                  <a:srgbClr val="000000"/>
                </a:solidFill>
                <a:latin typeface="JetBrains Mono"/>
                <a:ea typeface="MiSans"/>
              </a:rPr>
              <a:t>! outbound leg to the provider</a:t>
            </a:r>
            <a:endParaRPr lang="en-US" sz="900" noProof="1"/>
          </a:p>
          <a:p>
            <a:pPr>
              <a:lnSpc>
                <a:spcPct val="140000"/>
              </a:lnSpc>
            </a:pPr>
            <a:r>
              <a:rPr lang="en-US" sz="900" noProof="1">
                <a:solidFill>
                  <a:srgbClr val="000000"/>
                </a:solidFill>
                <a:latin typeface="JetBrains Mono"/>
                <a:ea typeface="MiSans"/>
              </a:rPr>
              <a:t>dial-peer voice 10 voip</a:t>
            </a:r>
            <a:endParaRPr lang="en-US" sz="900" noProof="1"/>
          </a:p>
          <a:p>
            <a:pPr>
              <a:lnSpc>
                <a:spcPct val="140000"/>
              </a:lnSpc>
            </a:pPr>
            <a:r>
              <a:rPr lang="en-US" sz="900" noProof="1">
                <a:solidFill>
                  <a:srgbClr val="000000"/>
                </a:solidFill>
                <a:latin typeface="JetBrains Mono"/>
                <a:ea typeface="MiSans"/>
              </a:rPr>
              <a:t> destination-pattern </a:t>
            </a:r>
            <a:r>
              <a:rPr lang="en-US" sz="900" noProof="1" b="1">
                <a:solidFill>
                  <a:srgbClr val="000000"/>
                </a:solidFill>
                <a:latin typeface="JetBrains Mono"/>
                <a:ea typeface="MiSans"/>
              </a:rPr>
              <a:t>+1T</a:t>
            </a:r>
            <a:endParaRPr lang="en-US" sz="900" noProof="1"/>
          </a:p>
          <a:p>
            <a:pPr>
              <a:lnSpc>
                <a:spcPct val="140000"/>
              </a:lnSpc>
            </a:pPr>
            <a:r>
              <a:rPr lang="en-US" sz="900" noProof="1">
                <a:solidFill>
                  <a:srgbClr val="000000"/>
                </a:solidFill>
                <a:latin typeface="JetBrains Mono"/>
                <a:ea typeface="MiSans"/>
              </a:rPr>
              <a:t> session target ipv4:</a:t>
            </a:r>
            <a:r>
              <a:rPr lang="en-US" sz="900" noProof="1" b="1">
                <a:solidFill>
                  <a:srgbClr val="000000"/>
                </a:solidFill>
                <a:latin typeface="JetBrains Mono"/>
                <a:ea typeface="MiSans"/>
              </a:rPr>
              <a:t>198.51.100.20</a:t>
            </a:r>
            <a:endParaRPr lang="en-US" sz="900" noProof="1"/>
          </a:p>
          <a:p>
            <a:pPr>
              <a:lnSpc>
                <a:spcPct val="140000"/>
              </a:lnSpc>
            </a:pPr>
            <a:r>
              <a:rPr lang="en-US" sz="900" noProof="1">
                <a:solidFill>
                  <a:srgbClr val="000000"/>
                </a:solidFill>
                <a:latin typeface="JetBrains Mono"/>
                <a:ea typeface="MiSans"/>
              </a:rPr>
              <a:t> voice-class sip profiles 100</a:t>
            </a:r>
            <a:endParaRPr lang="en-US" sz="900" noProof="1"/>
          </a:p>
          <a:p>
            <a:pPr>
              <a:lnSpc>
                <a:spcPct val="140000"/>
              </a:lnSpc>
            </a:pPr>
            <a:r>
              <a:rPr lang="en-US" sz="900" noProof="1">
                <a:solidFill>
                  <a:srgbClr val="000000"/>
                </a:solidFill>
                <a:latin typeface="JetBrains Mono"/>
                <a:ea typeface="MiSans"/>
              </a:rPr>
              <a:t> dtmf-relay rtp-nte</a:t>
            </a:r>
            <a:endParaRPr lang="en-US" sz="900" noProof="1"/>
          </a:p>
          <a:p>
            <a:pPr>
              <a:lnSpc>
                <a:spcPct val="140000"/>
              </a:lnSpc>
            </a:pPr>
            <a:r>
              <a:rPr lang="en-US" sz="900" noProof="1">
                <a:solidFill>
                  <a:srgbClr val="000000"/>
                </a:solidFill>
                <a:latin typeface="JetBrains Mono"/>
                <a:ea typeface="MiSans"/>
              </a:rPr>
              <a:t> codec g711ulaw</a:t>
            </a:r>
            <a:endParaRPr lang="en-US" sz="900" noProof="1"/>
          </a:p>
          <a:p>
            <a:pPr>
              <a:lnSpc>
                <a:spcPct val="140000"/>
              </a:lnSpc>
            </a:pPr>
            <a:r>
              <a:rPr lang="en-US" sz="900" noProof="1">
                <a:solidFill>
                  <a:srgbClr val="000000"/>
                </a:solidFill>
                <a:latin typeface="JetBrains Mono"/>
                <a:ea typeface="MiSans"/>
              </a:rPr>
              <a:t>! normalize to E.164 for the provider</a:t>
            </a:r>
            <a:endParaRPr lang="en-US" sz="900" noProof="1"/>
          </a:p>
          <a:p>
            <a:pPr>
              <a:lnSpc>
                <a:spcPct val="140000"/>
              </a:lnSpc>
            </a:pPr>
            <a:r>
              <a:rPr lang="en-US" sz="900" noProof="1">
                <a:solidFill>
                  <a:srgbClr val="000000"/>
                </a:solidFill>
                <a:latin typeface="JetBrains Mono"/>
                <a:ea typeface="MiSans"/>
              </a:rPr>
              <a:t>voice class sip-profiles 100</a:t>
            </a:r>
            <a:endParaRPr lang="en-US" sz="900" noProof="1"/>
          </a:p>
          <a:p>
            <a:pPr>
              <a:lnSpc>
                <a:spcPct val="140000"/>
              </a:lnSpc>
            </a:pPr>
            <a:r>
              <a:rPr lang="en-US" sz="900" noProof="1">
                <a:solidFill>
                  <a:srgbClr val="000000"/>
                </a:solidFill>
                <a:latin typeface="JetBrains Mono"/>
                <a:ea typeface="MiSans"/>
              </a:rPr>
              <a:t> rule 1 request ANY sip-header</a:t>
            </a:r>
            <a:endParaRPr lang="en-US" sz="900" noProof="1"/>
          </a:p>
          <a:p>
            <a:pPr>
              <a:lnSpc>
                <a:spcPct val="140000"/>
              </a:lnSpc>
            </a:pPr>
            <a:r>
              <a:rPr lang="en-US" sz="900" noProof="1">
                <a:solidFill>
                  <a:srgbClr val="000000"/>
                </a:solidFill>
                <a:latin typeface="JetBrains Mono"/>
                <a:ea typeface="MiSans"/>
              </a:rPr>
              <a:t>  To modify "@(.*)&gt;" "@\1&gt;"</a:t>
            </a:r>
            <a:endParaRPr lang="en-US" sz="900" noProof="1"/>
          </a:p>
        </p:txBody>
      </p:sp>
      <p:sp>
        <p:nvSpPr>
          <p:cNvPr id="11" name="code-note"/>
          <p:cNvSpPr txBox="1"/>
          <p:nvPr/>
        </p:nvSpPr>
        <p:spPr>
          <a:xfrm>
            <a:off x="6477000" y="5003800"/>
            <a:ext cx="5105400" cy="965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Two dial peers per call — one leg faces CUCM, one faces the provider; </a:t>
            </a:r>
            <a:r>
              <a:rPr lang="en-US" sz="1000" noProof="1" b="1">
                <a:solidFill>
                  <a:srgbClr val="5A5A5A"/>
                </a:solidFill>
                <a:latin typeface="Liter"/>
                <a:ea typeface="MiSans"/>
              </a:rPr>
              <a:t>bind</a:t>
            </a:r>
            <a:r>
              <a:rPr lang="en-US" sz="1000" noProof="1">
                <a:solidFill>
                  <a:srgbClr val="5A5A5A"/>
                </a:solidFill>
                <a:latin typeface="Liter"/>
                <a:ea typeface="MiSans"/>
              </a:rPr>
              <a:t> pins SIP and RTP to a known interface; the SIP profile is where last-resort interworking fixes live. IPs and patterns are placeholders.</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CUBE configuration guide (IOS XE) and SIP trunk provider interoperability guides, cisco.com; excerpt simplified</a:t>
            </a:r>
            <a:endParaRPr lang="en-US" sz="850" noProof="1"/>
          </a:p>
        </p:txBody>
      </p:sp>
      <p:sp>
        <p:nvSpPr>
          <p:cNvPr id="14" name="cml-footer-bar"/>
          <p:cNvSpPr/>
          <p:nvPr/>
        </p:nvSpPr>
        <p:spPr>
          <a:xfrm>
            <a:off x="0" y="6670000"/>
            <a:ext cx="12192000" cy="640000"/>
          </a:xfrm>
          <a:prstGeom prst="rect">
            <a:avLst/>
          </a:prstGeom>
          <a:solidFill>
            <a:srgbClr val="12161C"/>
          </a:solidFill>
          <a:ln>
            <a:noFill/>
          </a:ln>
        </p:spPr>
        <p:txBody>
          <a:bodyPr/>
          <a:lstStyle/>
          <a:p/>
        </p:txBody>
      </p:sp>
      <p:sp>
        <p:nvSpPr>
          <p:cNvPr id="15" name="cml-footer-rule"/>
          <p:cNvSpPr/>
          <p:nvPr/>
        </p:nvSpPr>
        <p:spPr>
          <a:xfrm>
            <a:off x="0" y="6670000"/>
            <a:ext cx="12192000" cy="19050"/>
          </a:xfrm>
          <a:prstGeom prst="rect">
            <a:avLst/>
          </a:prstGeom>
          <a:solidFill>
            <a:srgbClr val="2DD4BF"/>
          </a:solidFill>
          <a:ln>
            <a:noFill/>
          </a:ln>
        </p:spPr>
        <p:txBody>
          <a:bodyPr/>
          <a:lstStyle/>
          <a:p/>
        </p:txBody>
      </p:sp>
      <p:sp>
        <p:nvSpPr>
          <p:cNvPr id="1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1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Voice security is layered: encrypt signaling and media, then control who may dial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Encryption protects confidentiality; dial-plan policy and edge control stop fraud — most real incidents are fraud, not eavesdropping.</a:t>
            </a:r>
            <a:endParaRPr lang="en-US" sz="1100" noProof="1"/>
          </a:p>
        </p:txBody>
      </p:sp>
      <p:sp>
        <p:nvSpPr>
          <p:cNvPr id="4" name="layer-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layers, inside out</a:t>
            </a:r>
            <a:endParaRPr lang="en-US" sz="1100" noProof="1"/>
          </a:p>
        </p:txBody>
      </p:sp>
      <p:sp>
        <p:nvSpPr>
          <p:cNvPr id="5" name="sec1"/>
          <p:cNvSpPr/>
          <p:nvPr/>
        </p:nvSpPr>
        <p:spPr>
          <a:xfrm>
            <a:off x="609600" y="1473200"/>
            <a:ext cx="5334000" cy="812800"/>
          </a:xfrm>
          <a:prstGeom prst="rect">
            <a:avLst/>
          </a:prstGeom>
          <a:solidFill>
            <a:srgbClr val="F7F5F0"/>
          </a:solidFill>
          <a:ln w="10160">
            <a:solidFill>
              <a:srgbClr val="333333"/>
            </a:solidFill>
          </a:ln>
        </p:spPr>
      </p:sp>
      <p:sp>
        <p:nvSpPr>
          <p:cNvPr id="6" name="sec1t"/>
          <p:cNvSpPr txBox="1"/>
          <p:nvPr/>
        </p:nvSpPr>
        <p:spPr>
          <a:xfrm>
            <a:off x="762000" y="15494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Device identity</a:t>
            </a:r>
            <a:r>
              <a:rPr lang="en-US" sz="1000" noProof="1">
                <a:solidFill>
                  <a:srgbClr val="333333"/>
                </a:solidFill>
                <a:latin typeface="Liter"/>
                <a:ea typeface="MiSans"/>
              </a:rPr>
              <a:t> — every phone carries an LSC (locally significant certificate) issued by CAPF; the CTL file signs the config it downloads. No certificate, no registration.</a:t>
            </a:r>
            <a:endParaRPr lang="en-US" sz="1000" noProof="1"/>
          </a:p>
        </p:txBody>
      </p:sp>
      <p:sp>
        <p:nvSpPr>
          <p:cNvPr id="7" name="sec2"/>
          <p:cNvSpPr/>
          <p:nvPr/>
        </p:nvSpPr>
        <p:spPr>
          <a:xfrm>
            <a:off x="609600" y="2438400"/>
            <a:ext cx="5334000" cy="812800"/>
          </a:xfrm>
          <a:prstGeom prst="rect">
            <a:avLst/>
          </a:prstGeom>
          <a:solidFill>
            <a:srgbClr val="F7F5F0"/>
          </a:solidFill>
          <a:ln w="10160">
            <a:solidFill>
              <a:srgbClr val="333333"/>
            </a:solidFill>
          </a:ln>
        </p:spPr>
      </p:sp>
      <p:sp>
        <p:nvSpPr>
          <p:cNvPr id="8" name="sec2t"/>
          <p:cNvSpPr txBox="1"/>
          <p:nvPr/>
        </p:nvSpPr>
        <p:spPr>
          <a:xfrm>
            <a:off x="762000" y="25146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Encrypted signaling and media</a:t>
            </a:r>
            <a:r>
              <a:rPr lang="en-US" sz="1000" noProof="1">
                <a:solidFill>
                  <a:srgbClr val="333333"/>
                </a:solidFill>
                <a:latin typeface="Liter"/>
                <a:ea typeface="MiSans"/>
              </a:rPr>
              <a:t> — SIP over TLS between CUCM, phones and trunks; </a:t>
            </a:r>
            <a:r>
              <a:rPr lang="en-US" sz="1000" noProof="1" b="1">
                <a:solidFill>
                  <a:srgbClr val="000000"/>
                </a:solidFill>
                <a:latin typeface="Liter"/>
                <a:ea typeface="MiSans"/>
              </a:rPr>
              <a:t>SRTP</a:t>
            </a:r>
            <a:r>
              <a:rPr lang="en-US" sz="1000" noProof="1">
                <a:solidFill>
                  <a:srgbClr val="333333"/>
                </a:solidFill>
                <a:latin typeface="Liter"/>
                <a:ea typeface="MiSans"/>
              </a:rPr>
              <a:t> encrypts the voice stream itself. Enabled per security profile.</a:t>
            </a:r>
            <a:endParaRPr lang="en-US" sz="1000" noProof="1"/>
          </a:p>
        </p:txBody>
      </p:sp>
      <p:sp>
        <p:nvSpPr>
          <p:cNvPr id="9" name="sec3"/>
          <p:cNvSpPr/>
          <p:nvPr/>
        </p:nvSpPr>
        <p:spPr>
          <a:xfrm>
            <a:off x="609600" y="3403600"/>
            <a:ext cx="5334000" cy="812800"/>
          </a:xfrm>
          <a:prstGeom prst="rect">
            <a:avLst/>
          </a:prstGeom>
          <a:solidFill>
            <a:srgbClr val="F7F5F0"/>
          </a:solidFill>
          <a:ln w="10160">
            <a:solidFill>
              <a:srgbClr val="333333"/>
            </a:solidFill>
          </a:ln>
        </p:spPr>
      </p:sp>
      <p:sp>
        <p:nvSpPr>
          <p:cNvPr id="10" name="sec3t"/>
          <p:cNvSpPr txBox="1"/>
          <p:nvPr/>
        </p:nvSpPr>
        <p:spPr>
          <a:xfrm>
            <a:off x="762000" y="34798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Toll-fraud policy</a:t>
            </a:r>
            <a:r>
              <a:rPr lang="en-US" sz="1000" noProof="1">
                <a:solidFill>
                  <a:srgbClr val="333333"/>
                </a:solidFill>
                <a:latin typeface="Liter"/>
                <a:ea typeface="MiSans"/>
              </a:rPr>
              <a:t> — restrictive CSS on trunks and lobby devices, blocked premium-rate patterns, FAC / CMC codes for costly routes, and CDR alerting on anomalies.</a:t>
            </a:r>
            <a:endParaRPr lang="en-US" sz="1000" noProof="1"/>
          </a:p>
        </p:txBody>
      </p:sp>
      <p:sp>
        <p:nvSpPr>
          <p:cNvPr id="11" name="sec4"/>
          <p:cNvSpPr/>
          <p:nvPr/>
        </p:nvSpPr>
        <p:spPr>
          <a:xfrm>
            <a:off x="609600" y="4368800"/>
            <a:ext cx="5334000" cy="812800"/>
          </a:xfrm>
          <a:prstGeom prst="rect">
            <a:avLst/>
          </a:prstGeom>
          <a:solidFill>
            <a:srgbClr val="F7F5F0"/>
          </a:solidFill>
          <a:ln w="10160">
            <a:solidFill>
              <a:srgbClr val="333333"/>
            </a:solidFill>
          </a:ln>
        </p:spPr>
      </p:sp>
      <p:sp>
        <p:nvSpPr>
          <p:cNvPr id="12" name="sec4t"/>
          <p:cNvSpPr txBox="1"/>
          <p:nvPr/>
        </p:nvSpPr>
        <p:spPr>
          <a:xfrm>
            <a:off x="762000" y="4445000"/>
            <a:ext cx="50292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Edge control</a:t>
            </a:r>
            <a:r>
              <a:rPr lang="en-US" sz="1000" noProof="1">
                <a:solidFill>
                  <a:srgbClr val="333333"/>
                </a:solidFill>
                <a:latin typeface="Liter"/>
                <a:ea typeface="MiSans"/>
              </a:rPr>
              <a:t> — CUBE/SBC terminates external SIP with topology hiding, TLS, and call admission limits; firewall rules allow only the documented ports.</a:t>
            </a:r>
            <a:endParaRPr lang="en-US" sz="1000" noProof="1"/>
          </a:p>
        </p:txBody>
      </p:sp>
      <p:sp>
        <p:nvSpPr>
          <p:cNvPr id="13" name="fraud-h"/>
          <p:cNvSpPr txBox="1"/>
          <p:nvPr/>
        </p:nvSpPr>
        <p:spPr>
          <a:xfrm>
            <a:off x="6477000" y="1143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Why toll fraud gets the most attention</a:t>
            </a:r>
            <a:endParaRPr lang="en-US" sz="1100" noProof="1"/>
          </a:p>
        </p:txBody>
      </p:sp>
      <p:sp>
        <p:nvSpPr>
          <p:cNvPr id="14" name="fraud-text"/>
          <p:cNvSpPr txBox="1"/>
          <p:nvPr/>
        </p:nvSpPr>
        <p:spPr>
          <a:xfrm>
            <a:off x="6477000" y="1447800"/>
            <a:ext cx="5105400" cy="2159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classic attack chain: scan for exposed gateways or weak voicemail PINs → gain dial-out → generate premium-rate calls overnight. The cost lands on your trunk bill; the run is measured in </a:t>
            </a:r>
            <a:r>
              <a:rPr lang="en-US" sz="1250" noProof="1" b="1">
                <a:solidFill>
                  <a:srgbClr val="000000"/>
                </a:solidFill>
                <a:latin typeface="Liter"/>
                <a:ea typeface="MiSans"/>
              </a:rPr>
              <a:t>hours, not weeks</a:t>
            </a:r>
            <a:r>
              <a:rPr lang="en-US" sz="1250" noProof="1">
                <a:solidFill>
                  <a:srgbClr val="000000"/>
                </a:solidFill>
                <a:latin typeface="Liter"/>
                <a:ea typeface="MiSans"/>
              </a:rPr>
              <a:t>.</a:t>
            </a:r>
            <a:endParaRPr lang="en-US" sz="1250" noProof="1"/>
          </a:p>
          <a:p>
            <a:pPr>
              <a:lnSpc>
                <a:spcPct val="145000"/>
              </a:lnSpc>
              <a:spcBef>
                <a:spcPts val="1000"/>
              </a:spcBef>
            </a:pPr>
            <a:r>
              <a:rPr lang="en-US" sz="1250" noProof="1" b="1">
                <a:solidFill>
                  <a:srgbClr val="000000"/>
                </a:solidFill>
                <a:latin typeface="Liter"/>
                <a:ea typeface="MiSans"/>
              </a:rPr>
              <a:t>The controls that actually stop it</a:t>
            </a:r>
            <a:r>
              <a:rPr lang="en-US" sz="1250" noProof="1">
                <a:solidFill>
                  <a:srgbClr val="000000"/>
                </a:solidFill>
                <a:latin typeface="Liter"/>
                <a:ea typeface="MiSans"/>
              </a:rPr>
              <a:t> are mundane: strong voicemail PIN policy, no unauthenticated dial-out on inbound trunk legs, blocked prefixes for premium and unusual international ranges, and after-hours call restrictions on unused devices.</a:t>
            </a:r>
            <a:endParaRPr lang="en-US" sz="1250" noProof="1"/>
          </a:p>
        </p:txBody>
      </p:sp>
      <p:sp>
        <p:nvSpPr>
          <p:cNvPr id="15" name="chk-h"/>
          <p:cNvSpPr txBox="1"/>
          <p:nvPr/>
        </p:nvSpPr>
        <p:spPr>
          <a:xfrm>
            <a:off x="6477000" y="3810000"/>
            <a:ext cx="5105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Minimum hardening checklist</a:t>
            </a:r>
            <a:endParaRPr lang="en-US" sz="1100" noProof="1"/>
          </a:p>
        </p:txBody>
      </p:sp>
      <p:graphicFrame>
        <p:nvGraphicFramePr>
          <p:cNvPr id="16" name="chk-table"/>
          <p:cNvGraphicFramePr>
            <a:graphicFrameLocks noGrp="1"/>
          </p:cNvGraphicFramePr>
          <p:nvPr/>
        </p:nvGraphicFramePr>
        <p:xfrm>
          <a:off x="6477000" y="4114800"/>
          <a:ext cx="5105400" cy="1778000"/>
        </p:xfrm>
        <a:graphic>
          <a:graphicData uri="http://schemas.openxmlformats.org/drawingml/2006/table">
            <a:tbl>
              <a:tblPr/>
              <a:tblGrid>
                <a:gridCol w="408432"/>
                <a:gridCol w="4696968"/>
              </a:tblGrid>
              <a:tr h="355600">
                <a:tc>
                  <a:txBody>
                    <a:bodyPr wrap="square" rtlCol="0" anchor="ctr"/>
                    <a:lstStyle/>
                    <a:p>
                      <a:pPr algn="l"/>
                      <a:r>
                        <a:rPr lang="en-US" sz="1050" noProof="1" b="1">
                          <a:solidFill>
                            <a:srgbClr val="000000"/>
                          </a:solidFill>
                          <a:latin typeface="Liter"/>
                          <a:ea typeface="MiSans"/>
                        </a:rPr>
                        <a:t>1</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Mixed-mode cluster security with CTL on every phone</a:t>
                      </a:r>
                    </a:p>
                  </a:txBody>
                  <a:tcPr marL="91440" marR="91440" marT="45720" marB="45720" anchor="ctr">
                    <a:lnL>
                      <a:noFill/>
                    </a:lnL>
                    <a:lnR>
                      <a:noFill/>
                    </a:lnR>
                    <a:lnT>
                      <a:noFill/>
                    </a:lnT>
                    <a:lnB w="15240">
                      <a:solidFill>
                        <a:srgbClr val="000000"/>
                      </a:solidFill>
                    </a:lnB>
                    <a:noFill/>
                  </a:tcPr>
                </a:tc>
              </a:tr>
              <a:tr h="355600">
                <a:tc>
                  <a:txBody>
                    <a:bodyPr wrap="square" rtlCol="0" anchor="ctr"/>
                    <a:lstStyle/>
                    <a:p>
                      <a:pPr algn="l"/>
                      <a:r>
                        <a:rPr lang="en-US" sz="1050" noProof="1">
                          <a:solidFill>
                            <a:srgbClr val="000000"/>
                          </a:solidFill>
                          <a:latin typeface="Liter"/>
                          <a:ea typeface="MiSans"/>
                        </a:rPr>
                        <a:t>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TLS trunks and SRTP where the far end supports it</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Block premium / unused international prefixes in route patterns</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PIN minimums, lockout, no default passwords</a:t>
                      </a:r>
                    </a:p>
                  </a:txBody>
                  <a:tcPr marL="91440" marR="91440" marT="45720" marB="45720" anchor="ctr">
                    <a:lnL>
                      <a:noFill/>
                    </a:lnL>
                    <a:lnR>
                      <a:noFill/>
                    </a:lnR>
                    <a:lnT>
                      <a:noFill/>
                    </a:lnT>
                    <a:lnB w="7620">
                      <a:solidFill>
                        <a:srgbClr val="D9D9D9"/>
                      </a:solidFill>
                    </a:lnB>
                    <a:noFill/>
                  </a:tcPr>
                </a:tc>
              </a:tr>
              <a:tr h="355600">
                <a:tc>
                  <a:txBody>
                    <a:bodyPr wrap="square" rtlCol="0" anchor="ctr"/>
                    <a:lstStyle/>
                    <a:p>
                      <a:pPr algn="l"/>
                      <a:r>
                        <a:rPr lang="en-US" sz="1050" noProof="1">
                          <a:solidFill>
                            <a:srgbClr val="000000"/>
                          </a:solidFill>
                          <a:latin typeface="Liter"/>
                          <a:ea typeface="MiSans"/>
                        </a:rPr>
                        <a:t>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CDR anomaly report reviewed weekly (after-hours volume, odd destinations)</a:t>
                      </a:r>
                    </a:p>
                  </a:txBody>
                  <a:tcPr marL="91440" marR="91440" marT="45720" marB="45720" anchor="ctr">
                    <a:lnL>
                      <a:noFill/>
                    </a:lnL>
                    <a:lnR>
                      <a:noFill/>
                    </a:lnR>
                    <a:lnT>
                      <a:noFill/>
                    </a:lnT>
                    <a:lnB w="7620">
                      <a:solidFill>
                        <a:srgbClr val="D9D9D9"/>
                      </a:solidFill>
                    </a:lnB>
                    <a:noFill/>
                  </a:tcPr>
                </a:tc>
              </a:tr>
            </a:tbl>
          </a:graphicData>
        </a:graphic>
      </p:graphicFrame>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Security Guide and SRND security sections, cisco.com; fraud narrative is the industry-standard pattern, not a specific incident</a:t>
            </a:r>
            <a:endParaRPr lang="en-US" sz="850" noProof="1"/>
          </a:p>
        </p:txBody>
      </p:sp>
      <p:sp>
        <p:nvSpPr>
          <p:cNvPr id="19" name="cml-footer-bar"/>
          <p:cNvSpPr/>
          <p:nvPr/>
        </p:nvSpPr>
        <p:spPr>
          <a:xfrm>
            <a:off x="0" y="6670000"/>
            <a:ext cx="12192000" cy="640000"/>
          </a:xfrm>
          <a:prstGeom prst="rect">
            <a:avLst/>
          </a:prstGeom>
          <a:solidFill>
            <a:srgbClr val="12161C"/>
          </a:solidFill>
          <a:ln>
            <a:noFill/>
          </a:ln>
        </p:spPr>
        <p:txBody>
          <a:bodyPr/>
          <a:lstStyle/>
          <a:p/>
        </p:txBody>
      </p:sp>
      <p:sp>
        <p:nvSpPr>
          <p:cNvPr id="20" name="cml-footer-rule"/>
          <p:cNvSpPr/>
          <p:nvPr/>
        </p:nvSpPr>
        <p:spPr>
          <a:xfrm>
            <a:off x="0" y="6670000"/>
            <a:ext cx="12192000" cy="19050"/>
          </a:xfrm>
          <a:prstGeom prst="rect">
            <a:avLst/>
          </a:prstGeom>
          <a:solidFill>
            <a:srgbClr val="2DD4BF"/>
          </a:solidFill>
          <a:ln>
            <a:noFill/>
          </a:ln>
        </p:spPr>
        <p:txBody>
          <a:bodyPr/>
          <a:lstStyle/>
          <a:p/>
        </p:txBody>
      </p:sp>
      <p:sp>
        <p:nvSpPr>
          <p:cNvPr id="2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Media resources do what endpoints cannot: transcode, conference, announce, hold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When a call needs a capability an endpoint lacks, CUCM inserts a media resource — from software on the cluster or DSP hardware on gateways.</a:t>
            </a:r>
            <a:endParaRPr lang="en-US" sz="1100" noProof="1"/>
          </a:p>
        </p:txBody>
      </p:sp>
      <p:sp>
        <p:nvSpPr>
          <p:cNvPr id="4" name="res-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resource types and when they engage</a:t>
            </a:r>
            <a:endParaRPr lang="en-US" sz="1100" noProof="1"/>
          </a:p>
        </p:txBody>
      </p:sp>
      <p:graphicFrame>
        <p:nvGraphicFramePr>
          <p:cNvPr id="5" name="res-table"/>
          <p:cNvGraphicFramePr>
            <a:graphicFrameLocks noGrp="1"/>
          </p:cNvGraphicFramePr>
          <p:nvPr/>
        </p:nvGraphicFramePr>
        <p:xfrm>
          <a:off x="609600" y="1447800"/>
          <a:ext cx="5715000" cy="3175000"/>
        </p:xfrm>
        <a:graphic>
          <a:graphicData uri="http://schemas.openxmlformats.org/drawingml/2006/table">
            <a:tbl>
              <a:tblPr/>
              <a:tblGrid>
                <a:gridCol w="1485900"/>
                <a:gridCol w="2400300"/>
                <a:gridCol w="1828800"/>
              </a:tblGrid>
              <a:tr h="412750">
                <a:tc>
                  <a:txBody>
                    <a:bodyPr wrap="square" rtlCol="0" anchor="ctr"/>
                    <a:lstStyle/>
                    <a:p>
                      <a:pPr algn="l"/>
                      <a:r>
                        <a:rPr lang="en-US" sz="1050" noProof="1" b="1">
                          <a:solidFill>
                            <a:srgbClr val="000000"/>
                          </a:solidFill>
                          <a:latin typeface="Liter"/>
                          <a:ea typeface="MiSans"/>
                        </a:rPr>
                        <a:t>Resource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Engaged when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Hosted on</a:t>
                      </a:r>
                    </a:p>
                  </a:txBody>
                  <a:tcPr marL="91440" marR="91440" marT="45720" marB="45720" anchor="ctr">
                    <a:lnL>
                      <a:noFill/>
                    </a:lnL>
                    <a:lnR>
                      <a:noFill/>
                    </a:lnR>
                    <a:lnT>
                      <a:noFill/>
                    </a:lnT>
                    <a:lnB w="15240">
                      <a:solidFill>
                        <a:srgbClr val="000000"/>
                      </a:solidFill>
                    </a:lnB>
                    <a:noFill/>
                  </a:tcPr>
                </a:tc>
              </a:tr>
              <a:tr h="690563">
                <a:tc>
                  <a:txBody>
                    <a:bodyPr wrap="square" rtlCol="0" anchor="ctr"/>
                    <a:lstStyle/>
                    <a:p>
                      <a:pPr algn="l"/>
                      <a:r>
                        <a:rPr lang="en-US" sz="1050" noProof="1">
                          <a:solidFill>
                            <a:srgbClr val="000000"/>
                          </a:solidFill>
                          <a:latin typeface="Liter"/>
                          <a:ea typeface="MiSans"/>
                        </a:rPr>
                        <a:t>Transcoder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codec mismatch, e.g. G.729 site ↔ G.711-only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DSPs (PVDM)</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Conference bridge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ad-hoc or meet-me conference exceeds phone capacity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DSPs or CUCM software</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MTP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DTMF / early-offer interworking on SIP legs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software or DSPs</a:t>
                      </a:r>
                    </a:p>
                  </a:txBody>
                  <a:tcPr marL="91440" marR="91440" marT="45720" marB="45720" anchor="ctr">
                    <a:lnL>
                      <a:noFill/>
                    </a:lnL>
                    <a:lnR>
                      <a:noFill/>
                    </a:lnR>
                    <a:lnT>
                      <a:noFill/>
                    </a:lnT>
                    <a:lnB w="7620">
                      <a:solidFill>
                        <a:srgbClr val="D9D9D9"/>
                      </a:solidFill>
                    </a:lnB>
                    <a:noFill/>
                  </a:tcPr>
                </a:tc>
              </a:tr>
              <a:tr h="690563">
                <a:tc>
                  <a:txBody>
                    <a:bodyPr wrap="square" rtlCol="0" anchor="ctr"/>
                    <a:lstStyle/>
                    <a:p>
                      <a:pPr algn="l"/>
                      <a:r>
                        <a:rPr lang="en-US" sz="1050" noProof="1">
                          <a:solidFill>
                            <a:srgbClr val="000000"/>
                          </a:solidFill>
                          <a:latin typeface="Liter"/>
                          <a:ea typeface="MiSans"/>
                        </a:rPr>
                        <a:t>Annunciator / MOH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system messages and music on hold streams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software</a:t>
                      </a:r>
                    </a:p>
                  </a:txBody>
                  <a:tcPr marL="91440" marR="91440" marT="45720" marB="45720" anchor="ctr">
                    <a:lnL>
                      <a:noFill/>
                    </a:lnL>
                    <a:lnR>
                      <a:noFill/>
                    </a:lnR>
                    <a:lnT>
                      <a:noFill/>
                    </a:lnT>
                    <a:lnB w="7620">
                      <a:solidFill>
                        <a:srgbClr val="D9D9D9"/>
                      </a:solidFill>
                    </a:lnB>
                    <a:noFill/>
                  </a:tcPr>
                </a:tc>
              </a:tr>
            </a:tbl>
          </a:graphicData>
        </a:graphic>
      </p:graphicFrame>
      <p:sp>
        <p:nvSpPr>
          <p:cNvPr id="6" name="res-note"/>
          <p:cNvSpPr txBox="1"/>
          <p:nvPr/>
        </p:nvSpPr>
        <p:spPr>
          <a:xfrm>
            <a:off x="609600" y="4826000"/>
            <a:ext cx="5715000" cy="127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Placement matters:</a:t>
            </a:r>
            <a:r>
              <a:rPr lang="en-US" sz="1250" noProof="1">
                <a:solidFill>
                  <a:srgbClr val="000000"/>
                </a:solidFill>
                <a:latin typeface="Liter"/>
                <a:ea typeface="MiSans"/>
              </a:rPr>
              <a:t> a transcoder in the wrong site forces media to hairpin across the WAN twice. Resources are grouped (MRG) and listed (MRGL), then assigned via the </a:t>
            </a:r>
            <a:r>
              <a:rPr lang="en-US" sz="1250" noProof="1" b="1">
                <a:solidFill>
                  <a:srgbClr val="000000"/>
                </a:solidFill>
                <a:latin typeface="Liter"/>
                <a:ea typeface="MiSans"/>
              </a:rPr>
              <a:t>device pool</a:t>
            </a:r>
            <a:r>
              <a:rPr lang="en-US" sz="1250" noProof="1">
                <a:solidFill>
                  <a:srgbClr val="000000"/>
                </a:solidFill>
                <a:latin typeface="Liter"/>
                <a:ea typeface="MiSans"/>
              </a:rPr>
              <a:t> — so the phone near the DSPs gets the DSPs.</a:t>
            </a:r>
            <a:endParaRPr lang="en-US" sz="1250" noProof="1"/>
          </a:p>
        </p:txBody>
      </p:sp>
      <p:sp>
        <p:nvSpPr>
          <p:cNvPr id="7" name="dtmf-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DTMF problem, in one box</a:t>
            </a:r>
            <a:endParaRPr lang="en-US" sz="1100" noProof="1"/>
          </a:p>
        </p:txBody>
      </p:sp>
      <p:sp>
        <p:nvSpPr>
          <p:cNvPr id="8" name="dtmf-box"/>
          <p:cNvSpPr/>
          <p:nvPr/>
        </p:nvSpPr>
        <p:spPr>
          <a:xfrm>
            <a:off x="6858000" y="1447800"/>
            <a:ext cx="4724400" cy="1498600"/>
          </a:xfrm>
          <a:prstGeom prst="roundRect">
            <a:avLst>
              <a:gd name="adj" fmla="val 12000"/>
            </a:avLst>
          </a:prstGeom>
          <a:solidFill>
            <a:srgbClr val="F3F3F3"/>
          </a:solidFill>
          <a:ln>
            <a:noFill/>
          </a:ln>
        </p:spPr>
      </p:sp>
      <p:sp>
        <p:nvSpPr>
          <p:cNvPr id="9" name="dtmf-box-t"/>
          <p:cNvSpPr txBox="1"/>
          <p:nvPr/>
        </p:nvSpPr>
        <p:spPr>
          <a:xfrm>
            <a:off x="7035800" y="1574800"/>
            <a:ext cx="4368800" cy="1270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DTMF interworking</a:t>
            </a:r>
            <a:r>
              <a:rPr lang="en-US" sz="1000" noProof="1">
                <a:solidFill>
                  <a:srgbClr val="5A5A5A"/>
                </a:solidFill>
                <a:latin typeface="Liter"/>
                <a:ea typeface="MiSans"/>
              </a:rPr>
              <a:t> — phones send keypad digits as RFC 2833 / RTP-NTE events; some SIP legs expect KPML or in-band audio. When the two ends disagree, IVR menus silently fail: callers press digits and nothing happens. An MTP inserted on the trunk translates between the methods — the classic fix for "the menu doesn't work on external calls."</a:t>
            </a:r>
            <a:endParaRPr lang="en-US" sz="1000" noProof="1"/>
          </a:p>
        </p:txBody>
      </p:sp>
      <p:sp>
        <p:nvSpPr>
          <p:cNvPr id="10" name="dtmf-h2"/>
          <p:cNvSpPr txBox="1"/>
          <p:nvPr/>
        </p:nvSpPr>
        <p:spPr>
          <a:xfrm>
            <a:off x="6858000" y="3175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Hardware vs software, the honest trade</a:t>
            </a:r>
            <a:endParaRPr lang="en-US" sz="1100" noProof="1"/>
          </a:p>
        </p:txBody>
      </p:sp>
      <p:sp>
        <p:nvSpPr>
          <p:cNvPr id="11" name="dtmf-text"/>
          <p:cNvSpPr txBox="1"/>
          <p:nvPr/>
        </p:nvSpPr>
        <p:spPr>
          <a:xfrm>
            <a:off x="6858000" y="3479800"/>
            <a:ext cx="4724400" cy="248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Software resources</a:t>
            </a:r>
            <a:r>
              <a:rPr lang="en-US" sz="1250" noProof="1">
                <a:solidFill>
                  <a:srgbClr val="000000"/>
                </a:solidFill>
                <a:latin typeface="Liter"/>
                <a:ea typeface="MiSans"/>
              </a:rPr>
              <a:t> on CUCM cost no hardware but consume server CPU and handle only G.711 streams.</a:t>
            </a:r>
            <a:endParaRPr lang="en-US" sz="1250" noProof="1"/>
          </a:p>
          <a:p>
            <a:pPr>
              <a:lnSpc>
                <a:spcPct val="145000"/>
              </a:lnSpc>
              <a:spcBef>
                <a:spcPts val="1000"/>
              </a:spcBef>
            </a:pPr>
            <a:r>
              <a:rPr lang="en-US" sz="1250" noProof="1" b="1">
                <a:solidFill>
                  <a:srgbClr val="000000"/>
                </a:solidFill>
                <a:latin typeface="Liter"/>
                <a:ea typeface="MiSans"/>
              </a:rPr>
              <a:t>DSP resources</a:t>
            </a:r>
            <a:r>
              <a:rPr lang="en-US" sz="1250" noProof="1">
                <a:solidFill>
                  <a:srgbClr val="000000"/>
                </a:solidFill>
                <a:latin typeface="Liter"/>
                <a:ea typeface="MiSans"/>
              </a:rPr>
              <a:t> on gateway PVDM modules handle any codec mix and large conference counts, but are finite — sessions are sized per module, so gateway DSP sizing belongs in the same capacity plan as trunk channels (Section 07).</a:t>
            </a:r>
            <a:endParaRPr lang="en-US" sz="1250" noProof="1"/>
          </a:p>
          <a:p>
            <a:pPr>
              <a:lnSpc>
                <a:spcPct val="145000"/>
              </a:lnSpc>
              <a:spcBef>
                <a:spcPts val="1000"/>
              </a:spcBef>
            </a:pPr>
            <a:r>
              <a:rPr lang="en-US" sz="1250" noProof="1">
                <a:solidFill>
                  <a:srgbClr val="000000"/>
                </a:solidFill>
                <a:latin typeface="Liter"/>
                <a:ea typeface="MiSans"/>
              </a:rPr>
              <a:t>Under-provisioned resources fail silently into user complaints: "conference won't start" or "call drops on transfer." Monitor session usage in RTMT before users notice.</a:t>
            </a:r>
            <a:endParaRPr lang="en-US" sz="125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media resources configuration and IOS DSP farm documentation, cisco.com</a:t>
            </a:r>
            <a:endParaRPr lang="en-US" sz="850" noProof="1"/>
          </a:p>
        </p:txBody>
      </p:sp>
      <p:sp>
        <p:nvSpPr>
          <p:cNvPr id="14" name="cml-footer-bar"/>
          <p:cNvSpPr/>
          <p:nvPr/>
        </p:nvSpPr>
        <p:spPr>
          <a:xfrm>
            <a:off x="0" y="6670000"/>
            <a:ext cx="12192000" cy="640000"/>
          </a:xfrm>
          <a:prstGeom prst="rect">
            <a:avLst/>
          </a:prstGeom>
          <a:solidFill>
            <a:srgbClr val="12161C"/>
          </a:solidFill>
          <a:ln>
            <a:noFill/>
          </a:ln>
        </p:spPr>
        <p:txBody>
          <a:bodyPr/>
          <a:lstStyle/>
          <a:p/>
        </p:txBody>
      </p:sp>
      <p:sp>
        <p:nvSpPr>
          <p:cNvPr id="15" name="cml-footer-rule"/>
          <p:cNvSpPr/>
          <p:nvPr/>
        </p:nvSpPr>
        <p:spPr>
          <a:xfrm>
            <a:off x="0" y="6670000"/>
            <a:ext cx="12192000" cy="19050"/>
          </a:xfrm>
          <a:prstGeom prst="rect">
            <a:avLst/>
          </a:prstGeom>
          <a:solidFill>
            <a:srgbClr val="2DD4BF"/>
          </a:solidFill>
          <a:ln>
            <a:noFill/>
          </a:ln>
        </p:spPr>
        <p:txBody>
          <a:bodyPr/>
          <a:lstStyle/>
          <a:p/>
        </p:txBody>
      </p:sp>
      <p:sp>
        <p:nvSpPr>
          <p:cNvPr id="1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1.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Small features, loud failures: music on hold, call park, and paging</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They carry no revenue and generate a steady share of tickets — because they touch multicast, partitions and legacy hardware at once.</a:t>
            </a:r>
            <a:endParaRPr lang="en-US" sz="1100" noProof="1"/>
          </a:p>
        </p:txBody>
      </p:sp>
      <p:sp>
        <p:nvSpPr>
          <p:cNvPr id="4" name="fea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features and their classic failure</a:t>
            </a:r>
            <a:endParaRPr lang="en-US" sz="1100" noProof="1"/>
          </a:p>
        </p:txBody>
      </p:sp>
      <p:graphicFrame>
        <p:nvGraphicFramePr>
          <p:cNvPr id="5" name="feat-table"/>
          <p:cNvGraphicFramePr>
            <a:graphicFrameLocks noGrp="1"/>
          </p:cNvGraphicFramePr>
          <p:nvPr/>
        </p:nvGraphicFramePr>
        <p:xfrm>
          <a:off x="609600" y="1447800"/>
          <a:ext cx="5969000" cy="2946400"/>
        </p:xfrm>
        <a:graphic>
          <a:graphicData uri="http://schemas.openxmlformats.org/drawingml/2006/table">
            <a:tbl>
              <a:tblPr/>
              <a:tblGrid>
                <a:gridCol w="1551940"/>
                <a:gridCol w="2387600"/>
                <a:gridCol w="2029460"/>
              </a:tblGrid>
              <a:tr h="324104">
                <a:tc>
                  <a:txBody>
                    <a:bodyPr wrap="square" rtlCol="0" anchor="ctr"/>
                    <a:lstStyle/>
                    <a:p>
                      <a:pPr algn="l"/>
                      <a:r>
                        <a:rPr lang="en-US" sz="1050" noProof="1" b="1">
                          <a:solidFill>
                            <a:srgbClr val="000000"/>
                          </a:solidFill>
                          <a:latin typeface="Liter"/>
                          <a:ea typeface="MiSans"/>
                        </a:rPr>
                        <a:t>Feature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How it works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Classic failure</a:t>
                      </a:r>
                    </a:p>
                  </a:txBody>
                  <a:tcPr marL="91440" marR="91440" marT="45720" marB="45720" anchor="ctr">
                    <a:lnL>
                      <a:noFill/>
                    </a:lnL>
                    <a:lnR>
                      <a:noFill/>
                    </a:lnR>
                    <a:lnT>
                      <a:noFill/>
                    </a:lnT>
                    <a:lnB w="15240">
                      <a:solidFill>
                        <a:srgbClr val="000000"/>
                      </a:solidFill>
                    </a:lnB>
                    <a:noFill/>
                  </a:tcPr>
                </a:tc>
              </a:tr>
              <a:tr h="875081">
                <a:tc>
                  <a:txBody>
                    <a:bodyPr wrap="square" rtlCol="0" anchor="ctr"/>
                    <a:lstStyle/>
                    <a:p>
                      <a:pPr algn="l"/>
                      <a:r>
                        <a:rPr lang="en-US" sz="1050" noProof="1">
                          <a:solidFill>
                            <a:srgbClr val="000000"/>
                          </a:solidFill>
                          <a:latin typeface="Liter"/>
                          <a:ea typeface="MiSans"/>
                        </a:rPr>
                        <a:t>Music on hold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MOH server streams unicast or multicast per device pool / MRGL; branches can source MOH from the gateway flash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silence on hold at branches — multicast routing (PIM) never enabled on the WAN</a:t>
                      </a:r>
                    </a:p>
                  </a:txBody>
                  <a:tcPr marL="91440" marR="91440" marT="45720" marB="45720" anchor="ctr">
                    <a:lnL>
                      <a:noFill/>
                    </a:lnL>
                    <a:lnR>
                      <a:noFill/>
                    </a:lnR>
                    <a:lnT>
                      <a:noFill/>
                    </a:lnT>
                    <a:lnB w="7620">
                      <a:solidFill>
                        <a:srgbClr val="D9D9D9"/>
                      </a:solidFill>
                    </a:lnB>
                    <a:noFill/>
                  </a:tcPr>
                </a:tc>
              </a:tr>
              <a:tr h="875081">
                <a:tc>
                  <a:txBody>
                    <a:bodyPr wrap="square" rtlCol="0" anchor="ctr"/>
                    <a:lstStyle/>
                    <a:p>
                      <a:pPr algn="l"/>
                      <a:r>
                        <a:rPr lang="en-US" sz="1050" noProof="1">
                          <a:solidFill>
                            <a:srgbClr val="000000"/>
                          </a:solidFill>
                          <a:latin typeface="Liter"/>
                          <a:ea typeface="MiSans"/>
                        </a:rPr>
                        <a:t>Call park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park DN ranges live in partitions; retrieval until the reversion timer rings the parking phone back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parked call vanishes — park range in a partition the retrieving CSS cannot see</a:t>
                      </a:r>
                    </a:p>
                  </a:txBody>
                  <a:tcPr marL="91440" marR="91440" marT="45720" marB="45720" anchor="ctr">
                    <a:lnL>
                      <a:noFill/>
                    </a:lnL>
                    <a:lnR>
                      <a:noFill/>
                    </a:lnR>
                    <a:lnT>
                      <a:noFill/>
                    </a:lnT>
                    <a:lnB w="7620">
                      <a:solidFill>
                        <a:srgbClr val="D9D9D9"/>
                      </a:solidFill>
                    </a:lnB>
                    <a:noFill/>
                  </a:tcPr>
                </a:tc>
              </a:tr>
              <a:tr h="872134">
                <a:tc>
                  <a:txBody>
                    <a:bodyPr wrap="square" rtlCol="0" anchor="ctr"/>
                    <a:lstStyle/>
                    <a:p>
                      <a:pPr algn="l"/>
                      <a:r>
                        <a:rPr lang="en-US" sz="1050" noProof="1">
                          <a:solidFill>
                            <a:srgbClr val="000000"/>
                          </a:solidFill>
                          <a:latin typeface="Liter"/>
                          <a:ea typeface="MiSans"/>
                        </a:rPr>
                        <a:t>Paging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 native paging in CUCM — InformaCast-style apps or FXS / loop-start adapters into ceiling amps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discovered at cutover — nobody scoped the warehouse and the fire-code paging zones</a:t>
                      </a:r>
                    </a:p>
                  </a:txBody>
                  <a:tcPr marL="91440" marR="91440" marT="45720" marB="45720" anchor="ctr">
                    <a:lnL>
                      <a:noFill/>
                    </a:lnL>
                    <a:lnR>
                      <a:noFill/>
                    </a:lnR>
                    <a:lnT>
                      <a:noFill/>
                    </a:lnT>
                    <a:lnB w="7620">
                      <a:solidFill>
                        <a:srgbClr val="D9D9D9"/>
                      </a:solidFill>
                    </a:lnB>
                    <a:noFill/>
                  </a:tcPr>
                </a:tc>
              </a:tr>
            </a:tbl>
          </a:graphicData>
        </a:graphic>
      </p:graphicFrame>
      <p:sp>
        <p:nvSpPr>
          <p:cNvPr id="6" name="feat-note"/>
          <p:cNvSpPr txBox="1"/>
          <p:nvPr/>
        </p:nvSpPr>
        <p:spPr>
          <a:xfrm>
            <a:off x="609600" y="45720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reversion timer is the safety net:</a:t>
            </a:r>
            <a:r>
              <a:rPr lang="en-US" sz="1250" noProof="1">
                <a:solidFill>
                  <a:srgbClr val="000000"/>
                </a:solidFill>
                <a:latin typeface="Liter"/>
                <a:ea typeface="MiSans"/>
              </a:rPr>
              <a:t> park reversion rings the parking phone back after (typically) 60 seconds — a parked call can be forgotten, never lost, when reversion and its CSS are right.</a:t>
            </a:r>
            <a:endParaRPr lang="en-US" sz="1250" noProof="1"/>
          </a:p>
          <a:p>
            <a:pPr>
              <a:lnSpc>
                <a:spcPct val="145000"/>
              </a:lnSpc>
              <a:spcBef>
                <a:spcPts val="800"/>
              </a:spcBef>
            </a:pPr>
            <a:r>
              <a:rPr lang="en-US" sz="1250" noProof="1">
                <a:solidFill>
                  <a:srgbClr val="000000"/>
                </a:solidFill>
                <a:latin typeface="Liter"/>
                <a:ea typeface="MiSans"/>
              </a:rPr>
              <a:t>Directed park with BLF monitoring lets receptionists see parked calls as line states — configure the BLF speed-dial list in the phone button template.</a:t>
            </a:r>
            <a:endParaRPr lang="en-US" sz="1250" noProof="1"/>
          </a:p>
        </p:txBody>
      </p:sp>
      <p:sp>
        <p:nvSpPr>
          <p:cNvPr id="7" name="cfg-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Configuration checkpoints before go-live</a:t>
            </a:r>
            <a:endParaRPr lang="en-US" sz="1100" noProof="1"/>
          </a:p>
        </p:txBody>
      </p:sp>
      <p:sp>
        <p:nvSpPr>
          <p:cNvPr id="8" name="c1"/>
          <p:cNvSpPr/>
          <p:nvPr/>
        </p:nvSpPr>
        <p:spPr>
          <a:xfrm>
            <a:off x="7086600" y="1447800"/>
            <a:ext cx="4495800" cy="787400"/>
          </a:xfrm>
          <a:prstGeom prst="rect">
            <a:avLst/>
          </a:prstGeom>
          <a:solidFill>
            <a:srgbClr val="F7F5F0"/>
          </a:solidFill>
          <a:ln w="10160">
            <a:solidFill>
              <a:srgbClr val="333333"/>
            </a:solidFill>
          </a:ln>
        </p:spPr>
      </p:sp>
      <p:sp>
        <p:nvSpPr>
          <p:cNvPr id="9" name="c1t"/>
          <p:cNvSpPr txBox="1"/>
          <p:nvPr/>
        </p:nvSpPr>
        <p:spPr>
          <a:xfrm>
            <a:off x="7239000" y="15240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MOH per device pool</a:t>
            </a:r>
            <a:endParaRPr lang="en-US" sz="1000" noProof="1"/>
          </a:p>
          <a:p>
            <a:pPr>
              <a:lnSpc>
                <a:spcPct val="130000"/>
              </a:lnSpc>
            </a:pPr>
            <a:r>
              <a:rPr lang="en-US" sz="850" noProof="1">
                <a:solidFill>
                  <a:srgbClr val="000000"/>
                </a:solidFill>
                <a:latin typeface="Liter"/>
                <a:ea typeface="MiSans"/>
              </a:rPr>
              <a:t>audio source uploaded once; MRGL decides unicast vs multicast per site; gateway moh multicast for SRST branches</a:t>
            </a:r>
            <a:endParaRPr lang="en-US" sz="1000" noProof="1"/>
          </a:p>
        </p:txBody>
      </p:sp>
      <p:sp>
        <p:nvSpPr>
          <p:cNvPr id="10" name="c2"/>
          <p:cNvSpPr/>
          <p:nvPr/>
        </p:nvSpPr>
        <p:spPr>
          <a:xfrm>
            <a:off x="7086600" y="2387600"/>
            <a:ext cx="4495800" cy="787400"/>
          </a:xfrm>
          <a:prstGeom prst="rect">
            <a:avLst/>
          </a:prstGeom>
          <a:solidFill>
            <a:srgbClr val="F7F5F0"/>
          </a:solidFill>
          <a:ln w="10160">
            <a:solidFill>
              <a:srgbClr val="333333"/>
            </a:solidFill>
          </a:ln>
        </p:spPr>
      </p:sp>
      <p:sp>
        <p:nvSpPr>
          <p:cNvPr id="11" name="c2t"/>
          <p:cNvSpPr txBox="1"/>
          <p:nvPr/>
        </p:nvSpPr>
        <p:spPr>
          <a:xfrm>
            <a:off x="7239000" y="24638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Multicast boundary</a:t>
            </a:r>
            <a:endParaRPr lang="en-US" sz="1000" noProof="1"/>
          </a:p>
          <a:p>
            <a:pPr>
              <a:lnSpc>
                <a:spcPct val="130000"/>
              </a:lnSpc>
            </a:pPr>
            <a:r>
              <a:rPr lang="en-US" sz="850" noProof="1">
                <a:solidFill>
                  <a:srgbClr val="000000"/>
                </a:solidFill>
                <a:latin typeface="Liter"/>
                <a:ea typeface="MiSans"/>
              </a:rPr>
              <a:t>PIM sparse mode on the path; scope the MOH group so it never floods the WAN — test with a branch phone on hold</a:t>
            </a:r>
            <a:endParaRPr lang="en-US" sz="1000" noProof="1"/>
          </a:p>
        </p:txBody>
      </p:sp>
      <p:sp>
        <p:nvSpPr>
          <p:cNvPr id="12" name="c3"/>
          <p:cNvSpPr/>
          <p:nvPr/>
        </p:nvSpPr>
        <p:spPr>
          <a:xfrm>
            <a:off x="7086600" y="3327400"/>
            <a:ext cx="4495800" cy="787400"/>
          </a:xfrm>
          <a:prstGeom prst="rect">
            <a:avLst/>
          </a:prstGeom>
          <a:solidFill>
            <a:srgbClr val="F7F5F0"/>
          </a:solidFill>
          <a:ln w="10160">
            <a:solidFill>
              <a:srgbClr val="333333"/>
            </a:solidFill>
          </a:ln>
        </p:spPr>
      </p:sp>
      <p:sp>
        <p:nvSpPr>
          <p:cNvPr id="13" name="c3t"/>
          <p:cNvSpPr txBox="1"/>
          <p:nvPr/>
        </p:nvSpPr>
        <p:spPr>
          <a:xfrm>
            <a:off x="7239000" y="34036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Park DNs and reversion</a:t>
            </a:r>
            <a:endParaRPr lang="en-US" sz="1000" noProof="1"/>
          </a:p>
          <a:p>
            <a:pPr>
              <a:lnSpc>
                <a:spcPct val="130000"/>
              </a:lnSpc>
            </a:pPr>
            <a:r>
              <a:rPr lang="en-US" sz="850" noProof="1">
                <a:solidFill>
                  <a:srgbClr val="000000"/>
                </a:solidFill>
                <a:latin typeface="Liter"/>
                <a:ea typeface="MiSans"/>
              </a:rPr>
              <a:t>unique park ranges per site in the right partition; reversion destination reachable from every phone that parks</a:t>
            </a:r>
            <a:endParaRPr lang="en-US" sz="1000" noProof="1"/>
          </a:p>
        </p:txBody>
      </p:sp>
      <p:sp>
        <p:nvSpPr>
          <p:cNvPr id="14" name="c4"/>
          <p:cNvSpPr/>
          <p:nvPr/>
        </p:nvSpPr>
        <p:spPr>
          <a:xfrm>
            <a:off x="7086600" y="4267200"/>
            <a:ext cx="4495800" cy="787400"/>
          </a:xfrm>
          <a:prstGeom prst="rect">
            <a:avLst/>
          </a:prstGeom>
          <a:solidFill>
            <a:srgbClr val="F7F5F0"/>
          </a:solidFill>
          <a:ln w="10160">
            <a:solidFill>
              <a:srgbClr val="333333"/>
            </a:solidFill>
          </a:ln>
        </p:spPr>
      </p:sp>
      <p:sp>
        <p:nvSpPr>
          <p:cNvPr id="15" name="c4t"/>
          <p:cNvSpPr txBox="1"/>
          <p:nvPr/>
        </p:nvSpPr>
        <p:spPr>
          <a:xfrm>
            <a:off x="7239000" y="4343400"/>
            <a:ext cx="42164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Paging adapter FXS</a:t>
            </a:r>
            <a:endParaRPr lang="en-US" sz="1000" noProof="1"/>
          </a:p>
          <a:p>
            <a:pPr>
              <a:lnSpc>
                <a:spcPct val="130000"/>
              </a:lnSpc>
            </a:pPr>
            <a:r>
              <a:rPr lang="en-US" sz="850" noProof="1">
                <a:solidFill>
                  <a:srgbClr val="000000"/>
                </a:solidFill>
                <a:latin typeface="Liter"/>
                <a:ea typeface="MiSans"/>
              </a:rPr>
              <a:t>auto-answer the paging extension on the FXS port; zone the amps physically; document zones in the LLD</a:t>
            </a:r>
            <a:endParaRPr lang="en-US" sz="1000" noProof="1"/>
          </a:p>
        </p:txBody>
      </p:sp>
      <p:sp>
        <p:nvSpPr>
          <p:cNvPr id="16" name="park-box"/>
          <p:cNvSpPr/>
          <p:nvPr/>
        </p:nvSpPr>
        <p:spPr>
          <a:xfrm>
            <a:off x="7086600" y="5232400"/>
            <a:ext cx="4495800" cy="762000"/>
          </a:xfrm>
          <a:prstGeom prst="roundRect">
            <a:avLst>
              <a:gd name="adj" fmla="val 12000"/>
            </a:avLst>
          </a:prstGeom>
          <a:solidFill>
            <a:srgbClr val="F3F3F3"/>
          </a:solidFill>
          <a:ln>
            <a:noFill/>
          </a:ln>
        </p:spPr>
      </p:sp>
      <p:sp>
        <p:nvSpPr>
          <p:cNvPr id="17" name="park-box-t"/>
          <p:cNvSpPr txBox="1"/>
          <p:nvPr/>
        </p:nvSpPr>
        <p:spPr>
          <a:xfrm>
            <a:off x="7239000" y="5334000"/>
            <a:ext cx="4191000" cy="558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Design rule:</a:t>
            </a:r>
            <a:r>
              <a:rPr lang="en-US" sz="1000" noProof="1">
                <a:solidFill>
                  <a:srgbClr val="5A5A5A"/>
                </a:solidFill>
                <a:latin typeface="Liter"/>
                <a:ea typeface="MiSans"/>
              </a:rPr>
              <a:t> park ranges, MOH sources and paging zones are site design data — they belong in the LLD next to the dial plan, not in someone's memory.</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feature configuration guide — MOH, call park and directed park; multicast routing per IOS IP multicast documentation</a:t>
            </a:r>
            <a:endParaRPr lang="en-US" sz="850" noProof="1"/>
          </a:p>
        </p:txBody>
      </p:sp>
      <p:sp>
        <p:nvSpPr>
          <p:cNvPr id="20" name="cml-footer-bar"/>
          <p:cNvSpPr/>
          <p:nvPr/>
        </p:nvSpPr>
        <p:spPr>
          <a:xfrm>
            <a:off x="0" y="6670000"/>
            <a:ext cx="12192000" cy="640000"/>
          </a:xfrm>
          <a:prstGeom prst="rect">
            <a:avLst/>
          </a:prstGeom>
          <a:solidFill>
            <a:srgbClr val="12161C"/>
          </a:solidFill>
          <a:ln>
            <a:noFill/>
          </a:ln>
        </p:spPr>
        <p:txBody>
          <a:bodyPr/>
          <a:lstStyle/>
          <a:p/>
        </p:txBody>
      </p:sp>
      <p:sp>
        <p:nvSpPr>
          <p:cNvPr id="21" name="cml-footer-rule"/>
          <p:cNvSpPr/>
          <p:nvPr/>
        </p:nvSpPr>
        <p:spPr>
          <a:xfrm>
            <a:off x="0" y="6670000"/>
            <a:ext cx="12192000" cy="19050"/>
          </a:xfrm>
          <a:prstGeom prst="rect">
            <a:avLst/>
          </a:prstGeom>
          <a:solidFill>
            <a:srgbClr val="2DD4BF"/>
          </a:solidFill>
          <a:ln>
            <a:noFill/>
          </a:ln>
        </p:spPr>
        <p:txBody>
          <a:bodyPr/>
          <a:lstStyle/>
          <a:p/>
        </p:txBody>
      </p:sp>
      <p:sp>
        <p:nvSpPr>
          <p:cNvPr id="22"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3"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4"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5"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6"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7"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8"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9"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0"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1"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2"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3"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4"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5"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Licensing is a design dependency: it decides what you may deploy before you deploy it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Smart Licensing, Flex and Webex subscriptions each count differently — model them in the bill of materials, not at install time.</a:t>
            </a:r>
            <a:endParaRPr lang="en-US" sz="1100" noProof="1"/>
          </a:p>
        </p:txBody>
      </p:sp>
      <p:sp>
        <p:nvSpPr>
          <p:cNvPr id="4" name="lic-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models you will actually meet</a:t>
            </a:r>
            <a:endParaRPr lang="en-US" sz="1100" noProof="1"/>
          </a:p>
        </p:txBody>
      </p:sp>
      <p:graphicFrame>
        <p:nvGraphicFramePr>
          <p:cNvPr id="5" name="lic-table"/>
          <p:cNvGraphicFramePr>
            <a:graphicFrameLocks noGrp="1"/>
          </p:cNvGraphicFramePr>
          <p:nvPr/>
        </p:nvGraphicFramePr>
        <p:xfrm>
          <a:off x="609600" y="1447800"/>
          <a:ext cx="5969000" cy="3124200"/>
        </p:xfrm>
        <a:graphic>
          <a:graphicData uri="http://schemas.openxmlformats.org/drawingml/2006/table">
            <a:tbl>
              <a:tblPr/>
              <a:tblGrid>
                <a:gridCol w="1671320"/>
                <a:gridCol w="2268220"/>
                <a:gridCol w="2029460"/>
              </a:tblGrid>
              <a:tr h="312420">
                <a:tc>
                  <a:txBody>
                    <a:bodyPr wrap="square" rtlCol="0" anchor="ctr"/>
                    <a:lstStyle/>
                    <a:p>
                      <a:pPr algn="l"/>
                      <a:r>
                        <a:rPr lang="en-US" sz="1050" noProof="1" b="1">
                          <a:solidFill>
                            <a:srgbClr val="000000"/>
                          </a:solidFill>
                          <a:latin typeface="Liter"/>
                          <a:ea typeface="MiSans"/>
                        </a:rPr>
                        <a:t>Model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counts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Watch for</a:t>
                      </a:r>
                    </a:p>
                  </a:txBody>
                  <a:tcPr marL="91440" marR="91440" marT="45720" marB="45720" anchor="ctr">
                    <a:lnL>
                      <a:noFill/>
                    </a:lnL>
                    <a:lnR>
                      <a:noFill/>
                    </a:lnR>
                    <a:lnT>
                      <a:noFill/>
                    </a:lnT>
                    <a:lnB w="15240">
                      <a:solidFill>
                        <a:srgbClr val="000000"/>
                      </a:solidFill>
                    </a:lnB>
                    <a:noFill/>
                  </a:tcPr>
                </a:tc>
              </a:tr>
              <a:tr h="702945">
                <a:tc>
                  <a:txBody>
                    <a:bodyPr wrap="square" rtlCol="0" anchor="ctr"/>
                    <a:lstStyle/>
                    <a:p>
                      <a:pPr algn="l"/>
                      <a:r>
                        <a:rPr lang="en-US" sz="1050" noProof="1">
                          <a:solidFill>
                            <a:srgbClr val="000000"/>
                          </a:solidFill>
                          <a:latin typeface="Liter"/>
                          <a:ea typeface="MiSans"/>
                        </a:rPr>
                        <a:t>Smart Licensing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CUCM 12.5+, Unity, Expressway register to CSSM; user/device tiers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out-of-compliance blocks config adds; air-gapped sites use Specific License Reservation</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Flex Plan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subscription covering on-prem and cloud as Knowledge Workers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portability between deployment models — the migration-friendly path</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Webex subscription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named users and workspaces in Control Hub; features per location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true-up model; auto attendants and queues are licensed per location</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UCSS / ESW legacy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upgrade coverage for perpetual licenses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expired coverage means no upgrade rights — check before planning an upgrade</a:t>
                      </a:r>
                    </a:p>
                  </a:txBody>
                  <a:tcPr marL="91440" marR="91440" marT="45720" marB="45720" anchor="ctr">
                    <a:lnL>
                      <a:noFill/>
                    </a:lnL>
                    <a:lnR>
                      <a:noFill/>
                    </a:lnR>
                    <a:lnT>
                      <a:noFill/>
                    </a:lnT>
                    <a:lnB w="7620">
                      <a:solidFill>
                        <a:srgbClr val="D9D9D9"/>
                      </a:solidFill>
                    </a:lnB>
                    <a:noFill/>
                  </a:tcPr>
                </a:tc>
              </a:tr>
            </a:tbl>
          </a:graphicData>
        </a:graphic>
      </p:graphicFrame>
      <p:sp>
        <p:nvSpPr>
          <p:cNvPr id="6" name="lic-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Flex earns its place during migration:</a:t>
            </a:r>
            <a:r>
              <a:rPr lang="en-US" sz="1250" noProof="1">
                <a:solidFill>
                  <a:srgbClr val="000000"/>
                </a:solidFill>
                <a:latin typeface="Liter"/>
                <a:ea typeface="MiSans"/>
              </a:rPr>
              <a:t> the same subscription follows users from on-prem CUCM to Webex Calling, so moving waves does not mean buying licenses twice — confirm portability terms with the account team before phase 1.</a:t>
            </a:r>
            <a:endParaRPr lang="en-US" sz="1250" noProof="1"/>
          </a:p>
        </p:txBody>
      </p:sp>
      <p:sp>
        <p:nvSpPr>
          <p:cNvPr id="7" name="coun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a defensible license count includes</a:t>
            </a:r>
            <a:endParaRPr lang="en-US" sz="1100" noProof="1"/>
          </a:p>
        </p:txBody>
      </p:sp>
      <p:sp>
        <p:nvSpPr>
          <p:cNvPr id="8" name="cnt1"/>
          <p:cNvSpPr/>
          <p:nvPr/>
        </p:nvSpPr>
        <p:spPr>
          <a:xfrm>
            <a:off x="7086600" y="1447800"/>
            <a:ext cx="4495800" cy="812800"/>
          </a:xfrm>
          <a:prstGeom prst="rect">
            <a:avLst/>
          </a:prstGeom>
          <a:solidFill>
            <a:srgbClr val="F7F5F0"/>
          </a:solidFill>
          <a:ln w="10160">
            <a:solidFill>
              <a:srgbClr val="333333"/>
            </a:solidFill>
          </a:ln>
        </p:spPr>
      </p:sp>
      <p:sp>
        <p:nvSpPr>
          <p:cNvPr id="9" name="cnt1t"/>
          <p:cNvSpPr txBox="1"/>
          <p:nvPr/>
        </p:nvSpPr>
        <p:spPr>
          <a:xfrm>
            <a:off x="7239000" y="15240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Users by tier</a:t>
            </a:r>
            <a:endParaRPr lang="en-US" sz="1000" noProof="1"/>
          </a:p>
          <a:p>
            <a:pPr>
              <a:lnSpc>
                <a:spcPct val="130000"/>
              </a:lnSpc>
            </a:pPr>
            <a:r>
              <a:rPr lang="en-US" sz="850" noProof="1">
                <a:solidFill>
                  <a:srgbClr val="000000"/>
                </a:solidFill>
                <a:latin typeface="Liter"/>
                <a:ea typeface="MiSans"/>
              </a:rPr>
              <a:t>essential (analog/common) vs enhanced vs CUWL — tier by actual feature use, not job title</a:t>
            </a:r>
            <a:endParaRPr lang="en-US" sz="1000" noProof="1"/>
          </a:p>
        </p:txBody>
      </p:sp>
      <p:sp>
        <p:nvSpPr>
          <p:cNvPr id="10" name="cnt2"/>
          <p:cNvSpPr/>
          <p:nvPr/>
        </p:nvSpPr>
        <p:spPr>
          <a:xfrm>
            <a:off x="7086600" y="2413000"/>
            <a:ext cx="4495800" cy="812800"/>
          </a:xfrm>
          <a:prstGeom prst="rect">
            <a:avLst/>
          </a:prstGeom>
          <a:solidFill>
            <a:srgbClr val="F7F5F0"/>
          </a:solidFill>
          <a:ln w="10160">
            <a:solidFill>
              <a:srgbClr val="333333"/>
            </a:solidFill>
          </a:ln>
        </p:spPr>
      </p:sp>
      <p:sp>
        <p:nvSpPr>
          <p:cNvPr id="11" name="cnt2t"/>
          <p:cNvSpPr txBox="1"/>
          <p:nvPr/>
        </p:nvSpPr>
        <p:spPr>
          <a:xfrm>
            <a:off x="7239000" y="24892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Shared and adjunct devices</a:t>
            </a:r>
            <a:endParaRPr lang="en-US" sz="1000" noProof="1"/>
          </a:p>
          <a:p>
            <a:pPr>
              <a:lnSpc>
                <a:spcPct val="130000"/>
              </a:lnSpc>
            </a:pPr>
            <a:r>
              <a:rPr lang="en-US" sz="850" noProof="1">
                <a:solidFill>
                  <a:srgbClr val="000000"/>
                </a:solidFill>
                <a:latin typeface="Liter"/>
                <a:ea typeface="MiSans"/>
              </a:rPr>
              <a:t>lobby phones, conference rooms, second devices per user — the line that surprises every BOM</a:t>
            </a:r>
            <a:endParaRPr lang="en-US" sz="1000" noProof="1"/>
          </a:p>
        </p:txBody>
      </p:sp>
      <p:sp>
        <p:nvSpPr>
          <p:cNvPr id="12" name="cnt3"/>
          <p:cNvSpPr/>
          <p:nvPr/>
        </p:nvSpPr>
        <p:spPr>
          <a:xfrm>
            <a:off x="7086600" y="3378200"/>
            <a:ext cx="4495800" cy="812800"/>
          </a:xfrm>
          <a:prstGeom prst="rect">
            <a:avLst/>
          </a:prstGeom>
          <a:solidFill>
            <a:srgbClr val="F7F5F0"/>
          </a:solidFill>
          <a:ln w="10160">
            <a:solidFill>
              <a:srgbClr val="333333"/>
            </a:solidFill>
          </a:ln>
        </p:spPr>
      </p:sp>
      <p:sp>
        <p:nvSpPr>
          <p:cNvPr id="13" name="cnt3t"/>
          <p:cNvSpPr txBox="1"/>
          <p:nvPr/>
        </p:nvSpPr>
        <p:spPr>
          <a:xfrm>
            <a:off x="7239000" y="3454400"/>
            <a:ext cx="4216400" cy="685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Contact center agents</a:t>
            </a:r>
            <a:endParaRPr lang="en-US" sz="1000" noProof="1"/>
          </a:p>
          <a:p>
            <a:pPr>
              <a:lnSpc>
                <a:spcPct val="130000"/>
              </a:lnSpc>
            </a:pPr>
            <a:r>
              <a:rPr lang="en-US" sz="850" noProof="1">
                <a:solidFill>
                  <a:srgbClr val="000000"/>
                </a:solidFill>
                <a:latin typeface="Liter"/>
                <a:ea typeface="MiSans"/>
              </a:rPr>
              <a:t>UCCX / UCCE agent licenses are counted separately from UC users — peak concurrent, not named</a:t>
            </a:r>
            <a:endParaRPr lang="en-US" sz="1000" noProof="1"/>
          </a:p>
        </p:txBody>
      </p:sp>
      <p:sp>
        <p:nvSpPr>
          <p:cNvPr id="14" name="bom-box"/>
          <p:cNvSpPr/>
          <p:nvPr/>
        </p:nvSpPr>
        <p:spPr>
          <a:xfrm>
            <a:off x="7086600" y="4394200"/>
            <a:ext cx="4495800" cy="1117600"/>
          </a:xfrm>
          <a:prstGeom prst="roundRect">
            <a:avLst>
              <a:gd name="adj" fmla="val 12000"/>
            </a:avLst>
          </a:prstGeom>
          <a:solidFill>
            <a:srgbClr val="F3F3F3"/>
          </a:solidFill>
          <a:ln>
            <a:noFill/>
          </a:ln>
        </p:spPr>
      </p:sp>
      <p:sp>
        <p:nvSpPr>
          <p:cNvPr id="15" name="bom-box-t"/>
          <p:cNvSpPr txBox="1"/>
          <p:nvPr/>
        </p:nvSpPr>
        <p:spPr>
          <a:xfrm>
            <a:off x="7239000" y="4521200"/>
            <a:ext cx="41910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BOM discipline</a:t>
            </a:r>
            <a:endParaRPr lang="en-US" sz="1000" noProof="1"/>
          </a:p>
          <a:p>
            <a:pPr>
              <a:lnSpc>
                <a:spcPct val="135000"/>
              </a:lnSpc>
              <a:spcBef>
                <a:spcPts val="600"/>
              </a:spcBef>
            </a:pPr>
            <a:r>
              <a:rPr lang="en-US" sz="1000" noProof="1">
                <a:solidFill>
                  <a:srgbClr val="5A5A5A"/>
                </a:solidFill>
                <a:latin typeface="Liter"/>
                <a:ea typeface="MiSans"/>
              </a:rPr>
              <a:t>License count = users × tier + shared workspaces + adjunct devices + peak agents, plus ~10% growth. Write the formula into the HLD so the count can be re-derived, not remembered.</a:t>
            </a:r>
            <a:endParaRPr lang="en-US" sz="1000" noProof="1"/>
          </a:p>
        </p:txBody>
      </p:sp>
      <p:sp>
        <p:nvSpPr>
          <p:cNvPr id="16" name="cnt-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Enterprise agreements (CLA) trade per-unit precision for simplicity — still model the true-up date.</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Smart Licensing, Collaboration Flex Plan and Webex subscription documentation, cisco.com; tiers as published</a:t>
            </a:r>
            <a:endParaRPr lang="en-US" sz="850" noProof="1"/>
          </a:p>
        </p:txBody>
      </p:sp>
      <p:sp>
        <p:nvSpPr>
          <p:cNvPr id="19" name="cml-footer-bar"/>
          <p:cNvSpPr/>
          <p:nvPr/>
        </p:nvSpPr>
        <p:spPr>
          <a:xfrm>
            <a:off x="0" y="6670000"/>
            <a:ext cx="12192000" cy="640000"/>
          </a:xfrm>
          <a:prstGeom prst="rect">
            <a:avLst/>
          </a:prstGeom>
          <a:solidFill>
            <a:srgbClr val="12161C"/>
          </a:solidFill>
          <a:ln>
            <a:noFill/>
          </a:ln>
        </p:spPr>
        <p:txBody>
          <a:bodyPr/>
          <a:lstStyle/>
          <a:p/>
        </p:txBody>
      </p:sp>
      <p:sp>
        <p:nvSpPr>
          <p:cNvPr id="20" name="cml-footer-rule"/>
          <p:cNvSpPr/>
          <p:nvPr/>
        </p:nvSpPr>
        <p:spPr>
          <a:xfrm>
            <a:off x="0" y="6670000"/>
            <a:ext cx="12192000" cy="19050"/>
          </a:xfrm>
          <a:prstGeom prst="rect">
            <a:avLst/>
          </a:prstGeom>
          <a:solidFill>
            <a:srgbClr val="2DD4BF"/>
          </a:solidFill>
          <a:ln>
            <a:noFill/>
          </a:ln>
        </p:spPr>
        <p:txBody>
          <a:bodyPr/>
          <a:lstStyle/>
          <a:p/>
        </p:txBody>
      </p:sp>
      <p:sp>
        <p:nvSpPr>
          <p:cNvPr id="2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03</a:t>
            </a:r>
            <a:endParaRPr lang="en-US" sz="4400" noProof="1"/>
          </a:p>
        </p:txBody>
      </p:sp>
      <p:sp>
        <p:nvSpPr>
          <p:cNvPr id="3" name="ch-title"/>
          <p:cNvSpPr txBox="1"/>
          <p:nvPr/>
        </p:nvSpPr>
        <p:spPr>
          <a:xfrm>
            <a:off x="609600" y="2794000"/>
            <a:ext cx="1092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Collaboration Services &amp; Endpoints</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Messaging, presence and edge services around the core; the phones, soft clients and</a:t>
            </a:r>
            <a:endParaRPr lang="en-US" sz="1300" noProof="1"/>
          </a:p>
          <a:p>
            <a:pPr>
              <a:lnSpc>
                <a:spcPct val="150000"/>
              </a:lnSpc>
            </a:pPr>
            <a:r>
              <a:rPr lang="en-US" sz="1300" noProof="1">
                <a:solidFill>
                  <a:srgbClr val="F2DADA"/>
                </a:solidFill>
                <a:latin typeface="Liter"/>
                <a:ea typeface="MiSans"/>
              </a:rPr>
              <a:t>firmware users actually touch; and VPN-less remote access through Expressway.</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03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4.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Beyond call control: messaging, presence and edge services complete the UC stack</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service attaches to CUCM through a defined protocol and adds one class of user-visible capability — configure them in this dependency order.</a:t>
            </a:r>
            <a:endParaRPr lang="en-US" sz="1100" noProof="1"/>
          </a:p>
        </p:txBody>
      </p:sp>
      <p:graphicFrame>
        <p:nvGraphicFramePr>
          <p:cNvPr id="4" name="svc-table"/>
          <p:cNvGraphicFramePr>
            <a:graphicFrameLocks noGrp="1"/>
          </p:cNvGraphicFramePr>
          <p:nvPr/>
        </p:nvGraphicFramePr>
        <p:xfrm>
          <a:off x="609600" y="1168400"/>
          <a:ext cx="7112000" cy="3810000"/>
        </p:xfrm>
        <a:graphic>
          <a:graphicData uri="http://schemas.openxmlformats.org/drawingml/2006/table">
            <a:tbl>
              <a:tblPr/>
              <a:tblGrid>
                <a:gridCol w="1564640"/>
                <a:gridCol w="2560320"/>
                <a:gridCol w="1564640"/>
                <a:gridCol w="1422400"/>
              </a:tblGrid>
              <a:tr h="457200">
                <a:tc>
                  <a:txBody>
                    <a:bodyPr wrap="square" rtlCol="0" anchor="ctr"/>
                    <a:lstStyle/>
                    <a:p>
                      <a:pPr algn="l"/>
                      <a:r>
                        <a:rPr lang="en-US" sz="1050" noProof="1" b="1">
                          <a:solidFill>
                            <a:srgbClr val="000000"/>
                          </a:solidFill>
                          <a:latin typeface="Liter"/>
                          <a:ea typeface="MiSans"/>
                        </a:rPr>
                        <a:t>Service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adds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Attaches via</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Key config items</a:t>
                      </a:r>
                    </a:p>
                  </a:txBody>
                  <a:tcPr marL="91440" marR="91440" marT="45720" marB="45720" anchor="ctr">
                    <a:lnL>
                      <a:noFill/>
                    </a:lnL>
                    <a:lnR>
                      <a:noFill/>
                    </a:lnR>
                    <a:lnT>
                      <a:noFill/>
                    </a:lnT>
                    <a:lnB w="15240">
                      <a:solidFill>
                        <a:srgbClr val="000000"/>
                      </a:solidFill>
                    </a:lnB>
                    <a:noFill/>
                  </a:tcPr>
                </a:tc>
              </a:tr>
              <a:tr h="838200">
                <a:tc>
                  <a:txBody>
                    <a:bodyPr wrap="square" rtlCol="0" anchor="ctr"/>
                    <a:lstStyle/>
                    <a:p>
                      <a:pPr algn="l"/>
                      <a:r>
                        <a:rPr lang="en-US" sz="1050" noProof="1">
                          <a:solidFill>
                            <a:srgbClr val="000000"/>
                          </a:solidFill>
                          <a:latin typeface="Liter"/>
                          <a:ea typeface="MiSans"/>
                        </a:rPr>
                        <a:t>Unity Connection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unified messaging to email, auto-attendant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SCCP / SIP ports on CUCM; MWI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VM ports, templates, COS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IM &amp; Presence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Jabber chat, desk-phone control, presence states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SIP trunk + CTI; XMPP to clients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profiles, UC services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Expressway 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Mobile &amp; remote access without VPN; B2B SIP/H.323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SIP trunk to CUCM; traversal zone pair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Zones, certs, search rules</a:t>
                      </a:r>
                    </a:p>
                  </a:txBody>
                  <a:tcPr marL="91440" marR="91440" marT="45720" marB="45720" anchor="ctr">
                    <a:lnL>
                      <a:noFill/>
                    </a:lnL>
                    <a:lnR>
                      <a:noFill/>
                    </a:lnR>
                    <a:lnT>
                      <a:noFill/>
                    </a:lnT>
                    <a:lnB w="7620">
                      <a:solidFill>
                        <a:srgbClr val="D9D9D9"/>
                      </a:solidFill>
                    </a:lnB>
                    <a:noFill/>
                  </a:tcPr>
                </a:tc>
              </a:tr>
              <a:tr h="838200">
                <a:tc>
                  <a:txBody>
                    <a:bodyPr wrap="square" rtlCol="0" anchor="ctr"/>
                    <a:lstStyle/>
                    <a:p>
                      <a:pPr algn="l"/>
                      <a:r>
                        <a:rPr lang="en-US" sz="1050" noProof="1">
                          <a:solidFill>
                            <a:srgbClr val="000000"/>
                          </a:solidFill>
                          <a:latin typeface="Liter"/>
                          <a:ea typeface="MiSans"/>
                        </a:rPr>
                        <a:t>CDR / CMR + RTMT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 records, quality metrics, alarms and traces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activation on CUCM nodes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Billing servers, trace levels</a:t>
                      </a:r>
                    </a:p>
                  </a:txBody>
                  <a:tcPr marL="91440" marR="91440" marT="45720" marB="45720" anchor="ctr">
                    <a:lnL>
                      <a:noFill/>
                    </a:lnL>
                    <a:lnR>
                      <a:noFill/>
                    </a:lnR>
                    <a:lnT>
                      <a:noFill/>
                    </a:lnT>
                    <a:lnB w="7620">
                      <a:solidFill>
                        <a:srgbClr val="D9D9D9"/>
                      </a:solidFill>
                    </a:lnB>
                    <a:noFill/>
                  </a:tcPr>
                </a:tc>
              </a:tr>
            </a:tbl>
          </a:graphicData>
        </a:graphic>
      </p:graphicFrame>
      <p:sp>
        <p:nvSpPr>
          <p:cNvPr id="5" name="svc-note"/>
          <p:cNvSpPr txBox="1"/>
          <p:nvPr/>
        </p:nvSpPr>
        <p:spPr>
          <a:xfrm>
            <a:off x="609600" y="5130800"/>
            <a:ext cx="7112000" cy="965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Dependency order in practice:</a:t>
            </a:r>
            <a:r>
              <a:rPr lang="en-US" sz="1250" noProof="1">
                <a:solidFill>
                  <a:srgbClr val="000000"/>
                </a:solidFill>
                <a:latin typeface="Liter"/>
                <a:ea typeface="MiSans"/>
              </a:rPr>
              <a:t> cluster services and device pools first, then voicemail integration, then IM&amp;P/Jabber, then Expressway for off-net users — each layer assumes the previous one registers cleanly. CDR/CMR is enabled from day one; you cannot troubleshoot quality retroactively without it.</a:t>
            </a:r>
            <a:endParaRPr lang="en-US" sz="1250" noProof="1"/>
          </a:p>
        </p:txBody>
      </p:sp>
      <p:sp>
        <p:nvSpPr>
          <p:cNvPr id="6" name="def-box"/>
          <p:cNvSpPr/>
          <p:nvPr/>
        </p:nvSpPr>
        <p:spPr>
          <a:xfrm>
            <a:off x="8178800" y="1168400"/>
            <a:ext cx="3403600" cy="1625600"/>
          </a:xfrm>
          <a:prstGeom prst="roundRect">
            <a:avLst>
              <a:gd name="adj" fmla="val 12000"/>
            </a:avLst>
          </a:prstGeom>
          <a:solidFill>
            <a:srgbClr val="F3F3F3"/>
          </a:solidFill>
          <a:ln>
            <a:noFill/>
          </a:ln>
        </p:spPr>
      </p:sp>
      <p:sp>
        <p:nvSpPr>
          <p:cNvPr id="7" name="def-text"/>
          <p:cNvSpPr txBox="1"/>
          <p:nvPr/>
        </p:nvSpPr>
        <p:spPr>
          <a:xfrm>
            <a:off x="8382000" y="1295400"/>
            <a:ext cx="3022600" cy="1397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MWI</a:t>
            </a:r>
            <a:endParaRPr lang="en-US" sz="1000" noProof="1"/>
          </a:p>
          <a:p>
            <a:pPr>
              <a:lnSpc>
                <a:spcPct val="135000"/>
              </a:lnSpc>
              <a:spcBef>
                <a:spcPts val="600"/>
              </a:spcBef>
            </a:pPr>
            <a:r>
              <a:rPr lang="en-US" sz="1000" noProof="1">
                <a:solidFill>
                  <a:srgbClr val="5A5A5A"/>
                </a:solidFill>
                <a:latin typeface="Liter"/>
                <a:ea typeface="MiSans"/>
              </a:rPr>
              <a:t>Message waiting indicator: the lamp / stutter dial tone Unity Connection toggles through CUCM when a voicemail arrives. The classic first test of a voicemail integration.</a:t>
            </a:r>
            <a:endParaRPr lang="en-US" sz="1000" noProof="1"/>
          </a:p>
        </p:txBody>
      </p:sp>
      <p:sp>
        <p:nvSpPr>
          <p:cNvPr id="8" name="feat-list"/>
          <p:cNvSpPr txBox="1"/>
          <p:nvPr/>
        </p:nvSpPr>
        <p:spPr>
          <a:xfrm>
            <a:off x="8178800" y="3048000"/>
            <a:ext cx="3403600" cy="304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Feature services on CUCM itself</a:t>
            </a:r>
            <a:endParaRPr lang="en-US" sz="1250" noProof="1"/>
          </a:p>
          <a:p>
            <a:pPr>
              <a:lnSpc>
                <a:spcPct val="145000"/>
              </a:lnSpc>
              <a:spcBef>
                <a:spcPts val="800"/>
              </a:spcBef>
            </a:pPr>
            <a:r>
              <a:rPr lang="en-US" sz="1250" noProof="1">
                <a:solidFill>
                  <a:srgbClr val="000000"/>
                </a:solidFill>
                <a:latin typeface="Liter"/>
                <a:ea typeface="MiSans"/>
              </a:rPr>
              <a:t>· Extension Mobility — user profile follows login</a:t>
            </a:r>
            <a:endParaRPr lang="en-US" sz="1250" noProof="1"/>
          </a:p>
          <a:p>
            <a:pPr>
              <a:lnSpc>
                <a:spcPct val="145000"/>
              </a:lnSpc>
              <a:spcBef>
                <a:spcPts val="500"/>
              </a:spcBef>
            </a:pPr>
            <a:r>
              <a:rPr lang="en-US" sz="1250" noProof="1">
                <a:solidFill>
                  <a:srgbClr val="000000"/>
                </a:solidFill>
                <a:latin typeface="Liter"/>
                <a:ea typeface="MiSans"/>
              </a:rPr>
              <a:t>· Hunt groups &amp; call pickup teams</a:t>
            </a:r>
            <a:endParaRPr lang="en-US" sz="1250" noProof="1"/>
          </a:p>
          <a:p>
            <a:pPr>
              <a:lnSpc>
                <a:spcPct val="145000"/>
              </a:lnSpc>
              <a:spcBef>
                <a:spcPts val="500"/>
              </a:spcBef>
            </a:pPr>
            <a:r>
              <a:rPr lang="en-US" sz="1250" noProof="1">
                <a:solidFill>
                  <a:srgbClr val="000000"/>
                </a:solidFill>
                <a:latin typeface="Liter"/>
                <a:ea typeface="MiSans"/>
              </a:rPr>
              <a:t>· Music on hold and ad-hoc conferencing</a:t>
            </a:r>
            <a:endParaRPr lang="en-US" sz="1250" noProof="1"/>
          </a:p>
          <a:p>
            <a:pPr>
              <a:lnSpc>
                <a:spcPct val="145000"/>
              </a:lnSpc>
              <a:spcBef>
                <a:spcPts val="500"/>
              </a:spcBef>
            </a:pPr>
            <a:r>
              <a:rPr lang="en-US" sz="1250" noProof="1">
                <a:solidFill>
                  <a:srgbClr val="000000"/>
                </a:solidFill>
                <a:latin typeface="Liter"/>
                <a:ea typeface="MiSans"/>
              </a:rPr>
              <a:t>· Single Number Reach / mobile connect</a:t>
            </a:r>
            <a:endParaRPr lang="en-US" sz="1250" noProof="1"/>
          </a:p>
          <a:p>
            <a:pPr>
              <a:lnSpc>
                <a:spcPct val="145000"/>
              </a:lnSpc>
              <a:spcBef>
                <a:spcPts val="500"/>
              </a:spcBef>
            </a:pPr>
            <a:r>
              <a:rPr lang="en-US" sz="1250" noProof="1">
                <a:solidFill>
                  <a:srgbClr val="000000"/>
                </a:solidFill>
                <a:latin typeface="Liter"/>
                <a:ea typeface="MiSans"/>
              </a:rPr>
              <a:t>· Call recording via SIP trunk to recorder</a:t>
            </a:r>
            <a:endParaRPr lang="en-US" sz="1250" noProof="1"/>
          </a:p>
          <a:p>
            <a:pPr>
              <a:lnSpc>
                <a:spcPct val="145000"/>
              </a:lnSpc>
              <a:spcBef>
                <a:spcPts val="500"/>
              </a:spcBef>
            </a:pPr>
            <a:r>
              <a:rPr lang="en-US" sz="1250" noProof="1">
                <a:solidFill>
                  <a:srgbClr val="000000"/>
                </a:solidFill>
                <a:latin typeface="Liter"/>
                <a:ea typeface="MiSans"/>
              </a:rPr>
              <a:t>· TLS / SRTP phone security (CTL, LSC)</a:t>
            </a:r>
            <a:endParaRPr lang="en-US" sz="125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Unity Connection, IM &amp; Presence, Expressway and CUCM feature configuration guides, cisco.com</a:t>
            </a:r>
            <a:endParaRPr lang="en-US" sz="850" noProof="1"/>
          </a:p>
        </p:txBody>
      </p:sp>
      <p:sp>
        <p:nvSpPr>
          <p:cNvPr id="11" name="cml-footer-bar"/>
          <p:cNvSpPr/>
          <p:nvPr/>
        </p:nvSpPr>
        <p:spPr>
          <a:xfrm>
            <a:off x="0" y="6670000"/>
            <a:ext cx="12192000" cy="640000"/>
          </a:xfrm>
          <a:prstGeom prst="rect">
            <a:avLst/>
          </a:prstGeom>
          <a:solidFill>
            <a:srgbClr val="12161C"/>
          </a:solidFill>
          <a:ln>
            <a:noFill/>
          </a:ln>
        </p:spPr>
        <p:txBody>
          <a:bodyPr/>
          <a:lstStyle/>
          <a:p/>
        </p:txBody>
      </p:sp>
      <p:sp>
        <p:nvSpPr>
          <p:cNvPr id="12" name="cml-footer-rule"/>
          <p:cNvSpPr/>
          <p:nvPr/>
        </p:nvSpPr>
        <p:spPr>
          <a:xfrm>
            <a:off x="0" y="6670000"/>
            <a:ext cx="12192000" cy="19050"/>
          </a:xfrm>
          <a:prstGeom prst="rect">
            <a:avLst/>
          </a:prstGeom>
          <a:solidFill>
            <a:srgbClr val="2DD4BF"/>
          </a:solidFill>
          <a:ln>
            <a:noFill/>
          </a:ln>
        </p:spPr>
        <p:txBody>
          <a:bodyPr/>
          <a:lstStyle/>
          <a:p/>
        </p:txBody>
      </p:sp>
      <p:sp>
        <p:nvSpPr>
          <p:cNvPr id="1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5.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Endpoints are the visible half of voice: models, firmware and registration states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user judgment of "the phone system" is really a judgment of its endpoints — choose, load and manage them deliberately.</a:t>
            </a:r>
            <a:endParaRPr lang="en-US" sz="1100" noProof="1"/>
          </a:p>
        </p:txBody>
      </p:sp>
      <p:sp>
        <p:nvSpPr>
          <p:cNvPr id="4" name="ep-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endpoint families in a Cisco estate</a:t>
            </a:r>
            <a:endParaRPr lang="en-US" sz="1100" noProof="1"/>
          </a:p>
        </p:txBody>
      </p:sp>
      <p:graphicFrame>
        <p:nvGraphicFramePr>
          <p:cNvPr id="5" name="ep-table"/>
          <p:cNvGraphicFramePr>
            <a:graphicFrameLocks noGrp="1"/>
          </p:cNvGraphicFramePr>
          <p:nvPr/>
        </p:nvGraphicFramePr>
        <p:xfrm>
          <a:off x="609600" y="1447800"/>
          <a:ext cx="5715000" cy="2794000"/>
        </p:xfrm>
        <a:graphic>
          <a:graphicData uri="http://schemas.openxmlformats.org/drawingml/2006/table">
            <a:tbl>
              <a:tblPr/>
              <a:tblGrid>
                <a:gridCol w="1714500"/>
                <a:gridCol w="2286000"/>
                <a:gridCol w="1714500"/>
              </a:tblGrid>
              <a:tr h="363220">
                <a:tc>
                  <a:txBody>
                    <a:bodyPr wrap="square" rtlCol="0" anchor="ctr"/>
                    <a:lstStyle/>
                    <a:p>
                      <a:pPr algn="l"/>
                      <a:r>
                        <a:rPr lang="en-US" sz="1050" noProof="1" b="1">
                          <a:solidFill>
                            <a:srgbClr val="000000"/>
                          </a:solidFill>
                          <a:latin typeface="Liter"/>
                          <a:ea typeface="MiSans"/>
                        </a:rPr>
                        <a:t>Family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it fits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Registers to</a:t>
                      </a:r>
                    </a:p>
                  </a:txBody>
                  <a:tcPr marL="91440" marR="91440" marT="45720" marB="45720" anchor="ctr">
                    <a:lnL>
                      <a:noFill/>
                    </a:lnL>
                    <a:lnR>
                      <a:noFill/>
                    </a:lnR>
                    <a:lnT>
                      <a:noFill/>
                    </a:lnT>
                    <a:lnB w="15240">
                      <a:solidFill>
                        <a:srgbClr val="000000"/>
                      </a:solidFill>
                    </a:lnB>
                    <a:noFill/>
                  </a:tcPr>
                </a:tc>
              </a:tr>
              <a:tr h="607695">
                <a:tc>
                  <a:txBody>
                    <a:bodyPr wrap="square" rtlCol="0" anchor="ctr"/>
                    <a:lstStyle/>
                    <a:p>
                      <a:pPr algn="l"/>
                      <a:r>
                        <a:rPr lang="en-US" sz="1050" noProof="1">
                          <a:solidFill>
                            <a:srgbClr val="000000"/>
                          </a:solidFill>
                          <a:latin typeface="Liter"/>
                          <a:ea typeface="MiSans"/>
                        </a:rPr>
                        <a:t>IP Phone 8800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desks; Enterprise or MPP firmware variants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(Enterprise) / Webex (MPP)</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Webex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Desk / Room series, video-first shared spaces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cloud or CUCM</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Jabber / Webex app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softphone on PC and mobile; remote workers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 IM&amp;P / Webex</a:t>
                      </a:r>
                    </a:p>
                  </a:txBody>
                  <a:tcPr marL="91440" marR="91440" marT="45720" marB="45720" anchor="ctr">
                    <a:lnL>
                      <a:noFill/>
                    </a:lnL>
                    <a:lnR>
                      <a:noFill/>
                    </a:lnR>
                    <a:lnT>
                      <a:noFill/>
                    </a:lnT>
                    <a:lnB w="7620">
                      <a:solidFill>
                        <a:srgbClr val="D9D9D9"/>
                      </a:solidFill>
                    </a:lnB>
                    <a:noFill/>
                  </a:tcPr>
                </a:tc>
              </a:tr>
              <a:tr h="607695">
                <a:tc>
                  <a:txBody>
                    <a:bodyPr wrap="square" rtlCol="0" anchor="ctr"/>
                    <a:lstStyle/>
                    <a:p>
                      <a:pPr algn="l"/>
                      <a:r>
                        <a:rPr lang="en-US" sz="1050" noProof="1">
                          <a:solidFill>
                            <a:srgbClr val="000000"/>
                          </a:solidFill>
                          <a:latin typeface="Liter"/>
                          <a:ea typeface="MiSans"/>
                        </a:rPr>
                        <a:t>ATA / VG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analog holdouts: fax, paging, door phones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via SCCP / SIP</a:t>
                      </a:r>
                    </a:p>
                  </a:txBody>
                  <a:tcPr marL="91440" marR="91440" marT="45720" marB="45720" anchor="ctr">
                    <a:lnL>
                      <a:noFill/>
                    </a:lnL>
                    <a:lnR>
                      <a:noFill/>
                    </a:lnR>
                    <a:lnT>
                      <a:noFill/>
                    </a:lnT>
                    <a:lnB w="7620">
                      <a:solidFill>
                        <a:srgbClr val="D9D9D9"/>
                      </a:solidFill>
                    </a:lnB>
                    <a:noFill/>
                  </a:tcPr>
                </a:tc>
              </a:tr>
            </a:tbl>
          </a:graphicData>
        </a:graphic>
      </p:graphicFrame>
      <p:sp>
        <p:nvSpPr>
          <p:cNvPr id="6" name="ep-note"/>
          <p:cNvSpPr txBox="1"/>
          <p:nvPr/>
        </p:nvSpPr>
        <p:spPr>
          <a:xfrm>
            <a:off x="609600" y="4419600"/>
            <a:ext cx="5715000" cy="152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Firmware is lifecycle policy:</a:t>
            </a:r>
            <a:r>
              <a:rPr lang="en-US" sz="1250" noProof="1">
                <a:solidFill>
                  <a:srgbClr val="000000"/>
                </a:solidFill>
                <a:latin typeface="Liter"/>
                <a:ea typeface="MiSans"/>
              </a:rPr>
              <a:t> CUCM ships device loads; the </a:t>
            </a:r>
            <a:r>
              <a:rPr lang="en-US" sz="1250" noProof="1" b="1">
                <a:solidFill>
                  <a:srgbClr val="000000"/>
                </a:solidFill>
                <a:latin typeface="Liter"/>
                <a:ea typeface="MiSans"/>
              </a:rPr>
              <a:t>device defaults</a:t>
            </a:r>
            <a:r>
              <a:rPr lang="en-US" sz="1250" noProof="1">
                <a:solidFill>
                  <a:srgbClr val="000000"/>
                </a:solidFill>
                <a:latin typeface="Liter"/>
                <a:ea typeface="MiSans"/>
              </a:rPr>
              <a:t> list controls which version phones download from TFTP. Stage new firmware on a pilot device pool first — a bad load is a site-wide outage you caused yourself.</a:t>
            </a:r>
            <a:endParaRPr lang="en-US" sz="1250" noProof="1"/>
          </a:p>
          <a:p>
            <a:pPr>
              <a:lnSpc>
                <a:spcPct val="145000"/>
              </a:lnSpc>
              <a:spcBef>
                <a:spcPts val="800"/>
              </a:spcBef>
            </a:pPr>
            <a:r>
              <a:rPr lang="en-US" sz="1250" noProof="1">
                <a:solidFill>
                  <a:srgbClr val="000000"/>
                </a:solidFill>
                <a:latin typeface="Liter"/>
                <a:ea typeface="MiSans"/>
              </a:rPr>
              <a:t>MPP phones convert between on-prem and Webex registration, making them the endpoint of choice for estates that expect to migrate (Section 05).</a:t>
            </a:r>
            <a:endParaRPr lang="en-US" sz="1250" noProof="1"/>
          </a:p>
        </p:txBody>
      </p:sp>
      <p:sp>
        <p:nvSpPr>
          <p:cNvPr id="7" name="reg-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Registration, state by state</a:t>
            </a:r>
            <a:endParaRPr lang="en-US" sz="1100" noProof="1"/>
          </a:p>
        </p:txBody>
      </p:sp>
      <p:sp>
        <p:nvSpPr>
          <p:cNvPr id="8" name="reg-steps"/>
          <p:cNvSpPr txBox="1"/>
          <p:nvPr/>
        </p:nvSpPr>
        <p:spPr>
          <a:xfrm>
            <a:off x="6858000" y="1447800"/>
            <a:ext cx="4724400" cy="254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 · Power and network</a:t>
            </a:r>
            <a:r>
              <a:rPr lang="en-US" sz="1250" noProof="1">
                <a:solidFill>
                  <a:srgbClr val="000000"/>
                </a:solidFill>
                <a:latin typeface="Liter"/>
                <a:ea typeface="MiSans"/>
              </a:rPr>
              <a:t> — PoE up, voice VLAN from CDP/LLDP, DHCP address with option 150 (TFTP server).</a:t>
            </a:r>
            <a:endParaRPr lang="en-US" sz="1250" noProof="1"/>
          </a:p>
          <a:p>
            <a:pPr>
              <a:lnSpc>
                <a:spcPct val="145000"/>
              </a:lnSpc>
              <a:spcBef>
                <a:spcPts val="900"/>
              </a:spcBef>
            </a:pPr>
            <a:r>
              <a:rPr lang="en-US" sz="1250" noProof="1" b="1">
                <a:solidFill>
                  <a:srgbClr val="000000"/>
                </a:solidFill>
                <a:latin typeface="Liter"/>
                <a:ea typeface="MiSans"/>
              </a:rPr>
              <a:t>2 · Config download</a:t>
            </a:r>
            <a:r>
              <a:rPr lang="en-US" sz="1250" noProof="1">
                <a:solidFill>
                  <a:srgbClr val="000000"/>
                </a:solidFill>
                <a:latin typeface="Liter"/>
                <a:ea typeface="MiSans"/>
              </a:rPr>
              <a:t> — phone fetches its signed config file from TFTP; CTL validation happens here.</a:t>
            </a:r>
            <a:endParaRPr lang="en-US" sz="1250" noProof="1"/>
          </a:p>
          <a:p>
            <a:pPr>
              <a:lnSpc>
                <a:spcPct val="145000"/>
              </a:lnSpc>
              <a:spcBef>
                <a:spcPts val="900"/>
              </a:spcBef>
            </a:pPr>
            <a:r>
              <a:rPr lang="en-US" sz="1250" noProof="1" b="1">
                <a:solidFill>
                  <a:srgbClr val="000000"/>
                </a:solidFill>
                <a:latin typeface="Liter"/>
                <a:ea typeface="MiSans"/>
              </a:rPr>
              <a:t>3 · Register</a:t>
            </a:r>
            <a:r>
              <a:rPr lang="en-US" sz="1250" noProof="1">
                <a:solidFill>
                  <a:srgbClr val="000000"/>
                </a:solidFill>
                <a:latin typeface="Liter"/>
                <a:ea typeface="MiSans"/>
              </a:rPr>
              <a:t> — SIP or SCCP registration to the primary subscriber in its CUCM group; keepalives maintain the session.</a:t>
            </a:r>
            <a:endParaRPr lang="en-US" sz="1250" noProof="1"/>
          </a:p>
          <a:p>
            <a:pPr>
              <a:lnSpc>
                <a:spcPct val="145000"/>
              </a:lnSpc>
              <a:spcBef>
                <a:spcPts val="900"/>
              </a:spcBef>
            </a:pPr>
            <a:r>
              <a:rPr lang="en-US" sz="1250" noProof="1" b="1">
                <a:solidFill>
                  <a:srgbClr val="000000"/>
                </a:solidFill>
                <a:latin typeface="Liter"/>
                <a:ea typeface="MiSans"/>
              </a:rPr>
              <a:t>4 · Serve calls</a:t>
            </a:r>
            <a:r>
              <a:rPr lang="en-US" sz="1250" noProof="1">
                <a:solidFill>
                  <a:srgbClr val="000000"/>
                </a:solidFill>
                <a:latin typeface="Liter"/>
                <a:ea typeface="MiSans"/>
              </a:rPr>
              <a:t> — softkeys, lines and services come alive; failures at each stage have distinct status messages on the phone's web page.</a:t>
            </a:r>
            <a:endParaRPr lang="en-US" sz="1250" noProof="1"/>
          </a:p>
        </p:txBody>
      </p:sp>
      <p:sp>
        <p:nvSpPr>
          <p:cNvPr id="9" name="reg-box"/>
          <p:cNvSpPr/>
          <p:nvPr/>
        </p:nvSpPr>
        <p:spPr>
          <a:xfrm>
            <a:off x="6858000" y="4191000"/>
            <a:ext cx="4724400" cy="1270000"/>
          </a:xfrm>
          <a:prstGeom prst="roundRect">
            <a:avLst>
              <a:gd name="adj" fmla="val 12000"/>
            </a:avLst>
          </a:prstGeom>
          <a:solidFill>
            <a:srgbClr val="F3F3F3"/>
          </a:solidFill>
          <a:ln>
            <a:noFill/>
          </a:ln>
        </p:spPr>
      </p:sp>
      <p:sp>
        <p:nvSpPr>
          <p:cNvPr id="10" name="reg-box-t"/>
          <p:cNvSpPr txBox="1"/>
          <p:nvPr/>
        </p:nvSpPr>
        <p:spPr>
          <a:xfrm>
            <a:off x="7035800" y="4318000"/>
            <a:ext cx="43688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Field habit:</a:t>
            </a:r>
            <a:r>
              <a:rPr lang="en-US" sz="1000" noProof="1">
                <a:solidFill>
                  <a:srgbClr val="5A5A5A"/>
                </a:solidFill>
                <a:latin typeface="Liter"/>
                <a:ea typeface="MiSans"/>
              </a:rPr>
              <a:t> the phone's built-in web status page (browse to its IP) shows network, TFTP and registration status with plain-language error messages — it answers "why won't this phone register" faster than any server log.</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IP Phone 8800 series and Webex devices administration documentation, cisco.com</a:t>
            </a:r>
            <a:endParaRPr lang="en-US" sz="850" noProof="1"/>
          </a:p>
        </p:txBody>
      </p:sp>
      <p:sp>
        <p:nvSpPr>
          <p:cNvPr id="13" name="cml-footer-bar"/>
          <p:cNvSpPr/>
          <p:nvPr/>
        </p:nvSpPr>
        <p:spPr>
          <a:xfrm>
            <a:off x="0" y="6670000"/>
            <a:ext cx="12192000" cy="640000"/>
          </a:xfrm>
          <a:prstGeom prst="rect">
            <a:avLst/>
          </a:prstGeom>
          <a:solidFill>
            <a:srgbClr val="12161C"/>
          </a:solidFill>
          <a:ln>
            <a:noFill/>
          </a:ln>
        </p:spPr>
        <p:txBody>
          <a:bodyPr/>
          <a:lstStyle/>
          <a:p/>
        </p:txBody>
      </p:sp>
      <p:sp>
        <p:nvSpPr>
          <p:cNvPr id="14" name="cml-footer-rule"/>
          <p:cNvSpPr/>
          <p:nvPr/>
        </p:nvSpPr>
        <p:spPr>
          <a:xfrm>
            <a:off x="0" y="6670000"/>
            <a:ext cx="12192000" cy="19050"/>
          </a:xfrm>
          <a:prstGeom prst="rect">
            <a:avLst/>
          </a:prstGeom>
          <a:solidFill>
            <a:srgbClr val="2DD4BF"/>
          </a:solidFill>
          <a:ln>
            <a:noFill/>
          </a:ln>
        </p:spPr>
        <p:txBody>
          <a:bodyPr/>
          <a:lstStyle/>
          <a:p/>
        </p:txBody>
      </p:sp>
      <p:sp>
        <p:nvSpPr>
          <p:cNvPr id="1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Expressway delivers full UC off-net without VPN — zones are the trust design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Mobile and Remote Access (MRA) lets Jabber and desk phones register from anywhere; the traversal zone pair is what makes it safe.</a:t>
            </a:r>
            <a:endParaRPr lang="en-US" sz="1100" noProof="1"/>
          </a:p>
        </p:txBody>
      </p:sp>
      <p:sp>
        <p:nvSpPr>
          <p:cNvPr id="4" name="dia-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MRA path from the internet to the core</a:t>
            </a:r>
            <a:endParaRPr lang="en-US" sz="1100" noProof="1"/>
          </a:p>
        </p:txBody>
      </p:sp>
      <p:sp>
        <p:nvSpPr>
          <p:cNvPr id="5" name="m-inet"/>
          <p:cNvSpPr/>
          <p:nvPr/>
        </p:nvSpPr>
        <p:spPr>
          <a:xfrm>
            <a:off x="609600" y="1524000"/>
            <a:ext cx="1219200" cy="558800"/>
          </a:xfrm>
          <a:prstGeom prst="rect">
            <a:avLst/>
          </a:prstGeom>
          <a:solidFill>
            <a:srgbClr val="FFFFFF"/>
          </a:solidFill>
          <a:ln w="10160">
            <a:solidFill>
              <a:srgbClr val="333333"/>
            </a:solidFill>
          </a:ln>
        </p:spPr>
      </p:sp>
      <p:sp>
        <p:nvSpPr>
          <p:cNvPr id="6" name="m-inet-t"/>
          <p:cNvSpPr txBox="1"/>
          <p:nvPr/>
        </p:nvSpPr>
        <p:spPr>
          <a:xfrm>
            <a:off x="609600" y="1524000"/>
            <a:ext cx="12192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Internet</a:t>
            </a:r>
            <a:endParaRPr lang="en-US" sz="950" noProof="1"/>
          </a:p>
        </p:txBody>
      </p:sp>
      <p:sp>
        <p:nvSpPr>
          <p:cNvPr id="7" name="m-jab"/>
          <p:cNvSpPr/>
          <p:nvPr/>
        </p:nvSpPr>
        <p:spPr>
          <a:xfrm>
            <a:off x="609600" y="2286000"/>
            <a:ext cx="1219200" cy="558800"/>
          </a:xfrm>
          <a:prstGeom prst="rect">
            <a:avLst/>
          </a:prstGeom>
          <a:solidFill>
            <a:srgbClr val="F7F5F0"/>
          </a:solidFill>
          <a:ln w="10160">
            <a:solidFill>
              <a:srgbClr val="333333"/>
            </a:solidFill>
          </a:ln>
        </p:spPr>
      </p:sp>
      <p:sp>
        <p:nvSpPr>
          <p:cNvPr id="8" name="m-jab-t"/>
          <p:cNvSpPr txBox="1"/>
          <p:nvPr/>
        </p:nvSpPr>
        <p:spPr>
          <a:xfrm>
            <a:off x="609600" y="2286000"/>
            <a:ext cx="1219200" cy="558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Jabber / phone</a:t>
            </a:r>
            <a:endParaRPr lang="en-US" sz="900" noProof="1"/>
          </a:p>
          <a:p>
            <a:pPr algn="ctr">
              <a:lnSpc>
                <a:spcPct val="120000"/>
              </a:lnSpc>
            </a:pPr>
            <a:r>
              <a:rPr lang="en-US" sz="750" noProof="1">
                <a:solidFill>
                  <a:srgbClr val="000000"/>
                </a:solidFill>
                <a:latin typeface="Liter"/>
                <a:ea typeface="MiSans"/>
              </a:rPr>
              <a:t>off-net user</a:t>
            </a:r>
            <a:endParaRPr lang="en-US" sz="900" noProof="1"/>
          </a:p>
        </p:txBody>
      </p:sp>
      <p:sp>
        <p:nvSpPr>
          <p:cNvPr id="9" name="m-expe"/>
          <p:cNvSpPr/>
          <p:nvPr/>
        </p:nvSpPr>
        <p:spPr>
          <a:xfrm>
            <a:off x="2540000" y="1854200"/>
            <a:ext cx="1397000" cy="660400"/>
          </a:xfrm>
          <a:prstGeom prst="rect">
            <a:avLst/>
          </a:prstGeom>
          <a:solidFill>
            <a:srgbClr val="FFFFFF"/>
          </a:solidFill>
          <a:ln w="16510">
            <a:solidFill>
              <a:srgbClr val="000000"/>
            </a:solidFill>
          </a:ln>
        </p:spPr>
      </p:sp>
      <p:sp>
        <p:nvSpPr>
          <p:cNvPr id="10" name="m-expe-t"/>
          <p:cNvSpPr txBox="1"/>
          <p:nvPr/>
        </p:nvSpPr>
        <p:spPr>
          <a:xfrm>
            <a:off x="2540000" y="1854200"/>
            <a:ext cx="1397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Expressway-E</a:t>
            </a:r>
            <a:endParaRPr lang="en-US" sz="950" noProof="1"/>
          </a:p>
          <a:p>
            <a:pPr algn="ctr">
              <a:lnSpc>
                <a:spcPct val="120000"/>
              </a:lnSpc>
            </a:pPr>
            <a:r>
              <a:rPr lang="en-US" sz="750" noProof="1">
                <a:solidFill>
                  <a:srgbClr val="000000"/>
                </a:solidFill>
                <a:latin typeface="Liter"/>
                <a:ea typeface="MiSans"/>
              </a:rPr>
              <a:t>DMZ edge</a:t>
            </a:r>
            <a:endParaRPr lang="en-US" sz="950" noProof="1"/>
          </a:p>
        </p:txBody>
      </p:sp>
      <p:sp>
        <p:nvSpPr>
          <p:cNvPr id="11" name="m-expc"/>
          <p:cNvSpPr/>
          <p:nvPr/>
        </p:nvSpPr>
        <p:spPr>
          <a:xfrm>
            <a:off x="4648200" y="1854200"/>
            <a:ext cx="1397000" cy="660400"/>
          </a:xfrm>
          <a:prstGeom prst="rect">
            <a:avLst/>
          </a:prstGeom>
          <a:solidFill>
            <a:srgbClr val="FFFFFF"/>
          </a:solidFill>
          <a:ln w="16510">
            <a:solidFill>
              <a:srgbClr val="000000"/>
            </a:solidFill>
          </a:ln>
        </p:spPr>
      </p:sp>
      <p:sp>
        <p:nvSpPr>
          <p:cNvPr id="12" name="m-expc-t"/>
          <p:cNvSpPr txBox="1"/>
          <p:nvPr/>
        </p:nvSpPr>
        <p:spPr>
          <a:xfrm>
            <a:off x="4648200" y="1854200"/>
            <a:ext cx="1397000" cy="6604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Expressway-C</a:t>
            </a:r>
            <a:endParaRPr lang="en-US" sz="950" noProof="1"/>
          </a:p>
          <a:p>
            <a:pPr algn="ctr">
              <a:lnSpc>
                <a:spcPct val="120000"/>
              </a:lnSpc>
            </a:pPr>
            <a:r>
              <a:rPr lang="en-US" sz="750" noProof="1">
                <a:solidFill>
                  <a:srgbClr val="000000"/>
                </a:solidFill>
                <a:latin typeface="Liter"/>
                <a:ea typeface="MiSans"/>
              </a:rPr>
              <a:t>inside</a:t>
            </a:r>
            <a:endParaRPr lang="en-US" sz="950" noProof="1"/>
          </a:p>
        </p:txBody>
      </p:sp>
      <p:sp>
        <p:nvSpPr>
          <p:cNvPr id="13" name="m-cucm"/>
          <p:cNvSpPr/>
          <p:nvPr/>
        </p:nvSpPr>
        <p:spPr>
          <a:xfrm>
            <a:off x="6756400" y="1854200"/>
            <a:ext cx="1397000" cy="660400"/>
          </a:xfrm>
          <a:prstGeom prst="rect">
            <a:avLst/>
          </a:prstGeom>
          <a:solidFill>
            <a:srgbClr val="F7F5F0"/>
          </a:solidFill>
          <a:ln w="10160">
            <a:solidFill>
              <a:srgbClr val="333333"/>
            </a:solidFill>
          </a:ln>
        </p:spPr>
      </p:sp>
      <p:sp>
        <p:nvSpPr>
          <p:cNvPr id="14" name="m-cucm-t"/>
          <p:cNvSpPr txBox="1"/>
          <p:nvPr/>
        </p:nvSpPr>
        <p:spPr>
          <a:xfrm>
            <a:off x="6756400" y="1854200"/>
            <a:ext cx="1397000" cy="660400"/>
          </a:xfrm>
          <a:prstGeom prst="rect">
            <a:avLst/>
          </a:prstGeom>
          <a:noFill/>
          <a:ln>
            <a:noFill/>
          </a:ln>
        </p:spPr>
        <p:txBody>
          <a:bodyPr lIns="0" rIns="0" tIns="0" bIns="0" wrap="square" rtlCol="0" anchor="ctr"/>
          <a:lstStyle/>
          <a:p>
            <a:pPr algn="ctr">
              <a:lnSpc>
                <a:spcPct val="120000"/>
              </a:lnSpc>
            </a:pPr>
            <a:r>
              <a:rPr lang="en-US" sz="950" noProof="1">
                <a:solidFill>
                  <a:srgbClr val="333333"/>
                </a:solidFill>
                <a:latin typeface="Liter"/>
                <a:ea typeface="MiSans"/>
              </a:rPr>
              <a:t>CUCM · IM&amp;P
Unity Connection</a:t>
            </a:r>
            <a:endParaRPr lang="en-US" sz="950" noProof="1"/>
          </a:p>
        </p:txBody>
      </p:sp>
      <p:sp>
        <p:nvSpPr>
          <p:cNvPr id="15" name="m-a1"/>
          <p:cNvSpPr/>
          <p:nvPr>
            <p:extLst>
              <p:ext uri="{F5677B7D-0D2A-4D9B-9A5C-6D8D7D0E5A5D}">
                <pptd:line encoding="base64url">eyJ2aWV3Qm94IjpbNTYsMV0sInBvaW50cyI6IjAsMCA1NiwwIn0</pptd:line>
              </p:ext>
            </p:extLst>
          </p:nvPr>
        </p:nvSpPr>
        <p:spPr>
          <a:xfrm>
            <a:off x="1828800" y="2133600"/>
            <a:ext cx="711200" cy="12700"/>
          </a:xfrm>
          <a:custGeom>
            <a:avLst/>
            <a:gdLst/>
            <a:ahLst/>
            <a:cxnLst/>
            <a:rect l="l" t="t" r="r" b="b"/>
            <a:pathLst>
              <a:path w="56" h="1">
                <a:moveTo>
                  <a:pt x="0" y="0"/>
                </a:moveTo>
                <a:lnTo>
                  <a:pt x="56" y="0"/>
                </a:lnTo>
              </a:path>
            </a:pathLst>
          </a:custGeom>
          <a:noFill/>
          <a:ln w="17780" cap="rnd">
            <a:solidFill>
              <a:srgbClr val="E69138"/>
            </a:solidFill>
            <a:round/>
            <a:tailEnd type="arrow"/>
          </a:ln>
        </p:spPr>
      </p:sp>
      <p:sp>
        <p:nvSpPr>
          <p:cNvPr id="16" name="m-a1t"/>
          <p:cNvSpPr txBox="1"/>
          <p:nvPr/>
        </p:nvSpPr>
        <p:spPr>
          <a:xfrm>
            <a:off x="1854200" y="1930400"/>
            <a:ext cx="7112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SIP TLS</a:t>
            </a:r>
            <a:endParaRPr lang="en-US" sz="750" noProof="1"/>
          </a:p>
        </p:txBody>
      </p:sp>
      <p:sp>
        <p:nvSpPr>
          <p:cNvPr id="17" name="m-a2"/>
          <p:cNvSpPr/>
          <p:nvPr>
            <p:extLst>
              <p:ext uri="{F5677B7D-0D2A-4D9B-9A5C-6D8D7D0E5A5D}">
                <pptd:line encoding="base64url">eyJ2aWV3Qm94IjpbNTYsMV0sInBvaW50cyI6IjAsMCA1NiwwIn0</pptd:line>
              </p:ext>
            </p:extLst>
          </p:nvPr>
        </p:nvSpPr>
        <p:spPr>
          <a:xfrm>
            <a:off x="3937000" y="2133600"/>
            <a:ext cx="711200" cy="12700"/>
          </a:xfrm>
          <a:custGeom>
            <a:avLst/>
            <a:gdLst/>
            <a:ahLst/>
            <a:cxnLst/>
            <a:rect l="l" t="t" r="r" b="b"/>
            <a:pathLst>
              <a:path w="56" h="1">
                <a:moveTo>
                  <a:pt x="0" y="0"/>
                </a:moveTo>
                <a:lnTo>
                  <a:pt x="56" y="0"/>
                </a:lnTo>
              </a:path>
            </a:pathLst>
          </a:custGeom>
          <a:noFill/>
          <a:ln w="17780" cap="rnd">
            <a:solidFill>
              <a:srgbClr val="E69138"/>
            </a:solidFill>
            <a:round/>
            <a:headEnd type="arrow"/>
            <a:tailEnd type="arrow"/>
          </a:ln>
        </p:spPr>
      </p:sp>
      <p:sp>
        <p:nvSpPr>
          <p:cNvPr id="18" name="m-a2t"/>
          <p:cNvSpPr txBox="1"/>
          <p:nvPr/>
        </p:nvSpPr>
        <p:spPr>
          <a:xfrm>
            <a:off x="3835400" y="1930400"/>
            <a:ext cx="9398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traversal zone</a:t>
            </a:r>
            <a:endParaRPr lang="en-US" sz="750" noProof="1"/>
          </a:p>
        </p:txBody>
      </p:sp>
      <p:sp>
        <p:nvSpPr>
          <p:cNvPr id="19" name="m-a3"/>
          <p:cNvSpPr/>
          <p:nvPr>
            <p:extLst>
              <p:ext uri="{F5677B7D-0D2A-4D9B-9A5C-6D8D7D0E5A5D}">
                <pptd:line encoding="base64url">eyJ2aWV3Qm94IjpbNTYsMV0sInBvaW50cyI6IjAsMCA1NiwwIn0</pptd:line>
              </p:ext>
            </p:extLst>
          </p:nvPr>
        </p:nvSpPr>
        <p:spPr>
          <a:xfrm>
            <a:off x="6045200" y="2133600"/>
            <a:ext cx="711200" cy="12700"/>
          </a:xfrm>
          <a:custGeom>
            <a:avLst/>
            <a:gdLst/>
            <a:ahLst/>
            <a:cxnLst/>
            <a:rect l="l" t="t" r="r" b="b"/>
            <a:pathLst>
              <a:path w="56" h="1">
                <a:moveTo>
                  <a:pt x="0" y="0"/>
                </a:moveTo>
                <a:lnTo>
                  <a:pt x="56" y="0"/>
                </a:lnTo>
              </a:path>
            </a:pathLst>
          </a:custGeom>
          <a:noFill/>
          <a:ln w="17780" cap="rnd">
            <a:solidFill>
              <a:srgbClr val="E69138"/>
            </a:solidFill>
            <a:round/>
            <a:tailEnd type="arrow"/>
          </a:ln>
        </p:spPr>
      </p:sp>
      <p:sp>
        <p:nvSpPr>
          <p:cNvPr id="20" name="m-a3t"/>
          <p:cNvSpPr txBox="1"/>
          <p:nvPr/>
        </p:nvSpPr>
        <p:spPr>
          <a:xfrm>
            <a:off x="6070600" y="1930400"/>
            <a:ext cx="7112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SIP TLS</a:t>
            </a:r>
            <a:endParaRPr lang="en-US" sz="750" noProof="1"/>
          </a:p>
        </p:txBody>
      </p:sp>
      <p:sp>
        <p:nvSpPr>
          <p:cNvPr id="21" name="m-a4"/>
          <p:cNvSpPr/>
          <p:nvPr>
            <p:extLst>
              <p:ext uri="{F5677B7D-0D2A-4D9B-9A5C-6D8D7D0E5A5D}">
                <pptd:line encoding="base64url">eyJ2aWV3Qm94IjpbNTYsMTZdLCJwb2ludHMiOiIwLDE2IDU2LDAifQ</pptd:line>
              </p:ext>
            </p:extLst>
          </p:nvPr>
        </p:nvSpPr>
        <p:spPr>
          <a:xfrm>
            <a:off x="1219200" y="2286000"/>
            <a:ext cx="711200" cy="203200"/>
          </a:xfrm>
          <a:custGeom>
            <a:avLst/>
            <a:gdLst/>
            <a:ahLst/>
            <a:cxnLst/>
            <a:rect l="l" t="t" r="r" b="b"/>
            <a:pathLst>
              <a:path w="56" h="16">
                <a:moveTo>
                  <a:pt x="0" y="16"/>
                </a:moveTo>
                <a:lnTo>
                  <a:pt x="56" y="0"/>
                </a:lnTo>
              </a:path>
            </a:pathLst>
          </a:custGeom>
          <a:noFill/>
          <a:ln w="11430" cap="rnd">
            <a:solidFill>
              <a:srgbClr val="A9AAAC"/>
            </a:solidFill>
            <a:prstDash val="dash"/>
            <a:round/>
          </a:ln>
        </p:spPr>
      </p:sp>
      <p:sp>
        <p:nvSpPr>
          <p:cNvPr id="22" name="m-note"/>
          <p:cNvSpPr txBox="1"/>
          <p:nvPr/>
        </p:nvSpPr>
        <p:spPr>
          <a:xfrm>
            <a:off x="609600" y="2895600"/>
            <a:ext cx="5461000" cy="1270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traversal zone is a mutually authenticated, always-on tunnel between the E (DMZ) and C (inside) pair. No inbound ports are opened to the core; the C initiates everything. </a:t>
            </a:r>
            <a:r>
              <a:rPr lang="en-US" sz="1250" noProof="1" b="1">
                <a:solidFill>
                  <a:srgbClr val="000000"/>
                </a:solidFill>
                <a:latin typeface="Liter"/>
                <a:ea typeface="MiSans"/>
              </a:rPr>
              <a:t>Certificates are the whole trust model</a:t>
            </a:r>
            <a:r>
              <a:rPr lang="en-US" sz="1250" noProof="1">
                <a:solidFill>
                  <a:srgbClr val="000000"/>
                </a:solidFill>
                <a:latin typeface="Liter"/>
                <a:ea typeface="MiSans"/>
              </a:rPr>
              <a:t> — public CA on the E, and both nodes must trust each other.</a:t>
            </a:r>
            <a:endParaRPr lang="en-US" sz="1250" noProof="1"/>
          </a:p>
        </p:txBody>
      </p:sp>
      <p:sp>
        <p:nvSpPr>
          <p:cNvPr id="23" name="cfg-h"/>
          <p:cNvSpPr txBox="1"/>
          <p:nvPr/>
        </p:nvSpPr>
        <p:spPr>
          <a:xfrm>
            <a:off x="609600" y="43688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actually configure</a:t>
            </a:r>
            <a:endParaRPr lang="en-US" sz="1100" noProof="1"/>
          </a:p>
        </p:txBody>
      </p:sp>
      <p:sp>
        <p:nvSpPr>
          <p:cNvPr id="24" name="cfg-list"/>
          <p:cNvSpPr txBox="1"/>
          <p:nvPr/>
        </p:nvSpPr>
        <p:spPr>
          <a:xfrm>
            <a:off x="609600" y="4673600"/>
            <a:ext cx="5461000" cy="14224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 Domains and DNS SRV records (</a:t>
            </a:r>
            <a:r>
              <a:rPr lang="en-US" sz="1250" noProof="1">
                <a:solidFill>
                  <a:srgbClr val="000000"/>
                </a:solidFill>
                <a:latin typeface="JetBrains Mono"/>
                <a:ea typeface="JetBrains Mono"/>
              </a:rPr>
              <a:t>_collab-edge._tls</a:t>
            </a:r>
            <a:r>
              <a:rPr lang="en-US" sz="1250" noProof="1">
                <a:solidFill>
                  <a:srgbClr val="000000"/>
                </a:solidFill>
                <a:latin typeface="Liter"/>
                <a:ea typeface="MiSans"/>
              </a:rPr>
              <a:t>)</a:t>
            </a:r>
            <a:endParaRPr lang="en-US" sz="1250" noProof="1"/>
          </a:p>
          <a:p>
            <a:pPr>
              <a:lnSpc>
                <a:spcPct val="145000"/>
              </a:lnSpc>
              <a:spcBef>
                <a:spcPts val="500"/>
              </a:spcBef>
            </a:pPr>
            <a:r>
              <a:rPr lang="en-US" sz="1250" noProof="1">
                <a:solidFill>
                  <a:srgbClr val="000000"/>
                </a:solidFill>
                <a:latin typeface="Liter"/>
                <a:ea typeface="MiSans"/>
              </a:rPr>
              <a:t>· Traversal zone pair between E and C, with certificates</a:t>
            </a:r>
            <a:endParaRPr lang="en-US" sz="1250" noProof="1"/>
          </a:p>
        </p:txBody>
      </p:sp>
      <p:sp>
        <p:nvSpPr>
          <p:cNvPr id="25" name="use-h"/>
          <p:cNvSpPr txBox="1"/>
          <p:nvPr/>
        </p:nvSpPr>
        <p:spPr>
          <a:xfrm>
            <a:off x="8890000" y="2895600"/>
            <a:ext cx="2692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Beyond MRA</a:t>
            </a:r>
            <a:endParaRPr lang="en-US" sz="1100" noProof="1"/>
          </a:p>
        </p:txBody>
      </p:sp>
      <p:sp>
        <p:nvSpPr>
          <p:cNvPr id="26" name="use-text"/>
          <p:cNvSpPr txBox="1"/>
          <p:nvPr/>
        </p:nvSpPr>
        <p:spPr>
          <a:xfrm>
            <a:off x="8890000" y="3175000"/>
            <a:ext cx="2692400" cy="2794000"/>
          </a:xfrm>
          <a:prstGeom prst="rect">
            <a:avLst/>
          </a:prstGeom>
          <a:noFill/>
          <a:ln>
            <a:noFill/>
          </a:ln>
        </p:spPr>
        <p:txBody>
          <a:bodyPr lIns="0" rIns="0" tIns="0" bIns="0" wrap="square" rtlCol="0"/>
          <a:lstStyle/>
          <a:p>
            <a:pPr>
              <a:lnSpc>
                <a:spcPct val="145000"/>
              </a:lnSpc>
            </a:pPr>
            <a:r>
              <a:rPr lang="en-US" sz="1150" noProof="1" b="1">
                <a:solidFill>
                  <a:srgbClr val="000000"/>
                </a:solidFill>
                <a:latin typeface="Liter"/>
                <a:ea typeface="MiSans"/>
              </a:rPr>
              <a:t>B2B calling</a:t>
            </a:r>
            <a:r>
              <a:rPr lang="en-US" sz="1150" noProof="1">
                <a:solidFill>
                  <a:srgbClr val="000000"/>
                </a:solidFill>
                <a:latin typeface="Liter"/>
                <a:ea typeface="MiSans"/>
              </a:rPr>
              <a:t> — SIP/H.323 calls between organizations, with search rules and rich media sessions.</a:t>
            </a:r>
            <a:endParaRPr lang="en-US" sz="1150" noProof="1"/>
          </a:p>
          <a:p>
            <a:pPr>
              <a:lnSpc>
                <a:spcPct val="145000"/>
              </a:lnSpc>
              <a:spcBef>
                <a:spcPts val="1000"/>
              </a:spcBef>
            </a:pPr>
            <a:r>
              <a:rPr lang="en-US" sz="1150" noProof="1" b="1">
                <a:solidFill>
                  <a:srgbClr val="000000"/>
                </a:solidFill>
                <a:latin typeface="Liter"/>
                <a:ea typeface="MiSans"/>
              </a:rPr>
              <a:t>Webex hybrid</a:t>
            </a:r>
            <a:r>
              <a:rPr lang="en-US" sz="1150" noProof="1">
                <a:solidFill>
                  <a:srgbClr val="000000"/>
                </a:solidFill>
                <a:latin typeface="Liter"/>
                <a:ea typeface="MiSans"/>
              </a:rPr>
              <a:t> — the same pair hosts hybrid calendar and call connectors toward the cloud.</a:t>
            </a:r>
            <a:endParaRPr lang="en-US" sz="1150" noProof="1"/>
          </a:p>
          <a:p>
            <a:pPr>
              <a:lnSpc>
                <a:spcPct val="145000"/>
              </a:lnSpc>
              <a:spcBef>
                <a:spcPts val="1000"/>
              </a:spcBef>
            </a:pPr>
            <a:r>
              <a:rPr lang="en-US" sz="1150" noProof="1" b="1">
                <a:solidFill>
                  <a:srgbClr val="000000"/>
                </a:solidFill>
                <a:latin typeface="Liter"/>
                <a:ea typeface="MiSans"/>
              </a:rPr>
              <a:t>Business continuity</a:t>
            </a:r>
            <a:r>
              <a:rPr lang="en-US" sz="1150" noProof="1">
                <a:solidFill>
                  <a:srgbClr val="000000"/>
                </a:solidFill>
                <a:latin typeface="Liter"/>
                <a:ea typeface="MiSans"/>
              </a:rPr>
              <a:t> — remote workers keep full dialing behavior when offices close; no VPN capacity needed for voice.</a:t>
            </a:r>
            <a:endParaRPr lang="en-US" sz="11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Expressway basic configuration and MRA deployment guides, cisco.com</a:t>
            </a:r>
            <a:endParaRPr lang="en-US" sz="850" noProof="1"/>
          </a:p>
        </p:txBody>
      </p:sp>
      <p:sp>
        <p:nvSpPr>
          <p:cNvPr id="29" name="cml-footer-bar"/>
          <p:cNvSpPr/>
          <p:nvPr/>
        </p:nvSpPr>
        <p:spPr>
          <a:xfrm>
            <a:off x="0" y="6670000"/>
            <a:ext cx="12192000" cy="640000"/>
          </a:xfrm>
          <a:prstGeom prst="rect">
            <a:avLst/>
          </a:prstGeom>
          <a:solidFill>
            <a:srgbClr val="12161C"/>
          </a:solidFill>
          <a:ln>
            <a:noFill/>
          </a:ln>
        </p:spPr>
        <p:txBody>
          <a:bodyPr/>
          <a:lstStyle/>
          <a:p/>
        </p:txBody>
      </p:sp>
      <p:sp>
        <p:nvSpPr>
          <p:cNvPr id="30" name="cml-footer-rule"/>
          <p:cNvSpPr/>
          <p:nvPr/>
        </p:nvSpPr>
        <p:spPr>
          <a:xfrm>
            <a:off x="0" y="6670000"/>
            <a:ext cx="12192000" cy="19050"/>
          </a:xfrm>
          <a:prstGeom prst="rect">
            <a:avLst/>
          </a:prstGeom>
          <a:solidFill>
            <a:srgbClr val="2DD4BF"/>
          </a:solidFill>
          <a:ln>
            <a:noFill/>
          </a:ln>
        </p:spPr>
        <p:txBody>
          <a:bodyPr/>
          <a:lstStyle/>
          <a:p/>
        </p:txBody>
      </p:sp>
      <p:sp>
        <p:nvSpPr>
          <p:cNvPr id="3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7.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Unity Connection is five objects: ports, templates, users, handlers, and MWI</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Voicemail looks simple because the complexity hides in the call handlers and the class of service.</a:t>
            </a:r>
            <a:endParaRPr lang="en-US" sz="1100" noProof="1"/>
          </a:p>
        </p:txBody>
      </p:sp>
      <p:sp>
        <p:nvSpPr>
          <p:cNvPr id="4" name="obj-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objects, in build order</a:t>
            </a:r>
            <a:endParaRPr lang="en-US" sz="1100" noProof="1"/>
          </a:p>
        </p:txBody>
      </p:sp>
      <p:graphicFrame>
        <p:nvGraphicFramePr>
          <p:cNvPr id="5" name="obj-table"/>
          <p:cNvGraphicFramePr>
            <a:graphicFrameLocks noGrp="1"/>
          </p:cNvGraphicFramePr>
          <p:nvPr/>
        </p:nvGraphicFramePr>
        <p:xfrm>
          <a:off x="609600" y="1447800"/>
          <a:ext cx="5969000" cy="3276600"/>
        </p:xfrm>
        <a:graphic>
          <a:graphicData uri="http://schemas.openxmlformats.org/drawingml/2006/table">
            <a:tbl>
              <a:tblPr/>
              <a:tblGrid>
                <a:gridCol w="1790700"/>
                <a:gridCol w="4178300"/>
              </a:tblGrid>
              <a:tr h="294894">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carries</a:t>
                      </a:r>
                    </a:p>
                  </a:txBody>
                  <a:tcPr marL="91440" marR="91440" marT="45720" marB="45720" anchor="ctr">
                    <a:lnL>
                      <a:noFill/>
                    </a:lnL>
                    <a:lnR>
                      <a:noFill/>
                    </a:lnR>
                    <a:lnT>
                      <a:noFill/>
                    </a:lnT>
                    <a:lnB w="15240">
                      <a:solidFill>
                        <a:srgbClr val="000000"/>
                      </a:solidFill>
                    </a:lnB>
                    <a:noFill/>
                  </a:tcPr>
                </a:tc>
              </a:tr>
              <a:tr h="596341">
                <a:tc>
                  <a:txBody>
                    <a:bodyPr wrap="square" rtlCol="0" anchor="ctr"/>
                    <a:lstStyle/>
                    <a:p>
                      <a:pPr algn="l"/>
                      <a:r>
                        <a:rPr lang="en-US" sz="1050" noProof="1">
                          <a:solidFill>
                            <a:srgbClr val="000000"/>
                          </a:solidFill>
                          <a:latin typeface="Liter"/>
                          <a:ea typeface="MiSans"/>
                        </a:rPr>
                        <a:t>1 · VM ports / trunk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SCCP port group or SIP trunk to CUCM, plus the voicemail pilot and hunt pilot — the integration itself</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2 · User templates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class of service, mailbox quotas, notification devices — every new mailbox inherits from one</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3 · Users / mailboxes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imported from CUCM via AXL or from LDAP; alias and extension must match the dial plan</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4 · Call handlers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auto attendant — greetings, caller-input menus, transfer rules; most custom work lives here</a:t>
                      </a:r>
                    </a:p>
                  </a:txBody>
                  <a:tcPr marL="91440" marR="91440" marT="45720" marB="45720" anchor="ctr">
                    <a:lnL>
                      <a:noFill/>
                    </a:lnL>
                    <a:lnR>
                      <a:noFill/>
                    </a:lnR>
                    <a:lnT>
                      <a:noFill/>
                    </a:lnT>
                    <a:lnB w="7620">
                      <a:solidFill>
                        <a:srgbClr val="D9D9D9"/>
                      </a:solidFill>
                    </a:lnB>
                    <a:noFill/>
                  </a:tcPr>
                </a:tc>
              </a:tr>
              <a:tr h="596341">
                <a:tc>
                  <a:txBody>
                    <a:bodyPr wrap="square" rtlCol="0" anchor="ctr"/>
                    <a:lstStyle/>
                    <a:p>
                      <a:pPr algn="l"/>
                      <a:r>
                        <a:rPr lang="en-US" sz="1050" noProof="1">
                          <a:solidFill>
                            <a:srgbClr val="000000"/>
                          </a:solidFill>
                          <a:latin typeface="Liter"/>
                          <a:ea typeface="MiSans"/>
                        </a:rPr>
                        <a:t>5 · MWI on / off DNs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the message-waiting lamp pair; must be reachable from every phone's CSS</a:t>
                      </a:r>
                    </a:p>
                  </a:txBody>
                  <a:tcPr marL="91440" marR="91440" marT="45720" marB="45720" anchor="ctr">
                    <a:lnL>
                      <a:noFill/>
                    </a:lnL>
                    <a:lnR>
                      <a:noFill/>
                    </a:lnR>
                    <a:lnT>
                      <a:noFill/>
                    </a:lnT>
                    <a:lnB w="7620">
                      <a:solidFill>
                        <a:srgbClr val="D9D9D9"/>
                      </a:solidFill>
                    </a:lnB>
                    <a:noFill/>
                  </a:tcPr>
                </a:tc>
              </a:tr>
            </a:tbl>
          </a:graphicData>
        </a:graphic>
      </p:graphicFrame>
      <p:sp>
        <p:nvSpPr>
          <p:cNvPr id="6" name="obj-note"/>
          <p:cNvSpPr txBox="1"/>
          <p:nvPr/>
        </p:nvSpPr>
        <p:spPr>
          <a:xfrm>
            <a:off x="609600" y="4902200"/>
            <a:ext cx="59690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classic interview question:</a:t>
            </a:r>
            <a:r>
              <a:rPr lang="en-US" sz="1250" noProof="1">
                <a:solidFill>
                  <a:srgbClr val="000000"/>
                </a:solidFill>
                <a:latin typeface="Liter"/>
                <a:ea typeface="MiSans"/>
              </a:rPr>
              <a:t> why does MWI work for some phones and not others? Because the MWI DNs sit in a partition — if a phone's CSS cannot reach them, Unity lights the lamp and CUCM cannot deliver it.</a:t>
            </a:r>
            <a:endParaRPr lang="en-US" sz="1250" noProof="1"/>
          </a:p>
        </p:txBody>
      </p:sp>
      <p:sp>
        <p:nvSpPr>
          <p:cNvPr id="7" name="ex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Beyond the five objects</a:t>
            </a:r>
            <a:endParaRPr lang="en-US" sz="1100" noProof="1"/>
          </a:p>
        </p:txBody>
      </p:sp>
      <p:sp>
        <p:nvSpPr>
          <p:cNvPr id="8" name="e1"/>
          <p:cNvSpPr/>
          <p:nvPr/>
        </p:nvSpPr>
        <p:spPr>
          <a:xfrm>
            <a:off x="7086600" y="1447800"/>
            <a:ext cx="4495800" cy="838200"/>
          </a:xfrm>
          <a:prstGeom prst="rect">
            <a:avLst/>
          </a:prstGeom>
          <a:solidFill>
            <a:srgbClr val="F7F5F0"/>
          </a:solidFill>
          <a:ln w="10160">
            <a:solidFill>
              <a:srgbClr val="333333"/>
            </a:solidFill>
          </a:ln>
        </p:spPr>
      </p:sp>
      <p:sp>
        <p:nvSpPr>
          <p:cNvPr id="9" name="e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VPIM networking</a:t>
            </a:r>
            <a:endParaRPr lang="en-US" sz="1000" noProof="1"/>
          </a:p>
          <a:p>
            <a:pPr>
              <a:lnSpc>
                <a:spcPct val="130000"/>
              </a:lnSpc>
            </a:pPr>
            <a:r>
              <a:rPr lang="en-US" sz="850" noProof="1">
                <a:solidFill>
                  <a:srgbClr val="000000"/>
                </a:solidFill>
                <a:latin typeface="Liter"/>
                <a:ea typeface="MiSans"/>
              </a:rPr>
              <a:t>site-to-site voicemail exchange, and the bridge to legacy voicemail during a migration — users reply across systems</a:t>
            </a:r>
            <a:endParaRPr lang="en-US" sz="1000" noProof="1"/>
          </a:p>
        </p:txBody>
      </p:sp>
      <p:sp>
        <p:nvSpPr>
          <p:cNvPr id="10" name="e2"/>
          <p:cNvSpPr/>
          <p:nvPr/>
        </p:nvSpPr>
        <p:spPr>
          <a:xfrm>
            <a:off x="7086600" y="2438400"/>
            <a:ext cx="4495800" cy="838200"/>
          </a:xfrm>
          <a:prstGeom prst="rect">
            <a:avLst/>
          </a:prstGeom>
          <a:solidFill>
            <a:srgbClr val="F7F5F0"/>
          </a:solidFill>
          <a:ln w="10160">
            <a:solidFill>
              <a:srgbClr val="333333"/>
            </a:solidFill>
          </a:ln>
        </p:spPr>
      </p:sp>
      <p:sp>
        <p:nvSpPr>
          <p:cNvPr id="11" name="e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Unified messaging</a:t>
            </a:r>
            <a:endParaRPr lang="en-US" sz="1000" noProof="1"/>
          </a:p>
          <a:p>
            <a:pPr>
              <a:lnSpc>
                <a:spcPct val="130000"/>
              </a:lnSpc>
            </a:pPr>
            <a:r>
              <a:rPr lang="en-US" sz="850" noProof="1">
                <a:solidFill>
                  <a:srgbClr val="000000"/>
                </a:solidFill>
                <a:latin typeface="Liter"/>
                <a:ea typeface="MiSans"/>
              </a:rPr>
              <a:t>single inbox sync to Exchange / O365 — voicemail appears as email; deletions stay in sync both ways</a:t>
            </a:r>
            <a:endParaRPr lang="en-US" sz="1000" noProof="1"/>
          </a:p>
        </p:txBody>
      </p:sp>
      <p:sp>
        <p:nvSpPr>
          <p:cNvPr id="12" name="e3"/>
          <p:cNvSpPr/>
          <p:nvPr/>
        </p:nvSpPr>
        <p:spPr>
          <a:xfrm>
            <a:off x="7086600" y="3429000"/>
            <a:ext cx="4495800" cy="838200"/>
          </a:xfrm>
          <a:prstGeom prst="rect">
            <a:avLst/>
          </a:prstGeom>
          <a:solidFill>
            <a:srgbClr val="F7F5F0"/>
          </a:solidFill>
          <a:ln w="10160">
            <a:solidFill>
              <a:srgbClr val="333333"/>
            </a:solidFill>
          </a:ln>
        </p:spPr>
      </p:sp>
      <p:sp>
        <p:nvSpPr>
          <p:cNvPr id="13" name="e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Personal call transfer rules</a:t>
            </a:r>
            <a:endParaRPr lang="en-US" sz="1000" noProof="1"/>
          </a:p>
          <a:p>
            <a:pPr>
              <a:lnSpc>
                <a:spcPct val="130000"/>
              </a:lnSpc>
            </a:pPr>
            <a:r>
              <a:rPr lang="en-US" sz="850" noProof="1">
                <a:solidFill>
                  <a:srgbClr val="000000"/>
                </a:solidFill>
                <a:latin typeface="Liter"/>
                <a:ea typeface="MiSans"/>
              </a:rPr>
              <a:t>the find-me feature users love — time-of-day rules cascade desk, mobile, home; keep the PSTN hop secured</a:t>
            </a:r>
            <a:endParaRPr lang="en-US" sz="1000" noProof="1"/>
          </a:p>
        </p:txBody>
      </p:sp>
      <p:sp>
        <p:nvSpPr>
          <p:cNvPr id="14" name="trb-box"/>
          <p:cNvSpPr/>
          <p:nvPr/>
        </p:nvSpPr>
        <p:spPr>
          <a:xfrm>
            <a:off x="7086600" y="4470400"/>
            <a:ext cx="4495800" cy="1041400"/>
          </a:xfrm>
          <a:prstGeom prst="roundRect">
            <a:avLst>
              <a:gd name="adj" fmla="val 12000"/>
            </a:avLst>
          </a:prstGeom>
          <a:solidFill>
            <a:srgbClr val="F3F3F3"/>
          </a:solidFill>
          <a:ln>
            <a:noFill/>
          </a:ln>
        </p:spPr>
      </p:sp>
      <p:sp>
        <p:nvSpPr>
          <p:cNvPr id="15" name="trb-box-t"/>
          <p:cNvSpPr txBox="1"/>
          <p:nvPr/>
        </p:nvSpPr>
        <p:spPr>
          <a:xfrm>
            <a:off x="7239000" y="4597400"/>
            <a:ext cx="41910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Troubleshooting pair:</a:t>
            </a:r>
            <a:r>
              <a:rPr lang="en-US" sz="1000" noProof="1">
                <a:solidFill>
                  <a:srgbClr val="5A5A5A"/>
                </a:solidFill>
                <a:latin typeface="Liter"/>
                <a:ea typeface="MiSans"/>
              </a:rPr>
              <a:t> the Port Status Monitor shows every port's live state — a call stuck ringing into voicemail is a port problem until proven otherwise. Run the MWI sync task after any cluster failover.</a:t>
            </a:r>
            <a:endParaRPr lang="en-US" sz="1000" noProof="1"/>
          </a:p>
        </p:txBody>
      </p:sp>
      <p:sp>
        <p:nvSpPr>
          <p:cNvPr id="16" name="trb-note"/>
          <p:cNvSpPr txBox="1"/>
          <p:nvPr/>
        </p:nvSpPr>
        <p:spPr>
          <a:xfrm>
            <a:off x="7086600" y="5638800"/>
            <a:ext cx="4495800" cy="3556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Backups ride the same DRS schedule as CUCM (Section 06) — voicemail loss is a data incident, not a voice incident.</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Unity Connection administration and integration guides, cisco.com; VPIM per RFC 3801</a:t>
            </a:r>
            <a:endParaRPr lang="en-US" sz="850" noProof="1"/>
          </a:p>
        </p:txBody>
      </p:sp>
      <p:sp>
        <p:nvSpPr>
          <p:cNvPr id="19" name="cml-footer-bar"/>
          <p:cNvSpPr/>
          <p:nvPr/>
        </p:nvSpPr>
        <p:spPr>
          <a:xfrm>
            <a:off x="0" y="6670000"/>
            <a:ext cx="12192000" cy="640000"/>
          </a:xfrm>
          <a:prstGeom prst="rect">
            <a:avLst/>
          </a:prstGeom>
          <a:solidFill>
            <a:srgbClr val="12161C"/>
          </a:solidFill>
          <a:ln>
            <a:noFill/>
          </a:ln>
        </p:spPr>
        <p:txBody>
          <a:bodyPr/>
          <a:lstStyle/>
          <a:p/>
        </p:txBody>
      </p:sp>
      <p:sp>
        <p:nvSpPr>
          <p:cNvPr id="20" name="cml-footer-rule"/>
          <p:cNvSpPr/>
          <p:nvPr/>
        </p:nvSpPr>
        <p:spPr>
          <a:xfrm>
            <a:off x="0" y="6670000"/>
            <a:ext cx="12192000" cy="19050"/>
          </a:xfrm>
          <a:prstGeom prst="rect">
            <a:avLst/>
          </a:prstGeom>
          <a:solidFill>
            <a:srgbClr val="2DD4BF"/>
          </a:solidFill>
          <a:ln>
            <a:noFill/>
          </a:ln>
        </p:spPr>
        <p:txBody>
          <a:bodyPr/>
          <a:lstStyle/>
          <a:p/>
        </p:txBody>
      </p:sp>
      <p:sp>
        <p:nvSpPr>
          <p:cNvPr id="2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04</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Contact Center Platforms</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Choosing between UCCX, UCCE and Webex Contact Center by scale and operating model,</a:t>
            </a:r>
            <a:endParaRPr lang="en-US" sz="1300" noProof="1"/>
          </a:p>
          <a:p>
            <a:pPr>
              <a:lnSpc>
                <a:spcPct val="150000"/>
              </a:lnSpc>
            </a:pPr>
            <a:r>
              <a:rPr lang="en-US" sz="1300" noProof="1">
                <a:solidFill>
                  <a:srgbClr val="F2DADA"/>
                </a:solidFill>
                <a:latin typeface="Liter"/>
                <a:ea typeface="MiSans"/>
              </a:rPr>
              <a:t>and the end-to-end path every routed contact takes from IVR to wrap-up.</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04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2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Three platforms, three scales: UCCX for SMB, UCCE for enterprise, Webex CC for cloud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selection variable is not features — all three route and queue — but agent count, customization depth, and who operates the platform.</a:t>
            </a:r>
            <a:endParaRPr lang="en-US" sz="1100" noProof="1"/>
          </a:p>
        </p:txBody>
      </p:sp>
      <p:graphicFrame>
        <p:nvGraphicFramePr>
          <p:cNvPr id="4" name="cc-table"/>
          <p:cNvGraphicFramePr>
            <a:graphicFrameLocks noGrp="1"/>
          </p:cNvGraphicFramePr>
          <p:nvPr/>
        </p:nvGraphicFramePr>
        <p:xfrm>
          <a:off x="609600" y="1168400"/>
          <a:ext cx="10972800" cy="3657600"/>
        </p:xfrm>
        <a:graphic>
          <a:graphicData uri="http://schemas.openxmlformats.org/drawingml/2006/table">
            <a:tbl>
              <a:tblPr/>
              <a:tblGrid>
                <a:gridCol w="1865376"/>
                <a:gridCol w="2852928"/>
                <a:gridCol w="3072384"/>
                <a:gridCol w="3182112"/>
              </a:tblGrid>
              <a:tr h="403142">
                <a:tc>
                  <a:txBody>
                    <a:bodyPr wrap="square" rtlCol="0" anchor="ctr"/>
                    <a:lstStyle/>
                    <a:p>
                      <a:pPr algn="l"/>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UCCX</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UCCE / PCCE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Contact Center</a:t>
                      </a:r>
                    </a:p>
                  </a:txBody>
                  <a:tcPr marL="91440" marR="91440" marT="45720" marB="45720" anchor="ctr">
                    <a:lnL>
                      <a:noFill/>
                    </a:lnL>
                    <a:lnR>
                      <a:noFill/>
                    </a:lnR>
                    <a:lnT>
                      <a:noFill/>
                    </a:lnT>
                    <a:lnB w="15240">
                      <a:solidFill>
                        <a:srgbClr val="000000"/>
                      </a:solidFill>
                    </a:lnB>
                    <a:noFill/>
                  </a:tcPr>
                </a:tc>
              </a:tr>
              <a:tr h="542410">
                <a:tc>
                  <a:txBody>
                    <a:bodyPr wrap="square" rtlCol="0" anchor="ctr"/>
                    <a:lstStyle/>
                    <a:p>
                      <a:pPr algn="l"/>
                      <a:r>
                        <a:rPr lang="en-US" sz="1050" noProof="1">
                          <a:solidFill>
                            <a:srgbClr val="000000"/>
                          </a:solidFill>
                          <a:latin typeface="Liter"/>
                          <a:ea typeface="MiSans"/>
                        </a:rPr>
                        <a:t>Typical scale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 to ~400 agents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thousands of agents, multi-site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elastic; from small to very large</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Deployment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VMs with CUCM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on-prem / private cloud, dedicated infra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Cisco-operated public cloud</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Routing engine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scripts (IVR + skills)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ICM scripts, enterprise-wide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cloud flow builder, omnichannel</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Agent desktop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(browser)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(browser)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Agent Desktop</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Reporting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historical + live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 HDS, deep historicals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Analyzer (cloud analytics)</a:t>
                      </a:r>
                    </a:p>
                  </a:txBody>
                  <a:tcPr marL="91440" marR="91440" marT="45720" marB="45720" anchor="ctr">
                    <a:lnL>
                      <a:noFill/>
                    </a:lnL>
                    <a:lnR>
                      <a:noFill/>
                    </a:lnR>
                    <a:lnT>
                      <a:noFill/>
                    </a:lnT>
                    <a:lnB w="7620">
                      <a:solidFill>
                        <a:srgbClr val="D9D9D9"/>
                      </a:solidFill>
                    </a:lnB>
                    <a:noFill/>
                  </a:tcPr>
                </a:tc>
              </a:tr>
              <a:tr h="542410">
                <a:tc>
                  <a:txBody>
                    <a:bodyPr wrap="square" rtlCol="0" anchor="ctr"/>
                    <a:lstStyle/>
                    <a:p>
                      <a:pPr algn="l"/>
                      <a:r>
                        <a:rPr lang="en-US" sz="1050" noProof="1">
                          <a:solidFill>
                            <a:srgbClr val="000000"/>
                          </a:solidFill>
                          <a:latin typeface="Liter"/>
                          <a:ea typeface="MiSans"/>
                        </a:rPr>
                        <a:t>Best fit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single-site helpdesks, simple queues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regulated enterprise, complex routing, legacy integration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cloud-first estates, hybrid agents, Webex Calling users</a:t>
                      </a:r>
                    </a:p>
                  </a:txBody>
                  <a:tcPr marL="91440" marR="91440" marT="45720" marB="45720" anchor="ctr">
                    <a:lnL>
                      <a:noFill/>
                    </a:lnL>
                    <a:lnR>
                      <a:noFill/>
                    </a:lnR>
                    <a:lnT>
                      <a:noFill/>
                    </a:lnT>
                    <a:lnB w="7620">
                      <a:solidFill>
                        <a:srgbClr val="D9D9D9"/>
                      </a:solidFill>
                    </a:lnB>
                    <a:noFill/>
                  </a:tcPr>
                </a:tc>
              </a:tr>
            </a:tbl>
          </a:graphicData>
        </a:graphic>
      </p:graphicFrame>
      <p:sp>
        <p:nvSpPr>
          <p:cNvPr id="5" name="note1"/>
          <p:cNvSpPr txBox="1"/>
          <p:nvPr/>
        </p:nvSpPr>
        <p:spPr>
          <a:xfrm>
            <a:off x="609600" y="5029200"/>
            <a:ext cx="53340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Migration signal:</a:t>
            </a:r>
            <a:r>
              <a:rPr lang="en-US" sz="1250" noProof="1">
                <a:solidFill>
                  <a:srgbClr val="000000"/>
                </a:solidFill>
                <a:latin typeface="Liter"/>
                <a:ea typeface="MiSans"/>
              </a:rPr>
              <a:t> organizations already on UCCX/UCCE increasingly adopt Webex CC first for </a:t>
            </a:r>
            <a:r>
              <a:rPr lang="en-US" sz="1250" noProof="1" b="1">
                <a:solidFill>
                  <a:srgbClr val="000000"/>
                </a:solidFill>
                <a:latin typeface="Liter"/>
                <a:ea typeface="MiSans"/>
              </a:rPr>
              <a:t>new lines of business</a:t>
            </a:r>
            <a:r>
              <a:rPr lang="en-US" sz="1250" noProof="1">
                <a:solidFill>
                  <a:srgbClr val="000000"/>
                </a:solidFill>
                <a:latin typeface="Liter"/>
                <a:ea typeface="MiSans"/>
              </a:rPr>
              <a:t>, then port legacy queues in waves — the phased pattern detailed in Section 05.</a:t>
            </a:r>
            <a:endParaRPr lang="en-US" sz="1250" noProof="1"/>
          </a:p>
        </p:txBody>
      </p:sp>
      <p:sp>
        <p:nvSpPr>
          <p:cNvPr id="6" name="note2"/>
          <p:cNvSpPr txBox="1"/>
          <p:nvPr/>
        </p:nvSpPr>
        <p:spPr>
          <a:xfrm>
            <a:off x="6350000" y="5029200"/>
            <a:ext cx="5232400" cy="10668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Shared plumbing:</a:t>
            </a:r>
            <a:r>
              <a:rPr lang="en-US" sz="1250" noProof="1">
                <a:solidFill>
                  <a:srgbClr val="000000"/>
                </a:solidFill>
                <a:latin typeface="Liter"/>
                <a:ea typeface="MiSans"/>
              </a:rPr>
              <a:t> all three consume the same voice foundation — SIP trunks, gateways, codecs, QoS. Skills built in Sections 01–02 transfer directly; what changes is who owns the servers.</a:t>
            </a:r>
            <a:endParaRPr lang="en-US" sz="1250" noProof="1"/>
          </a:p>
        </p:txBody>
      </p:sp>
      <p:sp>
        <p:nvSpPr>
          <p:cNvPr id="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 UCCE product documentation and Webex Contact Center data sheet, cisco.com and help.webex.com, early 2026</a:t>
            </a:r>
            <a:endParaRPr lang="en-US" sz="850" noProof="1"/>
          </a:p>
        </p:txBody>
      </p:sp>
      <p:sp>
        <p:nvSpPr>
          <p:cNvPr id="9" name="cml-footer-bar"/>
          <p:cNvSpPr/>
          <p:nvPr/>
        </p:nvSpPr>
        <p:spPr>
          <a:xfrm>
            <a:off x="0" y="6670000"/>
            <a:ext cx="12192000" cy="640000"/>
          </a:xfrm>
          <a:prstGeom prst="rect">
            <a:avLst/>
          </a:prstGeom>
          <a:solidFill>
            <a:srgbClr val="12161C"/>
          </a:solidFill>
          <a:ln>
            <a:noFill/>
          </a:ln>
        </p:spPr>
        <p:txBody>
          <a:bodyPr/>
          <a:lstStyle/>
          <a:p/>
        </p:txBody>
      </p:sp>
      <p:sp>
        <p:nvSpPr>
          <p:cNvPr id="10" name="cml-footer-rule"/>
          <p:cNvSpPr/>
          <p:nvPr/>
        </p:nvSpPr>
        <p:spPr>
          <a:xfrm>
            <a:off x="0" y="6670000"/>
            <a:ext cx="12192000" cy="19050"/>
          </a:xfrm>
          <a:prstGeom prst="rect">
            <a:avLst/>
          </a:prstGeom>
          <a:solidFill>
            <a:srgbClr val="2DD4BF"/>
          </a:solidFill>
          <a:ln>
            <a:noFill/>
          </a:ln>
        </p:spPr>
        <p:txBody>
          <a:bodyPr/>
          <a:lstStyle/>
          <a:p/>
        </p:txBody>
      </p:sp>
      <p:sp>
        <p:nvSpPr>
          <p:cNvPr id="1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UCCX configuration is six objects deep: from application to agent skill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working queue is a chain of objects, each with exactly one job — build them in order and troubleshoot them in order.</a:t>
            </a:r>
            <a:endParaRPr lang="en-US" sz="1100" noProof="1"/>
          </a:p>
        </p:txBody>
      </p:sp>
      <p:sp>
        <p:nvSpPr>
          <p:cNvPr id="4" name="chain-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object chain behind one working queue</a:t>
            </a:r>
            <a:endParaRPr lang="en-US" sz="1100" noProof="1"/>
          </a:p>
        </p:txBody>
      </p:sp>
      <p:sp>
        <p:nvSpPr>
          <p:cNvPr id="5" name="u1"/>
          <p:cNvSpPr/>
          <p:nvPr/>
        </p:nvSpPr>
        <p:spPr>
          <a:xfrm>
            <a:off x="609600" y="1473200"/>
            <a:ext cx="1727200" cy="812800"/>
          </a:xfrm>
          <a:prstGeom prst="rect">
            <a:avLst/>
          </a:prstGeom>
          <a:solidFill>
            <a:srgbClr val="FFFFFF"/>
          </a:solidFill>
          <a:ln w="15240">
            <a:solidFill>
              <a:srgbClr val="000000"/>
            </a:solidFill>
          </a:ln>
        </p:spPr>
      </p:sp>
      <p:sp>
        <p:nvSpPr>
          <p:cNvPr id="6" name="u1t"/>
          <p:cNvSpPr txBox="1"/>
          <p:nvPr/>
        </p:nvSpPr>
        <p:spPr>
          <a:xfrm>
            <a:off x="6096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Application + trigger</a:t>
            </a:r>
            <a:endParaRPr lang="en-US" sz="900" noProof="1"/>
          </a:p>
        </p:txBody>
      </p:sp>
      <p:sp>
        <p:nvSpPr>
          <p:cNvPr id="7" name="ua1"/>
          <p:cNvSpPr/>
          <p:nvPr>
            <p:extLst>
              <p:ext uri="{F5677B7D-0D2A-4D9B-9A5C-6D8D7D0E5A5D}">
                <pptd:line encoding="base64url">eyJ2aWV3Qm94IjpbMTgsMV0sInBvaW50cyI6IjAsMCAxOCwwIn0</pptd:line>
              </p:ext>
            </p:extLst>
          </p:nvPr>
        </p:nvSpPr>
        <p:spPr>
          <a:xfrm>
            <a:off x="23368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8" name="u2"/>
          <p:cNvSpPr/>
          <p:nvPr/>
        </p:nvSpPr>
        <p:spPr>
          <a:xfrm>
            <a:off x="2565400" y="1473200"/>
            <a:ext cx="1727200" cy="812800"/>
          </a:xfrm>
          <a:prstGeom prst="rect">
            <a:avLst/>
          </a:prstGeom>
          <a:solidFill>
            <a:srgbClr val="F7F5F0"/>
          </a:solidFill>
          <a:ln w="10160">
            <a:solidFill>
              <a:srgbClr val="333333"/>
            </a:solidFill>
          </a:ln>
        </p:spPr>
      </p:sp>
      <p:sp>
        <p:nvSpPr>
          <p:cNvPr id="9" name="u2t"/>
          <p:cNvSpPr txBox="1"/>
          <p:nvPr/>
        </p:nvSpPr>
        <p:spPr>
          <a:xfrm>
            <a:off x="25654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Script</a:t>
            </a:r>
            <a:endParaRPr lang="en-US" sz="900" noProof="1"/>
          </a:p>
          <a:p>
            <a:pPr algn="ctr">
              <a:lnSpc>
                <a:spcPct val="120000"/>
              </a:lnSpc>
            </a:pPr>
            <a:r>
              <a:rPr lang="en-US" sz="750" noProof="1">
                <a:solidFill>
                  <a:srgbClr val="000000"/>
                </a:solidFill>
                <a:latin typeface="Liter"/>
                <a:ea typeface="MiSans"/>
              </a:rPr>
              <a:t>prompts, menus, queue logic</a:t>
            </a:r>
            <a:endParaRPr lang="en-US" sz="900" noProof="1"/>
          </a:p>
        </p:txBody>
      </p:sp>
      <p:sp>
        <p:nvSpPr>
          <p:cNvPr id="10" name="ua2"/>
          <p:cNvSpPr/>
          <p:nvPr>
            <p:extLst>
              <p:ext uri="{F5677B7D-0D2A-4D9B-9A5C-6D8D7D0E5A5D}">
                <pptd:line encoding="base64url">eyJ2aWV3Qm94IjpbMTgsMV0sInBvaW50cyI6IjAsMCAxOCwwIn0</pptd:line>
              </p:ext>
            </p:extLst>
          </p:nvPr>
        </p:nvSpPr>
        <p:spPr>
          <a:xfrm>
            <a:off x="42926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1" name="u3"/>
          <p:cNvSpPr/>
          <p:nvPr/>
        </p:nvSpPr>
        <p:spPr>
          <a:xfrm>
            <a:off x="4521200" y="1473200"/>
            <a:ext cx="1727200" cy="812800"/>
          </a:xfrm>
          <a:prstGeom prst="rect">
            <a:avLst/>
          </a:prstGeom>
          <a:solidFill>
            <a:srgbClr val="F7F5F0"/>
          </a:solidFill>
          <a:ln w="10160">
            <a:solidFill>
              <a:srgbClr val="333333"/>
            </a:solidFill>
          </a:ln>
        </p:spPr>
      </p:sp>
      <p:sp>
        <p:nvSpPr>
          <p:cNvPr id="12" name="u3t"/>
          <p:cNvSpPr txBox="1"/>
          <p:nvPr/>
        </p:nvSpPr>
        <p:spPr>
          <a:xfrm>
            <a:off x="4521200" y="1473200"/>
            <a:ext cx="1727200" cy="812800"/>
          </a:xfrm>
          <a:prstGeom prst="rect">
            <a:avLst/>
          </a:prstGeom>
          <a:noFill/>
          <a:ln>
            <a:noFill/>
          </a:ln>
        </p:spPr>
        <p:txBody>
          <a:bodyPr lIns="0" rIns="0" tIns="0" bIns="0" wrap="square" rtlCol="0" anchor="ctr"/>
          <a:lstStyle/>
          <a:p>
            <a:pPr algn="ctr">
              <a:lnSpc>
                <a:spcPct val="120000"/>
              </a:lnSpc>
            </a:pPr>
            <a:r>
              <a:rPr lang="en-US" sz="900" noProof="1" b="1">
                <a:solidFill>
                  <a:srgbClr val="333333"/>
                </a:solidFill>
                <a:latin typeface="Liter"/>
                <a:ea typeface="MiSans"/>
              </a:rPr>
              <a:t>CSQ</a:t>
            </a:r>
            <a:endParaRPr lang="en-US" sz="900" noProof="1"/>
          </a:p>
          <a:p>
            <a:pPr algn="ctr">
              <a:lnSpc>
                <a:spcPct val="120000"/>
              </a:lnSpc>
            </a:pPr>
            <a:r>
              <a:rPr lang="en-US" sz="750" noProof="1">
                <a:solidFill>
                  <a:srgbClr val="000000"/>
                </a:solidFill>
                <a:latin typeface="Liter"/>
                <a:ea typeface="MiSans"/>
              </a:rPr>
              <a:t>contact service queue, skill criteria</a:t>
            </a:r>
            <a:endParaRPr lang="en-US" sz="900" noProof="1"/>
          </a:p>
        </p:txBody>
      </p:sp>
      <p:sp>
        <p:nvSpPr>
          <p:cNvPr id="13" name="ua3"/>
          <p:cNvSpPr/>
          <p:nvPr>
            <p:extLst>
              <p:ext uri="{F5677B7D-0D2A-4D9B-9A5C-6D8D7D0E5A5D}">
                <pptd:line encoding="base64url">eyJ2aWV3Qm94IjpbMTgsMV0sInBvaW50cyI6IjAsMCAxOCwwIn0</pptd:line>
              </p:ext>
            </p:extLst>
          </p:nvPr>
        </p:nvSpPr>
        <p:spPr>
          <a:xfrm>
            <a:off x="62484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4" name="u4"/>
          <p:cNvSpPr/>
          <p:nvPr/>
        </p:nvSpPr>
        <p:spPr>
          <a:xfrm>
            <a:off x="6477000" y="1473200"/>
            <a:ext cx="1727200" cy="812800"/>
          </a:xfrm>
          <a:prstGeom prst="rect">
            <a:avLst/>
          </a:prstGeom>
          <a:solidFill>
            <a:srgbClr val="F7F5F0"/>
          </a:solidFill>
          <a:ln w="10160">
            <a:solidFill>
              <a:srgbClr val="333333"/>
            </a:solidFill>
          </a:ln>
        </p:spPr>
      </p:sp>
      <p:sp>
        <p:nvSpPr>
          <p:cNvPr id="15" name="u4t"/>
          <p:cNvSpPr txBox="1"/>
          <p:nvPr/>
        </p:nvSpPr>
        <p:spPr>
          <a:xfrm>
            <a:off x="6477000" y="1473200"/>
            <a:ext cx="1727200" cy="8128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Skills &amp; resources
agents with competence levels</a:t>
            </a:r>
            <a:endParaRPr lang="en-US" sz="900" noProof="1"/>
          </a:p>
        </p:txBody>
      </p:sp>
      <p:sp>
        <p:nvSpPr>
          <p:cNvPr id="16" name="ua4"/>
          <p:cNvSpPr/>
          <p:nvPr>
            <p:extLst>
              <p:ext uri="{F5677B7D-0D2A-4D9B-9A5C-6D8D7D0E5A5D}">
                <pptd:line encoding="base64url">eyJ2aWV3Qm94IjpbMTgsMV0sInBvaW50cyI6IjAsMCAxOCwwIn0</pptd:line>
              </p:ext>
            </p:extLst>
          </p:nvPr>
        </p:nvSpPr>
        <p:spPr>
          <a:xfrm>
            <a:off x="8204200" y="1854200"/>
            <a:ext cx="228600" cy="12700"/>
          </a:xfrm>
          <a:custGeom>
            <a:avLst/>
            <a:gdLst/>
            <a:ahLst/>
            <a:cxnLst/>
            <a:rect l="l" t="t" r="r" b="b"/>
            <a:pathLst>
              <a:path w="18" h="1">
                <a:moveTo>
                  <a:pt x="0" y="0"/>
                </a:moveTo>
                <a:lnTo>
                  <a:pt x="18" y="0"/>
                </a:lnTo>
              </a:path>
            </a:pathLst>
          </a:custGeom>
          <a:noFill/>
          <a:ln w="15240" cap="rnd">
            <a:solidFill>
              <a:srgbClr val="E69138"/>
            </a:solidFill>
            <a:round/>
            <a:tailEnd type="arrow"/>
          </a:ln>
        </p:spPr>
      </p:sp>
      <p:sp>
        <p:nvSpPr>
          <p:cNvPr id="17" name="u5"/>
          <p:cNvSpPr/>
          <p:nvPr/>
        </p:nvSpPr>
        <p:spPr>
          <a:xfrm>
            <a:off x="8432800" y="1473200"/>
            <a:ext cx="1727200" cy="812800"/>
          </a:xfrm>
          <a:prstGeom prst="rect">
            <a:avLst/>
          </a:prstGeom>
          <a:solidFill>
            <a:srgbClr val="D2C7EB"/>
          </a:solidFill>
          <a:ln w="10160">
            <a:solidFill>
              <a:srgbClr val="333333"/>
            </a:solidFill>
          </a:ln>
        </p:spPr>
      </p:sp>
      <p:sp>
        <p:nvSpPr>
          <p:cNvPr id="18" name="u5t"/>
          <p:cNvSpPr txBox="1"/>
          <p:nvPr/>
        </p:nvSpPr>
        <p:spPr>
          <a:xfrm>
            <a:off x="8432800" y="1473200"/>
            <a:ext cx="1727200" cy="812800"/>
          </a:xfrm>
          <a:prstGeom prst="rect">
            <a:avLst/>
          </a:prstGeom>
          <a:noFill/>
          <a:ln>
            <a:noFill/>
          </a:ln>
        </p:spPr>
        <p:txBody>
          <a:bodyPr lIns="0" rIns="0" tIns="0" bIns="0" wrap="square" rtlCol="0" anchor="ctr"/>
          <a:lstStyle/>
          <a:p>
            <a:pPr algn="ctr">
              <a:lnSpc>
                <a:spcPct val="120000"/>
              </a:lnSpc>
            </a:pPr>
            <a:r>
              <a:rPr lang="en-US" sz="900" noProof="1">
                <a:solidFill>
                  <a:srgbClr val="333333"/>
                </a:solidFill>
                <a:latin typeface="Liter"/>
                <a:ea typeface="MiSans"/>
              </a:rPr>
              <a:t>Team &amp; desktop
supervisor scope, Finesse layout</a:t>
            </a:r>
            <a:endParaRPr lang="en-US" sz="900" noProof="1"/>
          </a:p>
        </p:txBody>
      </p:sp>
      <p:sp>
        <p:nvSpPr>
          <p:cNvPr id="19" name="diag-note"/>
          <p:cNvSpPr txBox="1"/>
          <p:nvPr/>
        </p:nvSpPr>
        <p:spPr>
          <a:xfrm>
            <a:off x="609600" y="2489200"/>
            <a:ext cx="10972800" cy="406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Read the chain both ways:</a:t>
            </a:r>
            <a:r>
              <a:rPr lang="en-US" sz="1000" noProof="1">
                <a:solidFill>
                  <a:srgbClr val="5A5A5A"/>
                </a:solidFill>
                <a:latin typeface="Liter"/>
                <a:ea typeface="MiSans"/>
              </a:rPr>
              <a:t> a call arrives at the trigger and flows right; a complaint ("calls queue but no agent rings") is diagnosed walking left from the agent — is the agent in Ready, skilled on the CSQ, and does the script select that CSQ?</a:t>
            </a:r>
            <a:endParaRPr lang="en-US" sz="1000" noProof="1"/>
          </a:p>
        </p:txBody>
      </p:sp>
      <p:sp>
        <p:nvSpPr>
          <p:cNvPr id="20" name="cfg-h"/>
          <p:cNvSpPr txBox="1"/>
          <p:nvPr/>
        </p:nvSpPr>
        <p:spPr>
          <a:xfrm>
            <a:off x="609600" y="30988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each piece is configured</a:t>
            </a:r>
            <a:endParaRPr lang="en-US" sz="1100" noProof="1"/>
          </a:p>
        </p:txBody>
      </p:sp>
      <p:graphicFrame>
        <p:nvGraphicFramePr>
          <p:cNvPr id="21" name="cfg-table"/>
          <p:cNvGraphicFramePr>
            <a:graphicFrameLocks noGrp="1"/>
          </p:cNvGraphicFramePr>
          <p:nvPr/>
        </p:nvGraphicFramePr>
        <p:xfrm>
          <a:off x="609600" y="3403600"/>
          <a:ext cx="5461000" cy="2286000"/>
        </p:xfrm>
        <a:graphic>
          <a:graphicData uri="http://schemas.openxmlformats.org/drawingml/2006/table">
            <a:tbl>
              <a:tblPr/>
              <a:tblGrid>
                <a:gridCol w="1856740"/>
                <a:gridCol w="3604260"/>
              </a:tblGrid>
              <a:tr h="320040">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Console</a:t>
                      </a:r>
                    </a:p>
                  </a:txBody>
                  <a:tcPr marL="91440" marR="91440" marT="45720" marB="45720" anchor="ctr">
                    <a:lnL>
                      <a:noFill/>
                    </a:lnL>
                    <a:lnR>
                      <a:noFill/>
                    </a:lnR>
                    <a:lnT>
                      <a:noFill/>
                    </a:lnT>
                    <a:lnB w="15240">
                      <a:solidFill>
                        <a:srgbClr val="000000"/>
                      </a:solidFill>
                    </a:lnB>
                    <a:noFill/>
                  </a:tcPr>
                </a:tc>
              </a:tr>
              <a:tr h="393192">
                <a:tc>
                  <a:txBody>
                    <a:bodyPr wrap="square" rtlCol="0" anchor="ctr"/>
                    <a:lstStyle/>
                    <a:p>
                      <a:pPr algn="l"/>
                      <a:r>
                        <a:rPr lang="en-US" sz="1050" noProof="1">
                          <a:solidFill>
                            <a:srgbClr val="000000"/>
                          </a:solidFill>
                          <a:latin typeface="Liter"/>
                          <a:ea typeface="MiSans"/>
                        </a:rPr>
                        <a:t>Triggers, ports, route point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 CCX Administration (JTAPI)</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Scripts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Editor (desktop tool)</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CSQs, skills, teams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CCX Administration web</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Agent / supervisor desktops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Finesse Administration (layouts, reasons)</a:t>
                      </a:r>
                    </a:p>
                  </a:txBody>
                  <a:tcPr marL="91440" marR="91440" marT="45720" marB="45720" anchor="ctr">
                    <a:lnL>
                      <a:noFill/>
                    </a:lnL>
                    <a:lnR>
                      <a:noFill/>
                    </a:lnR>
                    <a:lnT>
                      <a:noFill/>
                    </a:lnT>
                    <a:lnB w="7620">
                      <a:solidFill>
                        <a:srgbClr val="D9D9D9"/>
                      </a:solidFill>
                    </a:lnB>
                    <a:noFill/>
                  </a:tcPr>
                </a:tc>
              </a:tr>
              <a:tr h="393192">
                <a:tc>
                  <a:txBody>
                    <a:bodyPr wrap="square" rtlCol="0" anchor="ctr"/>
                    <a:lstStyle/>
                    <a:p>
                      <a:pPr algn="l"/>
                      <a:r>
                        <a:rPr lang="en-US" sz="1050" noProof="1">
                          <a:solidFill>
                            <a:srgbClr val="000000"/>
                          </a:solidFill>
                          <a:latin typeface="Liter"/>
                          <a:ea typeface="MiSans"/>
                        </a:rPr>
                        <a:t>Reports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CUIC — live data and historical</a:t>
                      </a:r>
                    </a:p>
                  </a:txBody>
                  <a:tcPr marL="91440" marR="91440" marT="45720" marB="45720" anchor="ctr">
                    <a:lnL>
                      <a:noFill/>
                    </a:lnL>
                    <a:lnR>
                      <a:noFill/>
                    </a:lnR>
                    <a:lnT>
                      <a:noFill/>
                    </a:lnT>
                    <a:lnB w="7620">
                      <a:solidFill>
                        <a:srgbClr val="D9D9D9"/>
                      </a:solidFill>
                    </a:lnB>
                    <a:noFill/>
                  </a:tcPr>
                </a:tc>
              </a:tr>
            </a:tbl>
          </a:graphicData>
        </a:graphic>
      </p:graphicFrame>
      <p:sp>
        <p:nvSpPr>
          <p:cNvPr id="22" name="ha-h"/>
          <p:cNvSpPr txBox="1"/>
          <p:nvPr/>
        </p:nvSpPr>
        <p:spPr>
          <a:xfrm>
            <a:off x="6604000" y="30988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Two operational facts to remember</a:t>
            </a:r>
            <a:endParaRPr lang="en-US" sz="1100" noProof="1"/>
          </a:p>
        </p:txBody>
      </p:sp>
      <p:sp>
        <p:nvSpPr>
          <p:cNvPr id="23" name="ha-text"/>
          <p:cNvSpPr txBox="1"/>
          <p:nvPr/>
        </p:nvSpPr>
        <p:spPr>
          <a:xfrm>
            <a:off x="6604000" y="3403600"/>
            <a:ext cx="4978400" cy="228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UCCX runs as an HA pair</a:t>
            </a:r>
            <a:r>
              <a:rPr lang="en-US" sz="1250" noProof="1">
                <a:solidFill>
                  <a:srgbClr val="000000"/>
                </a:solidFill>
                <a:latin typeface="Liter"/>
                <a:ea typeface="MiSans"/>
              </a:rPr>
              <a:t> — publisher and subscriber failover automatically, but CTI ports and agent sessions re-establish; brief pauses during failover are normal and should be rehearsed.</a:t>
            </a:r>
            <a:endParaRPr lang="en-US" sz="1250" noProof="1"/>
          </a:p>
          <a:p>
            <a:pPr>
              <a:lnSpc>
                <a:spcPct val="145000"/>
              </a:lnSpc>
              <a:spcBef>
                <a:spcPts val="1000"/>
              </a:spcBef>
            </a:pPr>
            <a:r>
              <a:rPr lang="en-US" sz="1250" noProof="1" b="1">
                <a:solidFill>
                  <a:srgbClr val="000000"/>
                </a:solidFill>
                <a:latin typeface="Liter"/>
                <a:ea typeface="MiSans"/>
              </a:rPr>
              <a:t>Every UCCX release pairs with specific CUCM versions</a:t>
            </a:r>
            <a:r>
              <a:rPr lang="en-US" sz="1250" noProof="1">
                <a:solidFill>
                  <a:srgbClr val="000000"/>
                </a:solidFill>
                <a:latin typeface="Liter"/>
                <a:ea typeface="MiSans"/>
              </a:rPr>
              <a:t> — check the compatibility matrix before upgrading either side; an unsupported pair loses the JTAPI link and the whole contact center goes quiet.</a:t>
            </a:r>
            <a:endParaRPr lang="en-US" sz="1250" noProof="1"/>
          </a:p>
        </p:txBody>
      </p:sp>
      <p:sp>
        <p:nvSpPr>
          <p:cNvPr id="24"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5"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administration, scripting and compatibility documentation, cisco.com</a:t>
            </a:r>
            <a:endParaRPr lang="en-US" sz="850" noProof="1"/>
          </a:p>
        </p:txBody>
      </p:sp>
      <p:sp>
        <p:nvSpPr>
          <p:cNvPr id="26" name="cml-footer-bar"/>
          <p:cNvSpPr/>
          <p:nvPr/>
        </p:nvSpPr>
        <p:spPr>
          <a:xfrm>
            <a:off x="0" y="6670000"/>
            <a:ext cx="12192000" cy="640000"/>
          </a:xfrm>
          <a:prstGeom prst="rect">
            <a:avLst/>
          </a:prstGeom>
          <a:solidFill>
            <a:srgbClr val="12161C"/>
          </a:solidFill>
          <a:ln>
            <a:noFill/>
          </a:ln>
        </p:spPr>
        <p:txBody>
          <a:bodyPr/>
          <a:lstStyle/>
          <a:p/>
        </p:txBody>
      </p:sp>
      <p:sp>
        <p:nvSpPr>
          <p:cNvPr id="27" name="cml-footer-rule"/>
          <p:cNvSpPr/>
          <p:nvPr/>
        </p:nvSpPr>
        <p:spPr>
          <a:xfrm>
            <a:off x="0" y="6670000"/>
            <a:ext cx="12192000" cy="19050"/>
          </a:xfrm>
          <a:prstGeom prst="rect">
            <a:avLst/>
          </a:prstGeom>
          <a:solidFill>
            <a:srgbClr val="2DD4BF"/>
          </a:solidFill>
          <a:ln>
            <a:noFill/>
          </a:ln>
        </p:spPr>
        <p:txBody>
          <a:bodyPr/>
          <a:lstStyle/>
          <a:p/>
        </p:txBody>
      </p:sp>
      <p:sp>
        <p:nvSpPr>
          <p:cNvPr id="2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1.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Every contact follows the same path: qualify in IVR, route by skill, serve, measure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stages below are identical in concept across UCCX, UCCE and Webex CC — only the component names change.</a:t>
            </a:r>
            <a:endParaRPr lang="en-US" sz="1100" noProof="1"/>
          </a:p>
        </p:txBody>
      </p:sp>
      <p:sp>
        <p:nvSpPr>
          <p:cNvPr id="4" name="f1"/>
          <p:cNvSpPr/>
          <p:nvPr/>
        </p:nvSpPr>
        <p:spPr>
          <a:xfrm>
            <a:off x="609600" y="1270000"/>
            <a:ext cx="1905000" cy="812800"/>
          </a:xfrm>
          <a:prstGeom prst="rect">
            <a:avLst/>
          </a:prstGeom>
          <a:solidFill>
            <a:srgbClr val="FFFFFF"/>
          </a:solidFill>
          <a:ln w="12700">
            <a:solidFill>
              <a:srgbClr val="333333"/>
            </a:solidFill>
          </a:ln>
        </p:spPr>
      </p:sp>
      <p:sp>
        <p:nvSpPr>
          <p:cNvPr id="5" name="f1t"/>
          <p:cNvSpPr txBox="1"/>
          <p:nvPr/>
        </p:nvSpPr>
        <p:spPr>
          <a:xfrm>
            <a:off x="6096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1 · Inbound</a:t>
            </a:r>
            <a:endParaRPr lang="en-US" sz="950" noProof="1"/>
          </a:p>
          <a:p>
            <a:pPr algn="ctr">
              <a:lnSpc>
                <a:spcPct val="120000"/>
              </a:lnSpc>
            </a:pPr>
            <a:r>
              <a:rPr lang="en-US" sz="800" noProof="1">
                <a:solidFill>
                  <a:srgbClr val="000000"/>
                </a:solidFill>
                <a:latin typeface="Liter"/>
                <a:ea typeface="MiSans"/>
              </a:rPr>
              <a:t>PSTN trunk → gateway / CVP</a:t>
            </a:r>
            <a:endParaRPr lang="en-US" sz="950" noProof="1"/>
          </a:p>
        </p:txBody>
      </p:sp>
      <p:sp>
        <p:nvSpPr>
          <p:cNvPr id="6" name="fa1"/>
          <p:cNvSpPr/>
          <p:nvPr>
            <p:extLst>
              <p:ext uri="{F5677B7D-0D2A-4D9B-9A5C-6D8D7D0E5A5D}">
                <pptd:line encoding="base64url">eyJ2aWV3Qm94IjpbMjYsMV0sInBvaW50cyI6IjAsMCAyNiwwIn0</pptd:line>
              </p:ext>
            </p:extLst>
          </p:nvPr>
        </p:nvSpPr>
        <p:spPr>
          <a:xfrm>
            <a:off x="25146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7" name="f2"/>
          <p:cNvSpPr/>
          <p:nvPr/>
        </p:nvSpPr>
        <p:spPr>
          <a:xfrm>
            <a:off x="2844800" y="1270000"/>
            <a:ext cx="1905000" cy="812800"/>
          </a:xfrm>
          <a:prstGeom prst="rect">
            <a:avLst/>
          </a:prstGeom>
          <a:solidFill>
            <a:srgbClr val="F7F5F0"/>
          </a:solidFill>
          <a:ln w="12700">
            <a:solidFill>
              <a:srgbClr val="333333"/>
            </a:solidFill>
          </a:ln>
        </p:spPr>
      </p:sp>
      <p:sp>
        <p:nvSpPr>
          <p:cNvPr id="8" name="f2t"/>
          <p:cNvSpPr txBox="1"/>
          <p:nvPr/>
        </p:nvSpPr>
        <p:spPr>
          <a:xfrm>
            <a:off x="28448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2 · IVR qualify</a:t>
            </a:r>
            <a:endParaRPr lang="en-US" sz="950" noProof="1"/>
          </a:p>
          <a:p>
            <a:pPr algn="ctr">
              <a:lnSpc>
                <a:spcPct val="120000"/>
              </a:lnSpc>
            </a:pPr>
            <a:r>
              <a:rPr lang="en-US" sz="800" noProof="1">
                <a:solidFill>
                  <a:srgbClr val="000000"/>
                </a:solidFill>
                <a:latin typeface="Liter"/>
                <a:ea typeface="MiSans"/>
              </a:rPr>
              <a:t>menu, ID capture, self-service</a:t>
            </a:r>
            <a:endParaRPr lang="en-US" sz="950" noProof="1"/>
          </a:p>
        </p:txBody>
      </p:sp>
      <p:sp>
        <p:nvSpPr>
          <p:cNvPr id="9" name="fa2"/>
          <p:cNvSpPr/>
          <p:nvPr>
            <p:extLst>
              <p:ext uri="{F5677B7D-0D2A-4D9B-9A5C-6D8D7D0E5A5D}">
                <pptd:line encoding="base64url">eyJ2aWV3Qm94IjpbMjYsMV0sInBvaW50cyI6IjAsMCAyNiwwIn0</pptd:line>
              </p:ext>
            </p:extLst>
          </p:nvPr>
        </p:nvSpPr>
        <p:spPr>
          <a:xfrm>
            <a:off x="47498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0" name="f3"/>
          <p:cNvSpPr/>
          <p:nvPr/>
        </p:nvSpPr>
        <p:spPr>
          <a:xfrm>
            <a:off x="5080000" y="1270000"/>
            <a:ext cx="1905000" cy="812800"/>
          </a:xfrm>
          <a:prstGeom prst="rect">
            <a:avLst/>
          </a:prstGeom>
          <a:solidFill>
            <a:srgbClr val="F7F5F0"/>
          </a:solidFill>
          <a:ln w="12700">
            <a:solidFill>
              <a:srgbClr val="333333"/>
            </a:solidFill>
          </a:ln>
        </p:spPr>
      </p:sp>
      <p:sp>
        <p:nvSpPr>
          <p:cNvPr id="11" name="f3t"/>
          <p:cNvSpPr txBox="1"/>
          <p:nvPr/>
        </p:nvSpPr>
        <p:spPr>
          <a:xfrm>
            <a:off x="50800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3 · Route &amp; queue</a:t>
            </a:r>
            <a:endParaRPr lang="en-US" sz="950" noProof="1"/>
          </a:p>
          <a:p>
            <a:pPr algn="ctr">
              <a:lnSpc>
                <a:spcPct val="120000"/>
              </a:lnSpc>
            </a:pPr>
            <a:r>
              <a:rPr lang="en-US" sz="800" noProof="1">
                <a:solidFill>
                  <a:srgbClr val="000000"/>
                </a:solidFill>
                <a:latin typeface="Liter"/>
                <a:ea typeface="MiSans"/>
              </a:rPr>
              <a:t>skill match, priority, callback</a:t>
            </a:r>
            <a:endParaRPr lang="en-US" sz="950" noProof="1"/>
          </a:p>
        </p:txBody>
      </p:sp>
      <p:sp>
        <p:nvSpPr>
          <p:cNvPr id="12" name="fa3"/>
          <p:cNvSpPr/>
          <p:nvPr>
            <p:extLst>
              <p:ext uri="{F5677B7D-0D2A-4D9B-9A5C-6D8D7D0E5A5D}">
                <pptd:line encoding="base64url">eyJ2aWV3Qm94IjpbMjYsMV0sInBvaW50cyI6IjAsMCAyNiwwIn0</pptd:line>
              </p:ext>
            </p:extLst>
          </p:nvPr>
        </p:nvSpPr>
        <p:spPr>
          <a:xfrm>
            <a:off x="69850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3" name="f4"/>
          <p:cNvSpPr/>
          <p:nvPr/>
        </p:nvSpPr>
        <p:spPr>
          <a:xfrm>
            <a:off x="7315200" y="1270000"/>
            <a:ext cx="1905000" cy="812800"/>
          </a:xfrm>
          <a:prstGeom prst="rect">
            <a:avLst/>
          </a:prstGeom>
          <a:solidFill>
            <a:srgbClr val="F7F5F0"/>
          </a:solidFill>
          <a:ln w="12700">
            <a:solidFill>
              <a:srgbClr val="333333"/>
            </a:solidFill>
          </a:ln>
        </p:spPr>
      </p:sp>
      <p:sp>
        <p:nvSpPr>
          <p:cNvPr id="14" name="f4t"/>
          <p:cNvSpPr txBox="1"/>
          <p:nvPr/>
        </p:nvSpPr>
        <p:spPr>
          <a:xfrm>
            <a:off x="7315200" y="1270000"/>
            <a:ext cx="1905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4 · Agent serve</a:t>
            </a:r>
            <a:endParaRPr lang="en-US" sz="950" noProof="1"/>
          </a:p>
          <a:p>
            <a:pPr algn="ctr">
              <a:lnSpc>
                <a:spcPct val="120000"/>
              </a:lnSpc>
            </a:pPr>
            <a:r>
              <a:rPr lang="en-US" sz="800" noProof="1">
                <a:solidFill>
                  <a:srgbClr val="000000"/>
                </a:solidFill>
                <a:latin typeface="Liter"/>
                <a:ea typeface="MiSans"/>
              </a:rPr>
              <a:t>Finesse / Agent Desktop + screen pop</a:t>
            </a:r>
            <a:endParaRPr lang="en-US" sz="950" noProof="1"/>
          </a:p>
        </p:txBody>
      </p:sp>
      <p:sp>
        <p:nvSpPr>
          <p:cNvPr id="15" name="fa4"/>
          <p:cNvSpPr/>
          <p:nvPr>
            <p:extLst>
              <p:ext uri="{F5677B7D-0D2A-4D9B-9A5C-6D8D7D0E5A5D}">
                <pptd:line encoding="base64url">eyJ2aWV3Qm94IjpbMjYsMV0sInBvaW50cyI6IjAsMCAyNiwwIn0</pptd:line>
              </p:ext>
            </p:extLst>
          </p:nvPr>
        </p:nvSpPr>
        <p:spPr>
          <a:xfrm>
            <a:off x="9220200" y="1651000"/>
            <a:ext cx="330200" cy="12700"/>
          </a:xfrm>
          <a:custGeom>
            <a:avLst/>
            <a:gdLst/>
            <a:ahLst/>
            <a:cxnLst/>
            <a:rect l="l" t="t" r="r" b="b"/>
            <a:pathLst>
              <a:path w="26" h="1">
                <a:moveTo>
                  <a:pt x="0" y="0"/>
                </a:moveTo>
                <a:lnTo>
                  <a:pt x="26" y="0"/>
                </a:lnTo>
              </a:path>
            </a:pathLst>
          </a:custGeom>
          <a:noFill/>
          <a:ln w="17780" cap="rnd">
            <a:solidFill>
              <a:srgbClr val="E69138"/>
            </a:solidFill>
            <a:round/>
            <a:tailEnd type="arrow"/>
          </a:ln>
        </p:spPr>
      </p:sp>
      <p:sp>
        <p:nvSpPr>
          <p:cNvPr id="16" name="f5"/>
          <p:cNvSpPr/>
          <p:nvPr/>
        </p:nvSpPr>
        <p:spPr>
          <a:xfrm>
            <a:off x="9550400" y="1270000"/>
            <a:ext cx="2032000" cy="812800"/>
          </a:xfrm>
          <a:prstGeom prst="rect">
            <a:avLst/>
          </a:prstGeom>
          <a:solidFill>
            <a:srgbClr val="D2C7EB"/>
          </a:solidFill>
          <a:ln w="12700">
            <a:solidFill>
              <a:srgbClr val="333333"/>
            </a:solidFill>
          </a:ln>
        </p:spPr>
      </p:sp>
      <p:sp>
        <p:nvSpPr>
          <p:cNvPr id="17" name="f5t"/>
          <p:cNvSpPr txBox="1"/>
          <p:nvPr/>
        </p:nvSpPr>
        <p:spPr>
          <a:xfrm>
            <a:off x="9550400" y="1270000"/>
            <a:ext cx="2032000" cy="812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5 · Wrap-up &amp; measure</a:t>
            </a:r>
            <a:endParaRPr lang="en-US" sz="950" noProof="1"/>
          </a:p>
          <a:p>
            <a:pPr algn="ctr">
              <a:lnSpc>
                <a:spcPct val="120000"/>
              </a:lnSpc>
            </a:pPr>
            <a:r>
              <a:rPr lang="en-US" sz="800" noProof="1">
                <a:solidFill>
                  <a:srgbClr val="000000"/>
                </a:solidFill>
                <a:latin typeface="Liter"/>
                <a:ea typeface="MiSans"/>
              </a:rPr>
              <a:t>codes → CUIC / Analyzer</a:t>
            </a:r>
            <a:endParaRPr lang="en-US" sz="950" noProof="1"/>
          </a:p>
        </p:txBody>
      </p:sp>
      <p:sp>
        <p:nvSpPr>
          <p:cNvPr id="18" name="det-h1"/>
          <p:cNvSpPr txBox="1"/>
          <p:nvPr/>
        </p:nvSpPr>
        <p:spPr>
          <a:xfrm>
            <a:off x="609600" y="24892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configuration effort actually goes</a:t>
            </a:r>
            <a:endParaRPr lang="en-US" sz="1100" noProof="1"/>
          </a:p>
        </p:txBody>
      </p:sp>
      <p:sp>
        <p:nvSpPr>
          <p:cNvPr id="19" name="det1"/>
          <p:cNvSpPr txBox="1"/>
          <p:nvPr/>
        </p:nvSpPr>
        <p:spPr>
          <a:xfrm>
            <a:off x="609600" y="2794000"/>
            <a:ext cx="5334000" cy="317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IVR / self-service</a:t>
            </a:r>
            <a:r>
              <a:rPr lang="en-US" sz="1250" noProof="1">
                <a:solidFill>
                  <a:srgbClr val="000000"/>
                </a:solidFill>
                <a:latin typeface="Liter"/>
                <a:ea typeface="MiSans"/>
              </a:rPr>
              <a:t> — CCX editor scripts or CVP Studio / cloud flows: prompts, DTMF, database dips, speech recognition. This is where most caller experience is won or lost.</a:t>
            </a:r>
            <a:endParaRPr lang="en-US" sz="1250" noProof="1"/>
          </a:p>
          <a:p>
            <a:pPr>
              <a:lnSpc>
                <a:spcPct val="145000"/>
              </a:lnSpc>
              <a:spcBef>
                <a:spcPts val="1000"/>
              </a:spcBef>
            </a:pPr>
            <a:r>
              <a:rPr lang="en-US" sz="1250" noProof="1" b="1">
                <a:solidFill>
                  <a:srgbClr val="000000"/>
                </a:solidFill>
                <a:latin typeface="Liter"/>
                <a:ea typeface="MiSans"/>
              </a:rPr>
              <a:t>Skills &amp; queues</a:t>
            </a:r>
            <a:r>
              <a:rPr lang="en-US" sz="1250" noProof="1">
                <a:solidFill>
                  <a:srgbClr val="000000"/>
                </a:solidFill>
                <a:latin typeface="Liter"/>
                <a:ea typeface="MiSans"/>
              </a:rPr>
              <a:t> — map agents to skill groups with competence levels; CSQs (UCCX) or precision queues (UCCE) decide who rings first.</a:t>
            </a:r>
            <a:endParaRPr lang="en-US" sz="1250" noProof="1"/>
          </a:p>
          <a:p>
            <a:pPr>
              <a:lnSpc>
                <a:spcPct val="145000"/>
              </a:lnSpc>
              <a:spcBef>
                <a:spcPts val="1000"/>
              </a:spcBef>
            </a:pPr>
            <a:r>
              <a:rPr lang="en-US" sz="1250" noProof="1" b="1">
                <a:solidFill>
                  <a:srgbClr val="000000"/>
                </a:solidFill>
                <a:latin typeface="Liter"/>
                <a:ea typeface="MiSans"/>
              </a:rPr>
              <a:t>Desktop</a:t>
            </a:r>
            <a:r>
              <a:rPr lang="en-US" sz="1250" noProof="1">
                <a:solidFill>
                  <a:srgbClr val="000000"/>
                </a:solidFill>
                <a:latin typeface="Liter"/>
                <a:ea typeface="MiSans"/>
              </a:rPr>
              <a:t> — Finesse layouts, screen-pop URLs into CRM, wrap-up codes, reason codes for not-ready states.</a:t>
            </a:r>
            <a:endParaRPr lang="en-US" sz="1250" noProof="1"/>
          </a:p>
          <a:p>
            <a:pPr>
              <a:lnSpc>
                <a:spcPct val="145000"/>
              </a:lnSpc>
              <a:spcBef>
                <a:spcPts val="1000"/>
              </a:spcBef>
            </a:pPr>
            <a:r>
              <a:rPr lang="en-US" sz="1250" noProof="1" b="1">
                <a:solidFill>
                  <a:srgbClr val="000000"/>
                </a:solidFill>
                <a:latin typeface="Liter"/>
                <a:ea typeface="MiSans"/>
              </a:rPr>
              <a:t>Omnichannel</a:t>
            </a:r>
            <a:r>
              <a:rPr lang="en-US" sz="1250" noProof="1">
                <a:solidFill>
                  <a:srgbClr val="000000"/>
                </a:solidFill>
                <a:latin typeface="Liter"/>
                <a:ea typeface="MiSans"/>
              </a:rPr>
              <a:t> — email, chat and social route through the same skill logic in Webex CC and UCCE digital channels.</a:t>
            </a:r>
            <a:endParaRPr lang="en-US" sz="1250" noProof="1"/>
          </a:p>
        </p:txBody>
      </p:sp>
      <p:sp>
        <p:nvSpPr>
          <p:cNvPr id="20" name="def-box"/>
          <p:cNvSpPr/>
          <p:nvPr/>
        </p:nvSpPr>
        <p:spPr>
          <a:xfrm>
            <a:off x="6502400" y="2794000"/>
            <a:ext cx="5080000" cy="1371600"/>
          </a:xfrm>
          <a:prstGeom prst="roundRect">
            <a:avLst>
              <a:gd name="adj" fmla="val 12000"/>
            </a:avLst>
          </a:prstGeom>
          <a:solidFill>
            <a:srgbClr val="F3F3F3"/>
          </a:solidFill>
          <a:ln>
            <a:noFill/>
          </a:ln>
        </p:spPr>
      </p:sp>
      <p:sp>
        <p:nvSpPr>
          <p:cNvPr id="21" name="def-text"/>
          <p:cNvSpPr txBox="1"/>
          <p:nvPr/>
        </p:nvSpPr>
        <p:spPr>
          <a:xfrm>
            <a:off x="6705600" y="2921000"/>
            <a:ext cx="46736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screen pop</a:t>
            </a:r>
            <a:endParaRPr lang="en-US" sz="1000" noProof="1"/>
          </a:p>
          <a:p>
            <a:pPr>
              <a:lnSpc>
                <a:spcPct val="135000"/>
              </a:lnSpc>
              <a:spcBef>
                <a:spcPts val="600"/>
              </a:spcBef>
            </a:pPr>
            <a:r>
              <a:rPr lang="en-US" sz="1000" noProof="1">
                <a:solidFill>
                  <a:srgbClr val="5A5A5A"/>
                </a:solidFill>
                <a:latin typeface="Liter"/>
                <a:ea typeface="MiSans"/>
              </a:rPr>
              <a:t>Caller data collected in IVR (account number, menu choice) is passed with the routed call and opens the matching CRM record on the agent's desktop at answer time. It removes the "can you repeat your account number" step and typically saves 15–30 seconds of handle time per call.</a:t>
            </a:r>
            <a:endParaRPr lang="en-US" sz="1000" noProof="1"/>
          </a:p>
        </p:txBody>
      </p:sp>
      <p:sp>
        <p:nvSpPr>
          <p:cNvPr id="22" name="det2"/>
          <p:cNvSpPr txBox="1"/>
          <p:nvPr/>
        </p:nvSpPr>
        <p:spPr>
          <a:xfrm>
            <a:off x="6502400" y="4419600"/>
            <a:ext cx="5080000" cy="1549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Reporting closes the loop.</a:t>
            </a:r>
            <a:r>
              <a:rPr lang="en-US" sz="1250" noProof="1">
                <a:solidFill>
                  <a:srgbClr val="000000"/>
                </a:solidFill>
                <a:latin typeface="Liter"/>
                <a:ea typeface="MiSans"/>
              </a:rPr>
              <a:t> Every stage writes records — offered, handled, abandoned, service level, AHT — into CUIC (on-prem) or Analyzer (Webex CC). Workforce management and quality/recording (Calabrio or Webex WFO) consume the same data for staffing and coaching.</a:t>
            </a:r>
            <a:endParaRPr lang="en-US" sz="1250" noProof="1"/>
          </a:p>
        </p:txBody>
      </p:sp>
      <p:sp>
        <p:nvSpPr>
          <p:cNvPr id="2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 UCCE scripting and Finesse documentation; Webex Contact Center setup guide, help.webex.com</a:t>
            </a:r>
            <a:endParaRPr lang="en-US" sz="850" noProof="1"/>
          </a:p>
        </p:txBody>
      </p:sp>
      <p:sp>
        <p:nvSpPr>
          <p:cNvPr id="25" name="cml-footer-bar"/>
          <p:cNvSpPr/>
          <p:nvPr/>
        </p:nvSpPr>
        <p:spPr>
          <a:xfrm>
            <a:off x="0" y="6670000"/>
            <a:ext cx="12192000" cy="640000"/>
          </a:xfrm>
          <a:prstGeom prst="rect">
            <a:avLst/>
          </a:prstGeom>
          <a:solidFill>
            <a:srgbClr val="12161C"/>
          </a:solidFill>
          <a:ln>
            <a:noFill/>
          </a:ln>
        </p:spPr>
        <p:txBody>
          <a:bodyPr/>
          <a:lstStyle/>
          <a:p/>
        </p:txBody>
      </p:sp>
      <p:sp>
        <p:nvSpPr>
          <p:cNvPr id="26" name="cml-footer-rule"/>
          <p:cNvSpPr/>
          <p:nvPr/>
        </p:nvSpPr>
        <p:spPr>
          <a:xfrm>
            <a:off x="0" y="6670000"/>
            <a:ext cx="12192000" cy="19050"/>
          </a:xfrm>
          <a:prstGeom prst="rect">
            <a:avLst/>
          </a:prstGeom>
          <a:solidFill>
            <a:srgbClr val="2DD4BF"/>
          </a:solidFill>
          <a:ln>
            <a:noFill/>
          </a:ln>
        </p:spPr>
        <p:txBody>
          <a:bodyPr/>
          <a:lstStyle/>
          <a:p/>
        </p:txBody>
      </p:sp>
      <p:sp>
        <p:nvSpPr>
          <p:cNvPr id="27"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8"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9"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0"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1"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2"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3"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4"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5"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6"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7"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8"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9"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0"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Self-service lives in the IVR: prompts, digits and database dips decide deflection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IVR is software with a caller on the other end — its building blocks are few, but its design rules are unforgiving.</a:t>
            </a:r>
            <a:endParaRPr lang="en-US" sz="1100" noProof="1"/>
          </a:p>
        </p:txBody>
      </p:sp>
      <p:sp>
        <p:nvSpPr>
          <p:cNvPr id="4" name="blk-h"/>
          <p:cNvSpPr txBox="1"/>
          <p:nvPr/>
        </p:nvSpPr>
        <p:spPr>
          <a:xfrm>
            <a:off x="609600" y="114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six blocks every script is built from</a:t>
            </a:r>
            <a:endParaRPr lang="en-US" sz="1100" noProof="1"/>
          </a:p>
        </p:txBody>
      </p:sp>
      <p:graphicFrame>
        <p:nvGraphicFramePr>
          <p:cNvPr id="5" name="blk-table"/>
          <p:cNvGraphicFramePr>
            <a:graphicFrameLocks noGrp="1"/>
          </p:cNvGraphicFramePr>
          <p:nvPr/>
        </p:nvGraphicFramePr>
        <p:xfrm>
          <a:off x="609600" y="1447800"/>
          <a:ext cx="5461000" cy="3048000"/>
        </p:xfrm>
        <a:graphic>
          <a:graphicData uri="http://schemas.openxmlformats.org/drawingml/2006/table">
            <a:tbl>
              <a:tblPr/>
              <a:tblGrid>
                <a:gridCol w="1638300"/>
                <a:gridCol w="3822700"/>
              </a:tblGrid>
              <a:tr h="365760">
                <a:tc>
                  <a:txBody>
                    <a:bodyPr wrap="square" rtlCol="0" anchor="ctr"/>
                    <a:lstStyle/>
                    <a:p>
                      <a:pPr algn="l"/>
                      <a:r>
                        <a:rPr lang="en-US" sz="1050" noProof="1" b="1">
                          <a:solidFill>
                            <a:srgbClr val="000000"/>
                          </a:solidFill>
                          <a:latin typeface="Liter"/>
                          <a:ea typeface="MiSans"/>
                        </a:rPr>
                        <a:t>Block</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does</a:t>
                      </a:r>
                    </a:p>
                  </a:txBody>
                  <a:tcPr marL="91440" marR="91440" marT="45720" marB="45720" anchor="ctr">
                    <a:lnL>
                      <a:noFill/>
                    </a:lnL>
                    <a:lnR>
                      <a:noFill/>
                    </a:lnR>
                    <a:lnT>
                      <a:noFill/>
                    </a:lnT>
                    <a:lnB w="15240">
                      <a:solidFill>
                        <a:srgbClr val="000000"/>
                      </a:solidFill>
                    </a:lnB>
                    <a:noFill/>
                  </a:tcPr>
                </a:tc>
              </a:tr>
              <a:tr h="536448">
                <a:tc>
                  <a:txBody>
                    <a:bodyPr wrap="square" rtlCol="0" anchor="ctr"/>
                    <a:lstStyle/>
                    <a:p>
                      <a:pPr algn="l"/>
                      <a:r>
                        <a:rPr lang="en-US" sz="1050" noProof="1">
                          <a:solidFill>
                            <a:srgbClr val="000000"/>
                          </a:solidFill>
                          <a:latin typeface="Liter"/>
                          <a:ea typeface="MiSans"/>
                        </a:rPr>
                        <a:t>Play prompt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recorded or TTS audio; every second costs patience</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Get digits / menu</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DTMF capture with timeout and error branches</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ASR / TTS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speech recognition and synthesized prompts</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Database dip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lookup by ANI / entered ID → route or self-serve</a:t>
                      </a:r>
                    </a:p>
                  </a:txBody>
                  <a:tcPr marL="91440" marR="91440" marT="45720" marB="45720" anchor="ctr">
                    <a:lnL>
                      <a:noFill/>
                    </a:lnL>
                    <a:lnR>
                      <a:noFill/>
                    </a:lnR>
                    <a:lnT>
                      <a:noFill/>
                    </a:lnT>
                    <a:lnB w="7620">
                      <a:solidFill>
                        <a:srgbClr val="D9D9D9"/>
                      </a:solidFill>
                    </a:lnB>
                    <a:noFill/>
                  </a:tcPr>
                </a:tc>
              </a:tr>
              <a:tr h="536448">
                <a:tc>
                  <a:txBody>
                    <a:bodyPr wrap="square" rtlCol="0" anchor="ctr"/>
                    <a:lstStyle/>
                    <a:p>
                      <a:pPr algn="l"/>
                      <a:r>
                        <a:rPr lang="en-US" sz="1050" noProof="1">
                          <a:solidFill>
                            <a:srgbClr val="000000"/>
                          </a:solidFill>
                          <a:latin typeface="Liter"/>
                          <a:ea typeface="MiSans"/>
                        </a:rPr>
                        <a:t>Queue / transfer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hand the contact to a CSQ, callback, or external number</a:t>
                      </a:r>
                    </a:p>
                  </a:txBody>
                  <a:tcPr marL="91440" marR="91440" marT="45720" marB="45720" anchor="ctr">
                    <a:lnL>
                      <a:noFill/>
                    </a:lnL>
                    <a:lnR>
                      <a:noFill/>
                    </a:lnR>
                    <a:lnT>
                      <a:noFill/>
                    </a:lnT>
                    <a:lnB w="7620">
                      <a:solidFill>
                        <a:srgbClr val="D9D9D9"/>
                      </a:solidFill>
                    </a:lnB>
                    <a:noFill/>
                  </a:tcPr>
                </a:tc>
              </a:tr>
            </a:tbl>
          </a:graphicData>
        </a:graphic>
      </p:graphicFrame>
      <p:sp>
        <p:nvSpPr>
          <p:cNvPr id="6" name="blk-note"/>
          <p:cNvSpPr txBox="1"/>
          <p:nvPr/>
        </p:nvSpPr>
        <p:spPr>
          <a:xfrm>
            <a:off x="609600" y="4673600"/>
            <a:ext cx="5461000" cy="1270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UCCX</a:t>
            </a:r>
            <a:r>
              <a:rPr lang="en-US" sz="1250" noProof="1">
                <a:solidFill>
                  <a:srgbClr val="000000"/>
                </a:solidFill>
                <a:latin typeface="Liter"/>
                <a:ea typeface="MiSans"/>
              </a:rPr>
              <a:t> scripts these in the CCX Editor; </a:t>
            </a:r>
            <a:r>
              <a:rPr lang="en-US" sz="1250" noProof="1" b="1">
                <a:solidFill>
                  <a:srgbClr val="000000"/>
                </a:solidFill>
                <a:latin typeface="Liter"/>
                <a:ea typeface="MiSans"/>
              </a:rPr>
              <a:t>UCCE</a:t>
            </a:r>
            <a:r>
              <a:rPr lang="en-US" sz="1250" noProof="1">
                <a:solidFill>
                  <a:srgbClr val="000000"/>
                </a:solidFill>
                <a:latin typeface="Liter"/>
                <a:ea typeface="MiSans"/>
              </a:rPr>
              <a:t> does the same at enterprise scale with CVP Call Studio rendering VXML on the voice gateway; </a:t>
            </a:r>
            <a:r>
              <a:rPr lang="en-US" sz="1250" noProof="1" b="1">
                <a:solidFill>
                  <a:srgbClr val="000000"/>
                </a:solidFill>
                <a:latin typeface="Liter"/>
                <a:ea typeface="MiSans"/>
              </a:rPr>
              <a:t>Webex CC</a:t>
            </a:r>
            <a:r>
              <a:rPr lang="en-US" sz="1250" noProof="1">
                <a:solidFill>
                  <a:srgbClr val="000000"/>
                </a:solidFill>
                <a:latin typeface="Liter"/>
                <a:ea typeface="MiSans"/>
              </a:rPr>
              <a:t> uses the cloud flow builder. The grammar of prompts, digits and dips is identical across all three.</a:t>
            </a:r>
            <a:endParaRPr lang="en-US" sz="1250" noProof="1"/>
          </a:p>
        </p:txBody>
      </p:sp>
      <p:sp>
        <p:nvSpPr>
          <p:cNvPr id="7" name="rule-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Design rules that survive contact with real callers</a:t>
            </a:r>
            <a:endParaRPr lang="en-US" sz="1100" noProof="1"/>
          </a:p>
        </p:txBody>
      </p:sp>
      <p:sp>
        <p:nvSpPr>
          <p:cNvPr id="8" name="rule-list"/>
          <p:cNvSpPr txBox="1"/>
          <p:nvPr/>
        </p:nvSpPr>
        <p:spPr>
          <a:xfrm>
            <a:off x="6604000" y="1447800"/>
            <a:ext cx="4978400" cy="2794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Depth ≤ 3 menus.</a:t>
            </a:r>
            <a:r>
              <a:rPr lang="en-US" sz="1250" noProof="1">
                <a:solidFill>
                  <a:srgbClr val="000000"/>
                </a:solidFill>
                <a:latin typeface="Liter"/>
                <a:ea typeface="MiSans"/>
              </a:rPr>
              <a:t> Every additional level loses a measurable share of callers to abandonment or zero-out.</a:t>
            </a:r>
            <a:endParaRPr lang="en-US" sz="1250" noProof="1"/>
          </a:p>
          <a:p>
            <a:pPr>
              <a:lnSpc>
                <a:spcPct val="145000"/>
              </a:lnSpc>
              <a:spcBef>
                <a:spcPts val="1000"/>
              </a:spcBef>
            </a:pPr>
            <a:r>
              <a:rPr lang="en-US" sz="1250" noProof="1" b="1">
                <a:solidFill>
                  <a:srgbClr val="000000"/>
                </a:solidFill>
                <a:latin typeface="Liter"/>
                <a:ea typeface="MiSans"/>
              </a:rPr>
              <a:t>Always offer escape.</a:t>
            </a:r>
            <a:r>
              <a:rPr lang="en-US" sz="1250" noProof="1">
                <a:solidFill>
                  <a:srgbClr val="000000"/>
                </a:solidFill>
                <a:latin typeface="Liter"/>
                <a:ea typeface="MiSans"/>
              </a:rPr>
              <a:t> A path to an agent — stated, not hidden — reduces repeat calls more than any prompt polish.</a:t>
            </a:r>
            <a:endParaRPr lang="en-US" sz="1250" noProof="1"/>
          </a:p>
          <a:p>
            <a:pPr>
              <a:lnSpc>
                <a:spcPct val="145000"/>
              </a:lnSpc>
              <a:spcBef>
                <a:spcPts val="1000"/>
              </a:spcBef>
            </a:pPr>
            <a:r>
              <a:rPr lang="en-US" sz="1250" noProof="1" b="1">
                <a:solidFill>
                  <a:srgbClr val="000000"/>
                </a:solidFill>
                <a:latin typeface="Liter"/>
                <a:ea typeface="MiSans"/>
              </a:rPr>
              <a:t>Offer callback at peak.</a:t>
            </a:r>
            <a:r>
              <a:rPr lang="en-US" sz="1250" noProof="1">
                <a:solidFill>
                  <a:srgbClr val="000000"/>
                </a:solidFill>
                <a:latin typeface="Liter"/>
                <a:ea typeface="MiSans"/>
              </a:rPr>
              <a:t> Virtual hold preserves the caller's place without their minutes on the line.</a:t>
            </a:r>
            <a:endParaRPr lang="en-US" sz="1250" noProof="1"/>
          </a:p>
          <a:p>
            <a:pPr>
              <a:lnSpc>
                <a:spcPct val="145000"/>
              </a:lnSpc>
              <a:spcBef>
                <a:spcPts val="1000"/>
              </a:spcBef>
            </a:pPr>
            <a:r>
              <a:rPr lang="en-US" sz="1250" noProof="1" b="1">
                <a:solidFill>
                  <a:srgbClr val="000000"/>
                </a:solidFill>
                <a:latin typeface="Liter"/>
                <a:ea typeface="MiSans"/>
              </a:rPr>
              <a:t>Authenticate early, once.</a:t>
            </a:r>
            <a:r>
              <a:rPr lang="en-US" sz="1250" noProof="1">
                <a:solidFill>
                  <a:srgbClr val="000000"/>
                </a:solidFill>
                <a:latin typeface="Liter"/>
                <a:ea typeface="MiSans"/>
              </a:rPr>
              <a:t> ID captured in the IVR must travel with the call (screen pop, Section 04), never be re-asked.</a:t>
            </a:r>
            <a:endParaRPr lang="en-US" sz="1250" noProof="1"/>
          </a:p>
        </p:txBody>
      </p:sp>
      <p:sp>
        <p:nvSpPr>
          <p:cNvPr id="9" name="rule-box"/>
          <p:cNvSpPr/>
          <p:nvPr/>
        </p:nvSpPr>
        <p:spPr>
          <a:xfrm>
            <a:off x="6604000" y="4521200"/>
            <a:ext cx="4978400" cy="1219200"/>
          </a:xfrm>
          <a:prstGeom prst="roundRect">
            <a:avLst>
              <a:gd name="adj" fmla="val 12000"/>
            </a:avLst>
          </a:prstGeom>
          <a:solidFill>
            <a:srgbClr val="F3F3F3"/>
          </a:solidFill>
          <a:ln>
            <a:noFill/>
          </a:ln>
        </p:spPr>
      </p:sp>
      <p:sp>
        <p:nvSpPr>
          <p:cNvPr id="10" name="rule-box-t"/>
          <p:cNvSpPr txBox="1"/>
          <p:nvPr/>
        </p:nvSpPr>
        <p:spPr>
          <a:xfrm>
            <a:off x="6807200" y="4648200"/>
            <a:ext cx="45974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Measure the IVR as a product:</a:t>
            </a:r>
            <a:r>
              <a:rPr lang="en-US" sz="1000" noProof="1">
                <a:solidFill>
                  <a:srgbClr val="5A5A5A"/>
                </a:solidFill>
                <a:latin typeface="Liter"/>
                <a:ea typeface="MiSans"/>
              </a:rPr>
              <a:t> track containment rate (resolved without an agent), zero-out rate, and average time in IVR per menu. A "contained" call that fails and makes the customer call back is a double cost, not a saving.</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UCCX scripting guide, CVP Call Studio documentation and Webex CC flow documentation; design rules are editorial guidance</a:t>
            </a:r>
            <a:endParaRPr lang="en-US" sz="850" noProof="1"/>
          </a:p>
        </p:txBody>
      </p:sp>
      <p:sp>
        <p:nvSpPr>
          <p:cNvPr id="13" name="cml-footer-bar"/>
          <p:cNvSpPr/>
          <p:nvPr/>
        </p:nvSpPr>
        <p:spPr>
          <a:xfrm>
            <a:off x="0" y="6670000"/>
            <a:ext cx="12192000" cy="640000"/>
          </a:xfrm>
          <a:prstGeom prst="rect">
            <a:avLst/>
          </a:prstGeom>
          <a:solidFill>
            <a:srgbClr val="12161C"/>
          </a:solidFill>
          <a:ln>
            <a:noFill/>
          </a:ln>
        </p:spPr>
        <p:txBody>
          <a:bodyPr/>
          <a:lstStyle/>
          <a:p/>
        </p:txBody>
      </p:sp>
      <p:sp>
        <p:nvSpPr>
          <p:cNvPr id="14" name="cml-footer-rule"/>
          <p:cNvSpPr/>
          <p:nvPr/>
        </p:nvSpPr>
        <p:spPr>
          <a:xfrm>
            <a:off x="0" y="6670000"/>
            <a:ext cx="12192000" cy="19050"/>
          </a:xfrm>
          <a:prstGeom prst="rect">
            <a:avLst/>
          </a:prstGeom>
          <a:solidFill>
            <a:srgbClr val="2DD4BF"/>
          </a:solidFill>
          <a:ln>
            <a:noFill/>
          </a:ln>
        </p:spPr>
        <p:txBody>
          <a:bodyPr/>
          <a:lstStyle/>
          <a:p/>
        </p:txBody>
      </p:sp>
      <p:sp>
        <p:nvSpPr>
          <p:cNvPr id="1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3.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agent desktop is an integration surface: gadgets, screen pops and APIs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Finesse is not a phone with buttons — it is a browser container where telephony, CRM and workflow meet at answer time.</a:t>
            </a:r>
            <a:endParaRPr lang="en-US" sz="1100" noProof="1"/>
          </a:p>
        </p:txBody>
      </p:sp>
      <p:sp>
        <p:nvSpPr>
          <p:cNvPr id="4" name="arch-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Finesse architecture in one view</a:t>
            </a:r>
            <a:endParaRPr lang="en-US" sz="1100" noProof="1"/>
          </a:p>
        </p:txBody>
      </p:sp>
      <p:sp>
        <p:nvSpPr>
          <p:cNvPr id="5" name="a1"/>
          <p:cNvSpPr/>
          <p:nvPr/>
        </p:nvSpPr>
        <p:spPr>
          <a:xfrm>
            <a:off x="609600" y="1498600"/>
            <a:ext cx="2540000" cy="685800"/>
          </a:xfrm>
          <a:prstGeom prst="rect">
            <a:avLst/>
          </a:prstGeom>
          <a:solidFill>
            <a:srgbClr val="FFFFFF"/>
          </a:solidFill>
          <a:ln w="15240">
            <a:solidFill>
              <a:srgbClr val="000000"/>
            </a:solidFill>
          </a:ln>
        </p:spPr>
      </p:sp>
      <p:sp>
        <p:nvSpPr>
          <p:cNvPr id="6" name="a1t"/>
          <p:cNvSpPr txBox="1"/>
          <p:nvPr/>
        </p:nvSpPr>
        <p:spPr>
          <a:xfrm>
            <a:off x="609600" y="14986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Agent browser</a:t>
            </a:r>
            <a:endParaRPr lang="en-US" sz="950" noProof="1"/>
          </a:p>
          <a:p>
            <a:pPr algn="ctr">
              <a:lnSpc>
                <a:spcPct val="120000"/>
              </a:lnSpc>
            </a:pPr>
            <a:r>
              <a:rPr lang="en-US" sz="800" noProof="1">
                <a:solidFill>
                  <a:srgbClr val="000000"/>
                </a:solidFill>
                <a:latin typeface="Liter"/>
                <a:ea typeface="MiSans"/>
              </a:rPr>
              <a:t>Finesse desktop + gadgets</a:t>
            </a:r>
            <a:endParaRPr lang="en-US" sz="950" noProof="1"/>
          </a:p>
        </p:txBody>
      </p:sp>
      <p:sp>
        <p:nvSpPr>
          <p:cNvPr id="7" name="a2"/>
          <p:cNvSpPr/>
          <p:nvPr/>
        </p:nvSpPr>
        <p:spPr>
          <a:xfrm>
            <a:off x="609600" y="2489200"/>
            <a:ext cx="2540000" cy="685800"/>
          </a:xfrm>
          <a:prstGeom prst="rect">
            <a:avLst/>
          </a:prstGeom>
          <a:solidFill>
            <a:srgbClr val="F7F5F0"/>
          </a:solidFill>
          <a:ln w="10160">
            <a:solidFill>
              <a:srgbClr val="333333"/>
            </a:solidFill>
          </a:ln>
        </p:spPr>
      </p:sp>
      <p:sp>
        <p:nvSpPr>
          <p:cNvPr id="8" name="a2t"/>
          <p:cNvSpPr txBox="1"/>
          <p:nvPr/>
        </p:nvSpPr>
        <p:spPr>
          <a:xfrm>
            <a:off x="609600" y="24892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Finesse server</a:t>
            </a:r>
            <a:endParaRPr lang="en-US" sz="950" noProof="1"/>
          </a:p>
          <a:p>
            <a:pPr algn="ctr">
              <a:lnSpc>
                <a:spcPct val="120000"/>
              </a:lnSpc>
            </a:pPr>
            <a:r>
              <a:rPr lang="en-US" sz="800" noProof="1">
                <a:solidFill>
                  <a:srgbClr val="000000"/>
                </a:solidFill>
                <a:latin typeface="Liter"/>
                <a:ea typeface="MiSans"/>
              </a:rPr>
              <a:t>REST APIs · CTI events · XMPP</a:t>
            </a:r>
            <a:endParaRPr lang="en-US" sz="950" noProof="1"/>
          </a:p>
        </p:txBody>
      </p:sp>
      <p:sp>
        <p:nvSpPr>
          <p:cNvPr id="9" name="a3"/>
          <p:cNvSpPr/>
          <p:nvPr/>
        </p:nvSpPr>
        <p:spPr>
          <a:xfrm>
            <a:off x="609600" y="3479800"/>
            <a:ext cx="2540000" cy="685800"/>
          </a:xfrm>
          <a:prstGeom prst="rect">
            <a:avLst/>
          </a:prstGeom>
          <a:solidFill>
            <a:srgbClr val="F7F5F0"/>
          </a:solidFill>
          <a:ln w="10160">
            <a:solidFill>
              <a:srgbClr val="333333"/>
            </a:solidFill>
          </a:ln>
        </p:spPr>
      </p:sp>
      <p:sp>
        <p:nvSpPr>
          <p:cNvPr id="10" name="a3t"/>
          <p:cNvSpPr txBox="1"/>
          <p:nvPr/>
        </p:nvSpPr>
        <p:spPr>
          <a:xfrm>
            <a:off x="609600" y="3479800"/>
            <a:ext cx="2540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CC engine + CUCM</a:t>
            </a:r>
            <a:endParaRPr lang="en-US" sz="950" noProof="1"/>
          </a:p>
          <a:p>
            <a:pPr algn="ctr">
              <a:lnSpc>
                <a:spcPct val="120000"/>
              </a:lnSpc>
            </a:pPr>
            <a:r>
              <a:rPr lang="en-US" sz="800" noProof="1">
                <a:solidFill>
                  <a:srgbClr val="000000"/>
                </a:solidFill>
                <a:latin typeface="Liter"/>
                <a:ea typeface="MiSans"/>
              </a:rPr>
              <a:t>routing, agent state, calls</a:t>
            </a:r>
            <a:endParaRPr lang="en-US" sz="950" noProof="1"/>
          </a:p>
        </p:txBody>
      </p:sp>
      <p:sp>
        <p:nvSpPr>
          <p:cNvPr id="11" name="aa1"/>
          <p:cNvSpPr/>
          <p:nvPr>
            <p:extLst>
              <p:ext uri="{F5677B7D-0D2A-4D9B-9A5C-6D8D7D0E5A5D}">
                <pptd:line encoding="base64url">eyJ2aWV3Qm94IjpbMSwyNF0sInBvaW50cyI6IjAsMCAwLDI0In0</pptd:line>
              </p:ext>
            </p:extLst>
          </p:nvPr>
        </p:nvSpPr>
        <p:spPr>
          <a:xfrm>
            <a:off x="1879600" y="2184400"/>
            <a:ext cx="12700" cy="304800"/>
          </a:xfrm>
          <a:custGeom>
            <a:avLst/>
            <a:gdLst/>
            <a:ahLst/>
            <a:cxnLst/>
            <a:rect l="l" t="t" r="r" b="b"/>
            <a:pathLst>
              <a:path w="1" h="24">
                <a:moveTo>
                  <a:pt x="0" y="0"/>
                </a:moveTo>
                <a:lnTo>
                  <a:pt x="0" y="24"/>
                </a:lnTo>
              </a:path>
            </a:pathLst>
          </a:custGeom>
          <a:noFill/>
          <a:ln w="15240" cap="rnd">
            <a:solidFill>
              <a:srgbClr val="E69138"/>
            </a:solidFill>
            <a:round/>
            <a:headEnd type="arrow"/>
            <a:tailEnd type="arrow"/>
          </a:ln>
        </p:spPr>
      </p:sp>
      <p:sp>
        <p:nvSpPr>
          <p:cNvPr id="12" name="aa2"/>
          <p:cNvSpPr/>
          <p:nvPr>
            <p:extLst>
              <p:ext uri="{F5677B7D-0D2A-4D9B-9A5C-6D8D7D0E5A5D}">
                <pptd:line encoding="base64url">eyJ2aWV3Qm94IjpbMSwyNF0sInBvaW50cyI6IjAsMCAwLDI0In0</pptd:line>
              </p:ext>
            </p:extLst>
          </p:nvPr>
        </p:nvSpPr>
        <p:spPr>
          <a:xfrm>
            <a:off x="1879600" y="3175000"/>
            <a:ext cx="12700" cy="304800"/>
          </a:xfrm>
          <a:custGeom>
            <a:avLst/>
            <a:gdLst/>
            <a:ahLst/>
            <a:cxnLst/>
            <a:rect l="l" t="t" r="r" b="b"/>
            <a:pathLst>
              <a:path w="1" h="24">
                <a:moveTo>
                  <a:pt x="0" y="0"/>
                </a:moveTo>
                <a:lnTo>
                  <a:pt x="0" y="24"/>
                </a:lnTo>
              </a:path>
            </a:pathLst>
          </a:custGeom>
          <a:noFill/>
          <a:ln w="15240" cap="rnd">
            <a:solidFill>
              <a:srgbClr val="E69138"/>
            </a:solidFill>
            <a:round/>
            <a:headEnd type="arrow"/>
            <a:tailEnd type="arrow"/>
          </a:ln>
        </p:spPr>
      </p:sp>
      <p:sp>
        <p:nvSpPr>
          <p:cNvPr id="13" name="a-crm"/>
          <p:cNvSpPr/>
          <p:nvPr/>
        </p:nvSpPr>
        <p:spPr>
          <a:xfrm>
            <a:off x="3810000" y="2489200"/>
            <a:ext cx="2260600" cy="685800"/>
          </a:xfrm>
          <a:prstGeom prst="rect">
            <a:avLst/>
          </a:prstGeom>
          <a:solidFill>
            <a:srgbClr val="D2C7EB"/>
          </a:solidFill>
          <a:ln w="10160">
            <a:solidFill>
              <a:srgbClr val="333333"/>
            </a:solidFill>
          </a:ln>
        </p:spPr>
      </p:sp>
      <p:sp>
        <p:nvSpPr>
          <p:cNvPr id="14" name="a-crm-t"/>
          <p:cNvSpPr txBox="1"/>
          <p:nvPr/>
        </p:nvSpPr>
        <p:spPr>
          <a:xfrm>
            <a:off x="3810000" y="2489200"/>
            <a:ext cx="22606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CRM / ITSM</a:t>
            </a:r>
            <a:endParaRPr lang="en-US" sz="950" noProof="1"/>
          </a:p>
          <a:p>
            <a:pPr algn="ctr">
              <a:lnSpc>
                <a:spcPct val="120000"/>
              </a:lnSpc>
            </a:pPr>
            <a:r>
              <a:rPr lang="en-US" sz="800" noProof="1">
                <a:solidFill>
                  <a:srgbClr val="000000"/>
                </a:solidFill>
                <a:latin typeface="Liter"/>
                <a:ea typeface="MiSans"/>
              </a:rPr>
              <a:t>Salesforce · Dynamics · ServiceNow</a:t>
            </a:r>
            <a:endParaRPr lang="en-US" sz="950" noProof="1"/>
          </a:p>
        </p:txBody>
      </p:sp>
      <p:sp>
        <p:nvSpPr>
          <p:cNvPr id="15" name="aa3"/>
          <p:cNvSpPr/>
          <p:nvPr>
            <p:extLst>
              <p:ext uri="{F5677B7D-0D2A-4D9B-9A5C-6D8D7D0E5A5D}">
                <pptd:line encoding="base64url">eyJ2aWV3Qm94IjpbNTIsMV0sInBvaW50cyI6IjAsMCA1MiwwIn0</pptd:line>
              </p:ext>
            </p:extLst>
          </p:nvPr>
        </p:nvSpPr>
        <p:spPr>
          <a:xfrm>
            <a:off x="3149600" y="2819400"/>
            <a:ext cx="660400" cy="12700"/>
          </a:xfrm>
          <a:custGeom>
            <a:avLst/>
            <a:gdLst/>
            <a:ahLst/>
            <a:cxnLst/>
            <a:rect l="l" t="t" r="r" b="b"/>
            <a:pathLst>
              <a:path w="52" h="1">
                <a:moveTo>
                  <a:pt x="0" y="0"/>
                </a:moveTo>
                <a:lnTo>
                  <a:pt x="52" y="0"/>
                </a:lnTo>
              </a:path>
            </a:pathLst>
          </a:custGeom>
          <a:noFill/>
          <a:ln w="15240" cap="rnd">
            <a:solidFill>
              <a:srgbClr val="E69138"/>
            </a:solidFill>
            <a:round/>
            <a:headEnd type="arrow"/>
            <a:tailEnd type="arrow"/>
          </a:ln>
        </p:spPr>
      </p:sp>
      <p:sp>
        <p:nvSpPr>
          <p:cNvPr id="16" name="aa3t"/>
          <p:cNvSpPr txBox="1"/>
          <p:nvPr/>
        </p:nvSpPr>
        <p:spPr>
          <a:xfrm>
            <a:off x="3175000" y="2616200"/>
            <a:ext cx="1143000" cy="152400"/>
          </a:xfrm>
          <a:prstGeom prst="rect">
            <a:avLst/>
          </a:prstGeom>
          <a:noFill/>
          <a:ln>
            <a:noFill/>
          </a:ln>
        </p:spPr>
        <p:txBody>
          <a:bodyPr lIns="0" rIns="0" tIns="0" bIns="0" wrap="none" rtlCol="0"/>
          <a:lstStyle/>
          <a:p>
            <a:pPr>
              <a:lnSpc>
                <a:spcPct val="120000"/>
              </a:lnSpc>
            </a:pPr>
            <a:r>
              <a:rPr lang="en-US" sz="750" noProof="1">
                <a:solidFill>
                  <a:srgbClr val="5A5A5A"/>
                </a:solidFill>
                <a:latin typeface="JetBrains Mono"/>
                <a:ea typeface="MiSans"/>
              </a:rPr>
              <a:t>URL pop / gadget</a:t>
            </a:r>
            <a:endParaRPr lang="en-US" sz="750" noProof="1"/>
          </a:p>
        </p:txBody>
      </p:sp>
      <p:sp>
        <p:nvSpPr>
          <p:cNvPr id="17" name="arch-note"/>
          <p:cNvSpPr txBox="1"/>
          <p:nvPr/>
        </p:nvSpPr>
        <p:spPr>
          <a:xfrm>
            <a:off x="609600" y="4419600"/>
            <a:ext cx="5461000" cy="1397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Three integration patterns:</a:t>
            </a:r>
            <a:r>
              <a:rPr lang="en-US" sz="1250" noProof="1">
                <a:solidFill>
                  <a:srgbClr val="000000"/>
                </a:solidFill>
                <a:latin typeface="Liter"/>
                <a:ea typeface="MiSans"/>
              </a:rPr>
              <a:t> a </a:t>
            </a:r>
            <a:r>
              <a:rPr lang="en-US" sz="1250" noProof="1" b="1">
                <a:solidFill>
                  <a:srgbClr val="000000"/>
                </a:solidFill>
                <a:latin typeface="Liter"/>
                <a:ea typeface="MiSans"/>
              </a:rPr>
              <a:t>URL screen pop</a:t>
            </a:r>
            <a:r>
              <a:rPr lang="en-US" sz="1250" noProof="1">
                <a:solidFill>
                  <a:srgbClr val="000000"/>
                </a:solidFill>
                <a:latin typeface="Liter"/>
                <a:ea typeface="MiSans"/>
              </a:rPr>
              <a:t> opens the CRM record in a frame at answer; an </a:t>
            </a:r>
            <a:r>
              <a:rPr lang="en-US" sz="1250" noProof="1" b="1">
                <a:solidFill>
                  <a:srgbClr val="000000"/>
                </a:solidFill>
                <a:latin typeface="Liter"/>
                <a:ea typeface="MiSans"/>
              </a:rPr>
              <a:t>embedded gadget</a:t>
            </a:r>
            <a:r>
              <a:rPr lang="en-US" sz="1250" noProof="1">
                <a:solidFill>
                  <a:srgbClr val="000000"/>
                </a:solidFill>
                <a:latin typeface="Liter"/>
                <a:ea typeface="MiSans"/>
              </a:rPr>
              <a:t> runs CRM logic inside Finesse; a </a:t>
            </a:r>
            <a:r>
              <a:rPr lang="en-US" sz="1250" noProof="1" b="1">
                <a:solidFill>
                  <a:srgbClr val="000000"/>
                </a:solidFill>
                <a:latin typeface="Liter"/>
                <a:ea typeface="MiSans"/>
              </a:rPr>
              <a:t>packaged connector</a:t>
            </a:r>
            <a:r>
              <a:rPr lang="en-US" sz="1250" noProof="1">
                <a:solidFill>
                  <a:srgbClr val="000000"/>
                </a:solidFill>
                <a:latin typeface="Liter"/>
                <a:ea typeface="MiSans"/>
              </a:rPr>
              <a:t> (Cisco or CRM-vendor) puts call controls inside the CRM itself — increasingly the preferred direction.</a:t>
            </a:r>
            <a:endParaRPr lang="en-US" sz="1250" noProof="1"/>
          </a:p>
        </p:txBody>
      </p:sp>
      <p:sp>
        <p:nvSpPr>
          <p:cNvPr id="18" name="cfg-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Desktop items you configure, and why</a:t>
            </a:r>
            <a:endParaRPr lang="en-US" sz="1100" noProof="1"/>
          </a:p>
        </p:txBody>
      </p:sp>
      <p:graphicFrame>
        <p:nvGraphicFramePr>
          <p:cNvPr id="19" name="cfg-table"/>
          <p:cNvGraphicFramePr>
            <a:graphicFrameLocks noGrp="1"/>
          </p:cNvGraphicFramePr>
          <p:nvPr/>
        </p:nvGraphicFramePr>
        <p:xfrm>
          <a:off x="6858000" y="1447800"/>
          <a:ext cx="4724400" cy="2794000"/>
        </p:xfrm>
        <a:graphic>
          <a:graphicData uri="http://schemas.openxmlformats.org/drawingml/2006/table">
            <a:tbl>
              <a:tblPr/>
              <a:tblGrid>
                <a:gridCol w="1700784"/>
                <a:gridCol w="3023616"/>
              </a:tblGrid>
              <a:tr h="391160">
                <a:tc>
                  <a:txBody>
                    <a:bodyPr wrap="square" rtlCol="0" anchor="ctr"/>
                    <a:lstStyle/>
                    <a:p>
                      <a:pPr algn="l"/>
                      <a:r>
                        <a:rPr lang="en-US" sz="1050" noProof="1" b="1">
                          <a:solidFill>
                            <a:srgbClr val="000000"/>
                          </a:solidFill>
                          <a:latin typeface="Liter"/>
                          <a:ea typeface="MiSans"/>
                        </a:rPr>
                        <a:t>Item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Why it matters</a:t>
                      </a:r>
                    </a:p>
                  </a:txBody>
                  <a:tcPr marL="91440" marR="91440" marT="45720" marB="45720" anchor="ctr">
                    <a:lnL>
                      <a:noFill/>
                    </a:lnL>
                    <a:lnR>
                      <a:noFill/>
                    </a:lnR>
                    <a:lnT>
                      <a:noFill/>
                    </a:lnT>
                    <a:lnB w="15240">
                      <a:solidFill>
                        <a:srgbClr val="000000"/>
                      </a:solidFill>
                    </a:lnB>
                    <a:noFill/>
                  </a:tcPr>
                </a:tc>
              </a:tr>
              <a:tr h="600710">
                <a:tc>
                  <a:txBody>
                    <a:bodyPr wrap="square" rtlCol="0" anchor="ctr"/>
                    <a:lstStyle/>
                    <a:p>
                      <a:pPr algn="l"/>
                      <a:r>
                        <a:rPr lang="en-US" sz="1050" noProof="1">
                          <a:solidFill>
                            <a:srgbClr val="000000"/>
                          </a:solidFill>
                          <a:latin typeface="Liter"/>
                          <a:ea typeface="MiSans"/>
                        </a:rPr>
                        <a:t>Layout per team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each role sees the gadgets and queues it uses</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Wrap-up codes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structured outcomes feed reporting and callbacks</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Not-ready reasons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coaching needs "training" separate from "avoiding"</a:t>
                      </a:r>
                    </a:p>
                  </a:txBody>
                  <a:tcPr marL="91440" marR="91440" marT="45720" marB="45720" anchor="ctr">
                    <a:lnL>
                      <a:noFill/>
                    </a:lnL>
                    <a:lnR>
                      <a:noFill/>
                    </a:lnR>
                    <a:lnT>
                      <a:noFill/>
                    </a:lnT>
                    <a:lnB w="7620">
                      <a:solidFill>
                        <a:srgbClr val="D9D9D9"/>
                      </a:solidFill>
                    </a:lnB>
                    <a:noFill/>
                  </a:tcPr>
                </a:tc>
              </a:tr>
              <a:tr h="600710">
                <a:tc>
                  <a:txBody>
                    <a:bodyPr wrap="square" rtlCol="0" anchor="ctr"/>
                    <a:lstStyle/>
                    <a:p>
                      <a:pPr algn="l"/>
                      <a:r>
                        <a:rPr lang="en-US" sz="1050" noProof="1">
                          <a:solidFill>
                            <a:srgbClr val="000000"/>
                          </a:solidFill>
                          <a:latin typeface="Liter"/>
                          <a:ea typeface="MiSans"/>
                        </a:rPr>
                        <a:t>Workflows / pop rules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data from IVR lands in the right CRM field</a:t>
                      </a:r>
                    </a:p>
                  </a:txBody>
                  <a:tcPr marL="91440" marR="91440" marT="45720" marB="45720" anchor="ctr">
                    <a:lnL>
                      <a:noFill/>
                    </a:lnL>
                    <a:lnR>
                      <a:noFill/>
                    </a:lnR>
                    <a:lnT>
                      <a:noFill/>
                    </a:lnT>
                    <a:lnB w="7620">
                      <a:solidFill>
                        <a:srgbClr val="D9D9D9"/>
                      </a:solidFill>
                    </a:lnB>
                    <a:noFill/>
                  </a:tcPr>
                </a:tc>
              </a:tr>
            </a:tbl>
          </a:graphicData>
        </a:graphic>
      </p:graphicFrame>
      <p:sp>
        <p:nvSpPr>
          <p:cNvPr id="20" name="cfg-note"/>
          <p:cNvSpPr/>
          <p:nvPr/>
        </p:nvSpPr>
        <p:spPr>
          <a:xfrm>
            <a:off x="6858000" y="4521200"/>
            <a:ext cx="4724400" cy="1219200"/>
          </a:xfrm>
          <a:prstGeom prst="roundRect">
            <a:avLst>
              <a:gd name="adj" fmla="val 12000"/>
            </a:avLst>
          </a:prstGeom>
          <a:solidFill>
            <a:srgbClr val="F3F3F3"/>
          </a:solidFill>
          <a:ln>
            <a:noFill/>
          </a:ln>
        </p:spPr>
      </p:sp>
      <p:sp>
        <p:nvSpPr>
          <p:cNvPr id="21" name="cfg-note-t"/>
          <p:cNvSpPr txBox="1"/>
          <p:nvPr/>
        </p:nvSpPr>
        <p:spPr>
          <a:xfrm>
            <a:off x="7061200" y="4648200"/>
            <a:ext cx="43688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Adoption rule:</a:t>
            </a:r>
            <a:r>
              <a:rPr lang="en-US" sz="1000" noProof="1">
                <a:solidFill>
                  <a:srgbClr val="5A5A5A"/>
                </a:solidFill>
                <a:latin typeface="Liter"/>
                <a:ea typeface="MiSans"/>
              </a:rPr>
              <a:t> agents judge the contact center by their desktop, not the platform. Involve two working agents in layout design; a desktop they help build is a desktop they will use correctly — including wrap-up discipline.</a:t>
            </a:r>
            <a:endParaRPr lang="en-US" sz="1000" noProof="1"/>
          </a:p>
        </p:txBody>
      </p:sp>
      <p:sp>
        <p:nvSpPr>
          <p:cNvPr id="2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Finesse administration and developer documentation; CRM connector documentation, cisco.com</a:t>
            </a:r>
            <a:endParaRPr lang="en-US" sz="850" noProof="1"/>
          </a:p>
        </p:txBody>
      </p:sp>
      <p:sp>
        <p:nvSpPr>
          <p:cNvPr id="24" name="cml-footer-bar"/>
          <p:cNvSpPr/>
          <p:nvPr/>
        </p:nvSpPr>
        <p:spPr>
          <a:xfrm>
            <a:off x="0" y="6670000"/>
            <a:ext cx="12192000" cy="640000"/>
          </a:xfrm>
          <a:prstGeom prst="rect">
            <a:avLst/>
          </a:prstGeom>
          <a:solidFill>
            <a:srgbClr val="12161C"/>
          </a:solidFill>
          <a:ln>
            <a:noFill/>
          </a:ln>
        </p:spPr>
        <p:txBody>
          <a:bodyPr/>
          <a:lstStyle/>
          <a:p/>
        </p:txBody>
      </p:sp>
      <p:sp>
        <p:nvSpPr>
          <p:cNvPr id="25" name="cml-footer-rule"/>
          <p:cNvSpPr/>
          <p:nvPr/>
        </p:nvSpPr>
        <p:spPr>
          <a:xfrm>
            <a:off x="0" y="6670000"/>
            <a:ext cx="12192000" cy="19050"/>
          </a:xfrm>
          <a:prstGeom prst="rect">
            <a:avLst/>
          </a:prstGeom>
          <a:solidFill>
            <a:srgbClr val="2DD4BF"/>
          </a:solidFill>
          <a:ln>
            <a:noFill/>
          </a:ln>
        </p:spPr>
        <p:txBody>
          <a:bodyPr/>
          <a:lstStyle/>
          <a:p/>
        </p:txBody>
      </p:sp>
      <p:sp>
        <p:nvSpPr>
          <p:cNvPr id="2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4.xml><?xml version="1.0" encoding="utf-8"?>
<p:sld xmlns:a="http://schemas.openxmlformats.org/drawingml/2006/main" xmlns:ns2="http://schemas.openxmlformats.org/markup-compatibility/2006" xmlns:ns3="http://schemas.microsoft.com/office/drawing/2010/main" xmlns:ns4="http://schemas.openxmlformats.org/officeDocument/2006/math"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Reporting closes the loop: offered, handled, service level and AHT drive staffing</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Contact center metrics have precise definitions — agree on them before comparing dashboards across teams or platforms.</a:t>
            </a:r>
            <a:endParaRPr lang="en-US" sz="1100" noProof="1"/>
          </a:p>
        </p:txBody>
      </p:sp>
      <p:sp>
        <p:nvSpPr>
          <p:cNvPr id="4" name="met-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six metrics, defined exactly</a:t>
            </a:r>
            <a:endParaRPr lang="en-US" sz="1100" noProof="1"/>
          </a:p>
        </p:txBody>
      </p:sp>
      <p:graphicFrame>
        <p:nvGraphicFramePr>
          <p:cNvPr id="5" name="met-table"/>
          <p:cNvGraphicFramePr>
            <a:graphicFrameLocks noGrp="1"/>
          </p:cNvGraphicFramePr>
          <p:nvPr/>
        </p:nvGraphicFramePr>
        <p:xfrm>
          <a:off x="609600" y="1447800"/>
          <a:ext cx="5715000" cy="3175000"/>
        </p:xfrm>
        <a:graphic>
          <a:graphicData uri="http://schemas.openxmlformats.org/drawingml/2006/table">
            <a:tbl>
              <a:tblPr/>
              <a:tblGrid>
                <a:gridCol w="1828800"/>
                <a:gridCol w="3886200"/>
              </a:tblGrid>
              <a:tr h="381000">
                <a:tc>
                  <a:txBody>
                    <a:bodyPr wrap="square" rtlCol="0" anchor="ctr"/>
                    <a:lstStyle/>
                    <a:p>
                      <a:pPr algn="l"/>
                      <a:r>
                        <a:rPr lang="en-US" sz="1050" noProof="1" b="1">
                          <a:solidFill>
                            <a:srgbClr val="000000"/>
                          </a:solidFill>
                          <a:latin typeface="Liter"/>
                          <a:ea typeface="MiSans"/>
                        </a:rPr>
                        <a:t>Metric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Definition</a:t>
                      </a:r>
                    </a:p>
                  </a:txBody>
                  <a:tcPr marL="91440" marR="91440" marT="45720" marB="45720" anchor="ctr">
                    <a:lnL>
                      <a:noFill/>
                    </a:lnL>
                    <a:lnR>
                      <a:noFill/>
                    </a:lnR>
                    <a:lnT>
                      <a:noFill/>
                    </a:lnT>
                    <a:lnB w="15240">
                      <a:solidFill>
                        <a:srgbClr val="000000"/>
                      </a:solidFill>
                    </a:lnB>
                    <a:noFill/>
                  </a:tcPr>
                </a:tc>
              </a:tr>
              <a:tr h="558800">
                <a:tc>
                  <a:txBody>
                    <a:bodyPr wrap="square" rtlCol="0" anchor="ctr"/>
                    <a:lstStyle/>
                    <a:p>
                      <a:pPr algn="l"/>
                      <a:r>
                        <a:rPr lang="en-US" sz="1050" noProof="1">
                          <a:solidFill>
                            <a:srgbClr val="000000"/>
                          </a:solidFill>
                          <a:latin typeface="Liter"/>
                          <a:ea typeface="MiSans"/>
                        </a:rPr>
                        <a:t>Offered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contacts presented to a queue (includes abandoned)</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Handled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contacts connected to and completed by an agent</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Abandon rate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offered − handled, ÷ offered; watch the time-to-abandon curve</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Service level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answered within threshold, e.g. 80/20 = 80% in 20 s</a:t>
                      </a:r>
                    </a:p>
                  </a:txBody>
                  <a:tcPr marL="91440" marR="91440" marT="45720" marB="45720" anchor="ctr">
                    <a:lnL>
                      <a:noFill/>
                    </a:lnL>
                    <a:lnR>
                      <a:noFill/>
                    </a:lnR>
                    <a:lnT>
                      <a:noFill/>
                    </a:lnT>
                    <a:lnB w="7620">
                      <a:solidFill>
                        <a:srgbClr val="D9D9D9"/>
                      </a:solidFill>
                    </a:lnB>
                    <a:noFill/>
                  </a:tcPr>
                </a:tc>
              </a:tr>
              <a:tr h="558800">
                <a:tc>
                  <a:txBody>
                    <a:bodyPr wrap="square" rtlCol="0" anchor="ctr"/>
                    <a:lstStyle/>
                    <a:p>
                      <a:pPr algn="l"/>
                      <a:r>
                        <a:rPr lang="en-US" sz="1050" noProof="1">
                          <a:solidFill>
                            <a:srgbClr val="000000"/>
                          </a:solidFill>
                          <a:latin typeface="Liter"/>
                          <a:ea typeface="MiSans"/>
                        </a:rPr>
                        <a:t>AHT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average handle time = talk + hold + wrap-up, per contact</a:t>
                      </a:r>
                    </a:p>
                  </a:txBody>
                  <a:tcPr marL="91440" marR="91440" marT="45720" marB="45720" anchor="ctr">
                    <a:lnL>
                      <a:noFill/>
                    </a:lnL>
                    <a:lnR>
                      <a:noFill/>
                    </a:lnR>
                    <a:lnT>
                      <a:noFill/>
                    </a:lnT>
                    <a:lnB w="7620">
                      <a:solidFill>
                        <a:srgbClr val="D9D9D9"/>
                      </a:solidFill>
                    </a:lnB>
                    <a:noFill/>
                  </a:tcPr>
                </a:tc>
              </a:tr>
            </a:tbl>
          </a:graphicData>
        </a:graphic>
      </p:graphicFrame>
      <p:sp>
        <p:nvSpPr>
          <p:cNvPr id="6" name="met-note"/>
          <p:cNvSpPr txBox="1"/>
          <p:nvPr/>
        </p:nvSpPr>
        <p:spPr>
          <a:xfrm>
            <a:off x="609600" y="4800600"/>
            <a:ext cx="5715000" cy="114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Occupancy and ASA</a:t>
            </a:r>
            <a:r>
              <a:rPr lang="en-US" sz="1250" noProof="1">
                <a:solidFill>
                  <a:srgbClr val="000000"/>
                </a:solidFill>
                <a:latin typeface="Liter"/>
                <a:ea typeface="MiSans"/>
              </a:rPr>
              <a:t> complete the set: occupancy = agent time on contacts ÷ staffed time (sustained values above ~85% burn teams out); ASA = average speed of answer, the caller-felt twin of service level.</a:t>
            </a:r>
            <a:endParaRPr lang="en-US" sz="1250" noProof="1"/>
          </a:p>
        </p:txBody>
      </p:sp>
      <p:sp>
        <p:nvSpPr>
          <p:cNvPr id="7" name="tool-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tooling chain behind the numbers</a:t>
            </a:r>
            <a:endParaRPr lang="en-US" sz="1100" noProof="1"/>
          </a:p>
        </p:txBody>
      </p:sp>
      <p:sp>
        <p:nvSpPr>
          <p:cNvPr id="8" name="tool-list"/>
          <p:cNvSpPr txBox="1"/>
          <p:nvPr/>
        </p:nvSpPr>
        <p:spPr>
          <a:xfrm>
            <a:off x="6858000" y="1447800"/>
            <a:ext cx="4724400" cy="2413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CUIC</a:t>
            </a:r>
            <a:r>
              <a:rPr lang="en-US" sz="1250" noProof="1">
                <a:solidFill>
                  <a:srgbClr val="000000"/>
                </a:solidFill>
                <a:latin typeface="Liter"/>
                <a:ea typeface="MiSans"/>
              </a:rPr>
              <a:t> (on-prem) — live dashboards for supervisors plus historical reports; UCCE adds the HDS database for long-term, SQL-level history.</a:t>
            </a:r>
            <a:endParaRPr lang="en-US" sz="1250" noProof="1"/>
          </a:p>
          <a:p>
            <a:pPr>
              <a:lnSpc>
                <a:spcPct val="145000"/>
              </a:lnSpc>
              <a:spcBef>
                <a:spcPts val="1000"/>
              </a:spcBef>
            </a:pPr>
            <a:r>
              <a:rPr lang="en-US" sz="1250" noProof="1" b="1">
                <a:solidFill>
                  <a:srgbClr val="000000"/>
                </a:solidFill>
                <a:latin typeface="Liter"/>
                <a:ea typeface="MiSans"/>
              </a:rPr>
              <a:t>Analyzer</a:t>
            </a:r>
            <a:r>
              <a:rPr lang="en-US" sz="1250" noProof="1">
                <a:solidFill>
                  <a:srgbClr val="000000"/>
                </a:solidFill>
                <a:latin typeface="Liter"/>
                <a:ea typeface="MiSans"/>
              </a:rPr>
              <a:t> (Webex CC) — cloud historicals and visualizations with data retention set by your subscription.</a:t>
            </a:r>
            <a:endParaRPr lang="en-US" sz="1250" noProof="1"/>
          </a:p>
          <a:p>
            <a:pPr>
              <a:lnSpc>
                <a:spcPct val="145000"/>
              </a:lnSpc>
              <a:spcBef>
                <a:spcPts val="1000"/>
              </a:spcBef>
            </a:pPr>
            <a:r>
              <a:rPr lang="en-US" sz="1250" noProof="1" b="1">
                <a:solidFill>
                  <a:srgbClr val="000000"/>
                </a:solidFill>
                <a:latin typeface="Liter"/>
                <a:ea typeface="MiSans"/>
              </a:rPr>
              <a:t>WFM + QM</a:t>
            </a:r>
            <a:r>
              <a:rPr lang="en-US" sz="1250" noProof="1">
                <a:solidFill>
                  <a:srgbClr val="000000"/>
                </a:solidFill>
                <a:latin typeface="Liter"/>
                <a:ea typeface="MiSans"/>
              </a:rPr>
              <a:t> — Calabrio or Webex WFO forecast volumes, build schedules from AHT/SL targets, and score recorded calls for coaching.</a:t>
            </a:r>
            <a:endParaRPr lang="en-US" sz="1250" noProof="1"/>
          </a:p>
        </p:txBody>
      </p:sp>
      <p:sp>
        <p:nvSpPr>
          <p:cNvPr id="9" name="erl-box"/>
          <p:cNvSpPr/>
          <p:nvPr/>
        </p:nvSpPr>
        <p:spPr>
          <a:xfrm>
            <a:off x="6858000" y="4191000"/>
            <a:ext cx="4724400" cy="1625600"/>
          </a:xfrm>
          <a:prstGeom prst="roundRect">
            <a:avLst>
              <a:gd name="adj" fmla="val 12000"/>
            </a:avLst>
          </a:prstGeom>
          <a:solidFill>
            <a:srgbClr val="F3F3F3"/>
          </a:solidFill>
          <a:ln>
            <a:noFill/>
          </a:ln>
        </p:spPr>
      </p:sp>
      <ns2:AlternateContent>
        <ns2:Choice Requires="a14">
          <p:sp>
            <p:nvSpPr>
              <p:cNvPr id="10" name="erl-box-t"/>
              <p:cNvSpPr txBox="1"/>
              <p:nvPr/>
            </p:nvSpPr>
            <p:spPr>
              <a:xfrm>
                <a:off x="7061200" y="4318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Erlang thinking</a:t>
                </a:r>
                <a:endParaRPr lang="en-US" sz="1000" noProof="1"/>
              </a:p>
              <a:p>
                <a:pPr>
                  <a:lnSpc>
                    <a:spcPct val="135000"/>
                  </a:lnSpc>
                  <a:spcBef>
                    <a:spcPts val="600"/>
                  </a:spcBef>
                </a:pPr>
                <a:r>
                  <a:rPr lang="en-US" sz="1000" noProof="1">
                    <a:solidFill>
                      <a:srgbClr val="5A5A5A"/>
                    </a:solidFill>
                    <a:latin typeface="Liter"/>
                    <a:ea typeface="MiSans"/>
                  </a:rPr>
                  <a:t>Traffic intensity is measured in erlangs: </a:t>
                </a:r>
                <ns3:m>
                  <ns4:oMath>
                    <ns4:r>
                      <a:rPr lang="en-US" sz="1000" noProof="1" i="1">
                        <a:solidFill>
                          <a:srgbClr val="5A5A5A"/>
                        </a:solidFill>
                        <a:latin typeface="Liter"/>
                      </a:rPr>
                      <ns4:t>E</ns4:t>
                    </ns4:r>
                    <ns4:r>
                      <a:rPr lang="en-US" sz="1000" noProof="1" i="0">
                        <a:solidFill>
                          <a:srgbClr val="5A5A5A"/>
                        </a:solidFill>
                        <a:latin typeface="Liter"/>
                      </a:rPr>
                      <ns4:t>=</ns4:t>
                    </ns4:r>
                    <ns4:f>
                      <ns4:fPr>
                        <ns4:type ns4:val="bar"/>
                      </ns4:fPr>
                      <ns4:num>
                        <ns4:r>
                          <a:rPr lang="en-US" sz="1000" noProof="1" i="1">
                            <a:solidFill>
                              <a:srgbClr val="5A5A5A"/>
                            </a:solidFill>
                            <a:latin typeface="Liter"/>
                          </a:rPr>
                          <ns4:t>λ</ns4:t>
                        </ns4:r>
                        <ns4:r>
                          <a:rPr lang="en-US" sz="1000" noProof="1" i="0">
                            <a:solidFill>
                              <a:srgbClr val="5A5A5A"/>
                            </a:solidFill>
                            <a:latin typeface="Liter"/>
                          </a:rPr>
                          <ns4:t>×</ns4:t>
                        </ns4:r>
                        <ns4:r>
                          <a:rPr lang="en-US" sz="1000" noProof="1" i="1">
                            <a:solidFill>
                              <a:srgbClr val="5A5A5A"/>
                            </a:solidFill>
                            <a:latin typeface="Liter"/>
                          </a:rPr>
                          <ns4:t>A</ns4:t>
                        </ns4:r>
                        <ns4:r>
                          <a:rPr lang="en-US" sz="1000" noProof="1" i="1">
                            <a:solidFill>
                              <a:srgbClr val="5A5A5A"/>
                            </a:solidFill>
                            <a:latin typeface="Liter"/>
                          </a:rPr>
                          <ns4:t>H</ns4:t>
                        </ns4:r>
                        <ns4:r>
                          <a:rPr lang="en-US" sz="1000" noProof="1" i="1">
                            <a:solidFill>
                              <a:srgbClr val="5A5A5A"/>
                            </a:solidFill>
                            <a:latin typeface="Liter"/>
                          </a:rPr>
                          <ns4:t>T</ns4:t>
                        </ns4:r>
                      </ns4:num>
                      <ns4:den>
                        <ns4:r>
                          <a:rPr lang="en-US" sz="1000" noProof="1" i="0">
                            <a:solidFill>
                              <a:srgbClr val="5A5A5A"/>
                            </a:solidFill>
                            <a:latin typeface="Liter"/>
                          </a:rPr>
                          <ns4:t>3600</ns4:t>
                        </ns4:r>
                      </ns4:den>
                    </ns4:f>
                  </ns4:oMath>
                </ns3:m>
                <a:r>
                  <a:rPr lang="en-US" sz="1000" noProof="1">
                    <a:solidFill>
                      <a:srgbClr val="5A5A5A"/>
                    </a:solidFill>
                    <a:latin typeface="Liter"/>
                    <a:ea typeface="MiSans"/>
                  </a:rPr>
                  <a:t> with λ calls per hour. Erlang C converts E and a service-level target into the required agent count; Erlang B sizes trunk channels. Both appear again in capacity planning (Section 07) — the same mathematics, one for people, one for circuits.</a:t>
                </a:r>
                <a:endParaRPr lang="en-US" sz="1000" noProof="1"/>
              </a:p>
            </p:txBody>
          </p:sp>
        </ns2:Choice>
        <ns2:Fallback>
          <p:sp>
            <p:nvSpPr>
              <p:cNvPr id="10" name="erl-box-t"/>
              <p:cNvSpPr txBox="1"/>
              <p:nvPr/>
            </p:nvSpPr>
            <p:spPr>
              <a:xfrm>
                <a:off x="7061200" y="4318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Definition — Erlang thinking</a:t>
                </a:r>
                <a:endParaRPr lang="en-US" sz="1000" noProof="1"/>
              </a:p>
              <a:p>
                <a:pPr>
                  <a:lnSpc>
                    <a:spcPct val="135000"/>
                  </a:lnSpc>
                  <a:spcBef>
                    <a:spcPts val="600"/>
                  </a:spcBef>
                </a:pPr>
                <a:r>
                  <a:rPr lang="en-US" sz="1000" noProof="1">
                    <a:solidFill>
                      <a:srgbClr val="5A5A5A"/>
                    </a:solidFill>
                    <a:latin typeface="Liter"/>
                    <a:ea typeface="MiSans"/>
                  </a:rPr>
                  <a:t>Traffic intensity is measured in erlangs: \(E = \frac{\lambda \times AHT}{3600}\) with λ calls per hour. Erlang C converts E and a service-level target into the required agent count; Erlang B sizes trunk channels. Both appear again in capacity planning (Section 07) — the same mathematics, one for people, one for circuits.</a:t>
                </a:r>
                <a:endParaRPr lang="en-US" sz="1000" noProof="1"/>
              </a:p>
            </p:txBody>
          </p:sp>
        </ns2:Fallback>
      </ns2:AlternateContent>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CUIC reporting documentation and Webex CC Analyzer documentation; metric definitions follow standard contact center practice</a:t>
            </a:r>
            <a:endParaRPr lang="en-US" sz="850" noProof="1"/>
          </a:p>
        </p:txBody>
      </p:sp>
      <p:sp>
        <p:nvSpPr>
          <p:cNvPr id="13" name="cml-footer-bar"/>
          <p:cNvSpPr/>
          <p:nvPr/>
        </p:nvSpPr>
        <p:spPr>
          <a:xfrm>
            <a:off x="0" y="6670000"/>
            <a:ext cx="12192000" cy="640000"/>
          </a:xfrm>
          <a:prstGeom prst="rect">
            <a:avLst/>
          </a:prstGeom>
          <a:solidFill>
            <a:srgbClr val="12161C"/>
          </a:solidFill>
          <a:ln>
            <a:noFill/>
          </a:ln>
        </p:spPr>
        <p:txBody>
          <a:bodyPr/>
          <a:lstStyle/>
          <a:p/>
        </p:txBody>
      </p:sp>
      <p:sp>
        <p:nvSpPr>
          <p:cNvPr id="14" name="cml-footer-rule"/>
          <p:cNvSpPr/>
          <p:nvPr/>
        </p:nvSpPr>
        <p:spPr>
          <a:xfrm>
            <a:off x="0" y="6670000"/>
            <a:ext cx="12192000" cy="19050"/>
          </a:xfrm>
          <a:prstGeom prst="rect">
            <a:avLst/>
          </a:prstGeom>
          <a:solidFill>
            <a:srgbClr val="2DD4BF"/>
          </a:solidFill>
          <a:ln>
            <a:noFill/>
          </a:ln>
        </p:spPr>
        <p:txBody>
          <a:bodyPr/>
          <a:lstStyle/>
          <a:p/>
        </p:txBody>
      </p:sp>
      <p:sp>
        <p:nvSpPr>
          <p:cNvPr id="1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5.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Digital channels reuse voice logic: one routing brain for chat, email and social</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Omnichannel is not more queues — it is the same skill-based engine fed by more front doors, with agents blending media by design.</a:t>
            </a:r>
            <a:endParaRPr lang="en-US" sz="1100" noProof="1"/>
          </a:p>
        </p:txBody>
      </p:sp>
      <p:sp>
        <p:nvSpPr>
          <p:cNvPr id="4" name="ch-table-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Channel support across the three platforms</a:t>
            </a:r>
            <a:endParaRPr lang="en-US" sz="1100" noProof="1"/>
          </a:p>
        </p:txBody>
      </p:sp>
      <p:graphicFrame>
        <p:nvGraphicFramePr>
          <p:cNvPr id="5" name="ch-table"/>
          <p:cNvGraphicFramePr>
            <a:graphicFrameLocks noGrp="1"/>
          </p:cNvGraphicFramePr>
          <p:nvPr/>
        </p:nvGraphicFramePr>
        <p:xfrm>
          <a:off x="609600" y="1447800"/>
          <a:ext cx="5715000" cy="2921000"/>
        </p:xfrm>
        <a:graphic>
          <a:graphicData uri="http://schemas.openxmlformats.org/drawingml/2006/table">
            <a:tbl>
              <a:tblPr/>
              <a:tblGrid>
                <a:gridCol w="1371600"/>
                <a:gridCol w="1485900"/>
                <a:gridCol w="1371600"/>
                <a:gridCol w="1485900"/>
              </a:tblGrid>
              <a:tr h="379730">
                <a:tc>
                  <a:txBody>
                    <a:bodyPr wrap="square" rtlCol="0" anchor="ctr"/>
                    <a:lstStyle/>
                    <a:p>
                      <a:pPr algn="l"/>
                      <a:r>
                        <a:rPr lang="en-US" sz="1050" noProof="1" b="1">
                          <a:solidFill>
                            <a:srgbClr val="000000"/>
                          </a:solidFill>
                          <a:latin typeface="Liter"/>
                          <a:ea typeface="MiSans"/>
                        </a:rPr>
                        <a:t>Channel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CC</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UCCX</a:t>
                      </a:r>
                    </a:p>
                  </a:txBody>
                  <a:tcPr marL="91440" marR="91440" marT="45720" marB="45720" anchor="ctr">
                    <a:lnL>
                      <a:noFill/>
                    </a:lnL>
                    <a:lnR>
                      <a:noFill/>
                    </a:lnR>
                    <a:lnT>
                      <a:noFill/>
                    </a:lnT>
                    <a:lnB w="15240">
                      <a:solidFill>
                        <a:srgbClr val="000000"/>
                      </a:solidFill>
                    </a:lnB>
                    <a:noFill/>
                  </a:tcPr>
                </a:tc>
              </a:tr>
              <a:tr h="635318">
                <a:tc>
                  <a:txBody>
                    <a:bodyPr wrap="square" rtlCol="0" anchor="ctr"/>
                    <a:lstStyle/>
                    <a:p>
                      <a:pPr algn="l"/>
                      <a:r>
                        <a:rPr lang="en-US" sz="1050" noProof="1">
                          <a:solidFill>
                            <a:srgbClr val="000000"/>
                          </a:solidFill>
                          <a:latin typeface="Liter"/>
                          <a:ea typeface="MiSans"/>
                        </a:rPr>
                        <a:t>Voice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Chat / messaging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via ECE or partner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limited</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via ECE or partner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limited</a:t>
                      </a:r>
                    </a:p>
                  </a:txBody>
                  <a:tcPr marL="91440" marR="91440" marT="45720" marB="45720" anchor="ctr">
                    <a:lnL>
                      <a:noFill/>
                    </a:lnL>
                    <a:lnR>
                      <a:noFill/>
                    </a:lnR>
                    <a:lnT>
                      <a:noFill/>
                    </a:lnT>
                    <a:lnB w="7620">
                      <a:solidFill>
                        <a:srgbClr val="D9D9D9"/>
                      </a:solidFill>
                    </a:lnB>
                    <a:noFill/>
                  </a:tcPr>
                </a:tc>
              </a:tr>
              <a:tr h="635318">
                <a:tc>
                  <a:txBody>
                    <a:bodyPr wrap="square" rtlCol="0" anchor="ctr"/>
                    <a:lstStyle/>
                    <a:p>
                      <a:pPr algn="l"/>
                      <a:r>
                        <a:rPr lang="en-US" sz="1050" noProof="1">
                          <a:solidFill>
                            <a:srgbClr val="000000"/>
                          </a:solidFill>
                          <a:latin typeface="Liter"/>
                          <a:ea typeface="MiSans"/>
                        </a:rPr>
                        <a:t>SMS / social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native digital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partner integration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no</a:t>
                      </a:r>
                    </a:p>
                  </a:txBody>
                  <a:tcPr marL="91440" marR="91440" marT="45720" marB="45720" anchor="ctr">
                    <a:lnL>
                      <a:noFill/>
                    </a:lnL>
                    <a:lnR>
                      <a:noFill/>
                    </a:lnR>
                    <a:lnT>
                      <a:noFill/>
                    </a:lnT>
                    <a:lnB w="7620">
                      <a:solidFill>
                        <a:srgbClr val="D9D9D9"/>
                      </a:solidFill>
                    </a:lnB>
                    <a:noFill/>
                  </a:tcPr>
                </a:tc>
              </a:tr>
            </a:tbl>
          </a:graphicData>
        </a:graphic>
      </p:graphicFrame>
      <p:sp>
        <p:nvSpPr>
          <p:cNvPr id="6" name="ch-note"/>
          <p:cNvSpPr txBox="1"/>
          <p:nvPr/>
        </p:nvSpPr>
        <p:spPr>
          <a:xfrm>
            <a:off x="609600" y="4546600"/>
            <a:ext cx="5715000" cy="13970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The cloud platform's advantage here is structural: digital channels arrive as built-in flows in Webex CC, while on-prem estates bolt them on. For digital-heavy roadmaps this table, not the voice table, decides the platform question (Section 05).</a:t>
            </a:r>
            <a:endParaRPr lang="en-US" sz="1250" noProof="1"/>
          </a:p>
        </p:txBody>
      </p:sp>
      <p:sp>
        <p:nvSpPr>
          <p:cNvPr id="7" name="blend-h"/>
          <p:cNvSpPr txBox="1"/>
          <p:nvPr/>
        </p:nvSpPr>
        <p:spPr>
          <a:xfrm>
            <a:off x="6858000" y="1143000"/>
            <a:ext cx="4724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Blending changes how you staff</a:t>
            </a:r>
            <a:endParaRPr lang="en-US" sz="1100" noProof="1"/>
          </a:p>
        </p:txBody>
      </p:sp>
      <p:sp>
        <p:nvSpPr>
          <p:cNvPr id="8" name="blend-list"/>
          <p:cNvSpPr txBox="1"/>
          <p:nvPr/>
        </p:nvSpPr>
        <p:spPr>
          <a:xfrm>
            <a:off x="6858000" y="1447800"/>
            <a:ext cx="4724400" cy="228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Concurrency is a policy</a:t>
            </a:r>
            <a:r>
              <a:rPr lang="en-US" sz="1250" noProof="1">
                <a:solidFill>
                  <a:srgbClr val="000000"/>
                </a:solidFill>
                <a:latin typeface="Liter"/>
                <a:ea typeface="MiSans"/>
              </a:rPr>
              <a:t> — an agent may handle several chats but one call; the engine caps simultaneous contacts by channel.</a:t>
            </a:r>
            <a:endParaRPr lang="en-US" sz="1250" noProof="1"/>
          </a:p>
          <a:p>
            <a:pPr>
              <a:lnSpc>
                <a:spcPct val="145000"/>
              </a:lnSpc>
              <a:spcBef>
                <a:spcPts val="1000"/>
              </a:spcBef>
            </a:pPr>
            <a:r>
              <a:rPr lang="en-US" sz="1250" noProof="1" b="1">
                <a:solidFill>
                  <a:srgbClr val="000000"/>
                </a:solidFill>
                <a:latin typeface="Liter"/>
                <a:ea typeface="MiSans"/>
              </a:rPr>
              <a:t>Voice preempts</a:t>
            </a:r>
            <a:r>
              <a:rPr lang="en-US" sz="1250" noProof="1">
                <a:solidFill>
                  <a:srgbClr val="000000"/>
                </a:solidFill>
                <a:latin typeface="Liter"/>
                <a:ea typeface="MiSans"/>
              </a:rPr>
              <a:t> — inbound calls interrupt lower-priority digital work, not the other way around; the routing engine enforces it.</a:t>
            </a:r>
            <a:endParaRPr lang="en-US" sz="1250" noProof="1"/>
          </a:p>
          <a:p>
            <a:pPr>
              <a:lnSpc>
                <a:spcPct val="145000"/>
              </a:lnSpc>
              <a:spcBef>
                <a:spcPts val="1000"/>
              </a:spcBef>
            </a:pPr>
            <a:r>
              <a:rPr lang="en-US" sz="1250" noProof="1" b="1">
                <a:solidFill>
                  <a:srgbClr val="000000"/>
                </a:solidFill>
                <a:latin typeface="Liter"/>
                <a:ea typeface="MiSans"/>
              </a:rPr>
              <a:t>AHT differs per channel</a:t>
            </a:r>
            <a:r>
              <a:rPr lang="en-US" sz="1250" noProof="1">
                <a:solidFill>
                  <a:srgbClr val="000000"/>
                </a:solidFill>
                <a:latin typeface="Liter"/>
                <a:ea typeface="MiSans"/>
              </a:rPr>
              <a:t> — staff forecasts must be built per media type, then blended; one average AHT mis-staffs both.</a:t>
            </a:r>
            <a:endParaRPr lang="en-US" sz="1250" noProof="1"/>
          </a:p>
        </p:txBody>
      </p:sp>
      <p:sp>
        <p:nvSpPr>
          <p:cNvPr id="9" name="ai-box"/>
          <p:cNvSpPr/>
          <p:nvPr/>
        </p:nvSpPr>
        <p:spPr>
          <a:xfrm>
            <a:off x="6858000" y="4064000"/>
            <a:ext cx="4724400" cy="1625600"/>
          </a:xfrm>
          <a:prstGeom prst="roundRect">
            <a:avLst>
              <a:gd name="adj" fmla="val 12000"/>
            </a:avLst>
          </a:prstGeom>
          <a:solidFill>
            <a:srgbClr val="F3F3F3"/>
          </a:solidFill>
          <a:ln>
            <a:noFill/>
          </a:ln>
        </p:spPr>
      </p:sp>
      <p:sp>
        <p:nvSpPr>
          <p:cNvPr id="10" name="ai-box-t"/>
          <p:cNvSpPr txBox="1"/>
          <p:nvPr/>
        </p:nvSpPr>
        <p:spPr>
          <a:xfrm>
            <a:off x="7061200" y="4191000"/>
            <a:ext cx="4368800" cy="1371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Where AI fits today</a:t>
            </a:r>
            <a:endParaRPr lang="en-US" sz="1000" noProof="1"/>
          </a:p>
          <a:p>
            <a:pPr>
              <a:lnSpc>
                <a:spcPct val="135000"/>
              </a:lnSpc>
              <a:spcBef>
                <a:spcPts val="600"/>
              </a:spcBef>
            </a:pPr>
            <a:r>
              <a:rPr lang="en-US" sz="1000" noProof="1">
                <a:solidFill>
                  <a:srgbClr val="5A5A5A"/>
                </a:solidFill>
                <a:latin typeface="Liter"/>
                <a:ea typeface="MiSans"/>
              </a:rPr>
              <a:t>Virtual agents front the IVR with natural-language intent capture; agent-assist transcribes calls live and suggests answers and next actions; post-call AI generates summaries that cut wrap-up time. All three exist in the Webex CC ecosystem and through partners on-prem — evaluate them on measured AHT and containment, not demos.</a:t>
            </a:r>
            <a:endParaRPr lang="en-US" sz="1000" noProof="1"/>
          </a:p>
        </p:txBody>
      </p:sp>
      <p:sp>
        <p:nvSpPr>
          <p:cNvPr id="1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Contact Center digital channels documentation and Cisco ECE documentation, cisco.com / help.webex.com, early 2026</a:t>
            </a:r>
            <a:endParaRPr lang="en-US" sz="850" noProof="1"/>
          </a:p>
        </p:txBody>
      </p:sp>
      <p:sp>
        <p:nvSpPr>
          <p:cNvPr id="13" name="cml-footer-bar"/>
          <p:cNvSpPr/>
          <p:nvPr/>
        </p:nvSpPr>
        <p:spPr>
          <a:xfrm>
            <a:off x="0" y="6670000"/>
            <a:ext cx="12192000" cy="640000"/>
          </a:xfrm>
          <a:prstGeom prst="rect">
            <a:avLst/>
          </a:prstGeom>
          <a:solidFill>
            <a:srgbClr val="12161C"/>
          </a:solidFill>
          <a:ln>
            <a:noFill/>
          </a:ln>
        </p:spPr>
        <p:txBody>
          <a:bodyPr/>
          <a:lstStyle/>
          <a:p/>
        </p:txBody>
      </p:sp>
      <p:sp>
        <p:nvSpPr>
          <p:cNvPr id="14" name="cml-footer-rule"/>
          <p:cNvSpPr/>
          <p:nvPr/>
        </p:nvSpPr>
        <p:spPr>
          <a:xfrm>
            <a:off x="0" y="6670000"/>
            <a:ext cx="12192000" cy="19050"/>
          </a:xfrm>
          <a:prstGeom prst="rect">
            <a:avLst/>
          </a:prstGeom>
          <a:solidFill>
            <a:srgbClr val="2DD4BF"/>
          </a:solidFill>
          <a:ln>
            <a:noFill/>
          </a:ln>
        </p:spPr>
        <p:txBody>
          <a:bodyPr/>
          <a:lstStyle/>
          <a:p/>
        </p:txBody>
      </p:sp>
      <p:sp>
        <p:nvSpPr>
          <p:cNvPr id="1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Webex Contact Center moves the same six blocks into a browser flow builder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Entry point, flow, queue, team — the vocabulary changes, the queueing mathematics does not.</a:t>
            </a:r>
            <a:endParaRPr lang="en-US" sz="1100" noProof="1"/>
          </a:p>
        </p:txBody>
      </p:sp>
      <p:sp>
        <p:nvSpPr>
          <p:cNvPr id="4" name="flow-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configuration chain, left to right</a:t>
            </a:r>
            <a:endParaRPr lang="en-US" sz="1100" noProof="1"/>
          </a:p>
        </p:txBody>
      </p:sp>
      <p:sp>
        <p:nvSpPr>
          <p:cNvPr id="5" name="f1"/>
          <p:cNvSpPr/>
          <p:nvPr/>
        </p:nvSpPr>
        <p:spPr>
          <a:xfrm>
            <a:off x="609600" y="1473200"/>
            <a:ext cx="1879600" cy="812800"/>
          </a:xfrm>
          <a:prstGeom prst="rect">
            <a:avLst/>
          </a:prstGeom>
          <a:solidFill>
            <a:srgbClr val="F7F5F0"/>
          </a:solidFill>
          <a:ln w="11430">
            <a:solidFill>
              <a:srgbClr val="333333"/>
            </a:solidFill>
          </a:ln>
        </p:spPr>
      </p:sp>
      <p:sp>
        <p:nvSpPr>
          <p:cNvPr id="6" name="f1t"/>
          <p:cNvSpPr txBox="1"/>
          <p:nvPr/>
        </p:nvSpPr>
        <p:spPr>
          <a:xfrm>
            <a:off x="6858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Entry point</a:t>
            </a:r>
            <a:endParaRPr lang="en-US" sz="950" noProof="1"/>
          </a:p>
          <a:p>
            <a:pPr>
              <a:lnSpc>
                <a:spcPct val="125000"/>
              </a:lnSpc>
            </a:pPr>
            <a:r>
              <a:rPr lang="en-US" sz="800" noProof="1">
                <a:solidFill>
                  <a:srgbClr val="000000"/>
                </a:solidFill>
                <a:latin typeface="Liter"/>
                <a:ea typeface="MiSans"/>
              </a:rPr>
              <a:t>DNIS number mapped to a flow</a:t>
            </a:r>
            <a:endParaRPr lang="en-US" sz="950" noProof="1"/>
          </a:p>
        </p:txBody>
      </p:sp>
      <p:sp>
        <p:nvSpPr>
          <p:cNvPr id="7" name="f2"/>
          <p:cNvSpPr/>
          <p:nvPr/>
        </p:nvSpPr>
        <p:spPr>
          <a:xfrm>
            <a:off x="2743200" y="1473200"/>
            <a:ext cx="1879600" cy="812800"/>
          </a:xfrm>
          <a:prstGeom prst="rect">
            <a:avLst/>
          </a:prstGeom>
          <a:solidFill>
            <a:srgbClr val="FBEEDD"/>
          </a:solidFill>
          <a:ln w="13970">
            <a:solidFill>
              <a:srgbClr val="E69138"/>
            </a:solidFill>
          </a:ln>
        </p:spPr>
      </p:sp>
      <p:sp>
        <p:nvSpPr>
          <p:cNvPr id="8" name="f2t"/>
          <p:cNvSpPr txBox="1"/>
          <p:nvPr/>
        </p:nvSpPr>
        <p:spPr>
          <a:xfrm>
            <a:off x="28194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Flow</a:t>
            </a:r>
            <a:endParaRPr lang="en-US" sz="950" noProof="1"/>
          </a:p>
          <a:p>
            <a:pPr>
              <a:lnSpc>
                <a:spcPct val="125000"/>
              </a:lnSpc>
            </a:pPr>
            <a:r>
              <a:rPr lang="en-US" sz="800" noProof="1">
                <a:solidFill>
                  <a:srgbClr val="000000"/>
                </a:solidFill>
                <a:latin typeface="Liter"/>
                <a:ea typeface="MiSans"/>
              </a:rPr>
              <a:t>drag-and-drop IVR: play, menu, collect, HTTP dip</a:t>
            </a:r>
            <a:endParaRPr lang="en-US" sz="950" noProof="1"/>
          </a:p>
        </p:txBody>
      </p:sp>
      <p:sp>
        <p:nvSpPr>
          <p:cNvPr id="9" name="f3"/>
          <p:cNvSpPr/>
          <p:nvPr/>
        </p:nvSpPr>
        <p:spPr>
          <a:xfrm>
            <a:off x="4876800" y="1473200"/>
            <a:ext cx="1879600" cy="812800"/>
          </a:xfrm>
          <a:prstGeom prst="rect">
            <a:avLst/>
          </a:prstGeom>
          <a:solidFill>
            <a:srgbClr val="F7F5F0"/>
          </a:solidFill>
          <a:ln w="11430">
            <a:solidFill>
              <a:srgbClr val="333333"/>
            </a:solidFill>
          </a:ln>
        </p:spPr>
      </p:sp>
      <p:sp>
        <p:nvSpPr>
          <p:cNvPr id="10" name="f3t"/>
          <p:cNvSpPr txBox="1"/>
          <p:nvPr/>
        </p:nvSpPr>
        <p:spPr>
          <a:xfrm>
            <a:off x="4953000" y="1549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Queue</a:t>
            </a:r>
            <a:endParaRPr lang="en-US" sz="950" noProof="1"/>
          </a:p>
          <a:p>
            <a:pPr>
              <a:lnSpc>
                <a:spcPct val="125000"/>
              </a:lnSpc>
            </a:pPr>
            <a:r>
              <a:rPr lang="en-US" sz="800" noProof="1">
                <a:solidFill>
                  <a:srgbClr val="000000"/>
                </a:solidFill>
                <a:latin typeface="Liter"/>
                <a:ea typeface="MiSans"/>
              </a:rPr>
              <a:t>routing profile, distribution, overflow</a:t>
            </a:r>
            <a:endParaRPr lang="en-US" sz="950" noProof="1"/>
          </a:p>
        </p:txBody>
      </p:sp>
      <p:sp>
        <p:nvSpPr>
          <p:cNvPr id="11" name="f4"/>
          <p:cNvSpPr/>
          <p:nvPr/>
        </p:nvSpPr>
        <p:spPr>
          <a:xfrm>
            <a:off x="609600" y="2997200"/>
            <a:ext cx="1879600" cy="812800"/>
          </a:xfrm>
          <a:prstGeom prst="rect">
            <a:avLst/>
          </a:prstGeom>
          <a:solidFill>
            <a:srgbClr val="F7F5F0"/>
          </a:solidFill>
          <a:ln w="11430">
            <a:solidFill>
              <a:srgbClr val="333333"/>
            </a:solidFill>
          </a:ln>
        </p:spPr>
      </p:sp>
      <p:sp>
        <p:nvSpPr>
          <p:cNvPr id="12" name="f4t"/>
          <p:cNvSpPr txBox="1"/>
          <p:nvPr/>
        </p:nvSpPr>
        <p:spPr>
          <a:xfrm>
            <a:off x="6858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Team</a:t>
            </a:r>
            <a:endParaRPr lang="en-US" sz="950" noProof="1"/>
          </a:p>
          <a:p>
            <a:pPr>
              <a:lnSpc>
                <a:spcPct val="125000"/>
              </a:lnSpc>
            </a:pPr>
            <a:r>
              <a:rPr lang="en-US" sz="800" noProof="1">
                <a:solidFill>
                  <a:srgbClr val="000000"/>
                </a:solidFill>
                <a:latin typeface="Liter"/>
                <a:ea typeface="MiSans"/>
              </a:rPr>
              <a:t>agents grouped under a site</a:t>
            </a:r>
            <a:endParaRPr lang="en-US" sz="950" noProof="1"/>
          </a:p>
        </p:txBody>
      </p:sp>
      <p:sp>
        <p:nvSpPr>
          <p:cNvPr id="13" name="f5"/>
          <p:cNvSpPr/>
          <p:nvPr/>
        </p:nvSpPr>
        <p:spPr>
          <a:xfrm>
            <a:off x="2743200" y="2997200"/>
            <a:ext cx="1879600" cy="812800"/>
          </a:xfrm>
          <a:prstGeom prst="rect">
            <a:avLst/>
          </a:prstGeom>
          <a:solidFill>
            <a:srgbClr val="F7F5F0"/>
          </a:solidFill>
          <a:ln w="11430">
            <a:solidFill>
              <a:srgbClr val="333333"/>
            </a:solidFill>
          </a:ln>
        </p:spPr>
      </p:sp>
      <p:sp>
        <p:nvSpPr>
          <p:cNvPr id="14" name="f5t"/>
          <p:cNvSpPr txBox="1"/>
          <p:nvPr/>
        </p:nvSpPr>
        <p:spPr>
          <a:xfrm>
            <a:off x="28194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Agent desktop</a:t>
            </a:r>
            <a:endParaRPr lang="en-US" sz="950" noProof="1"/>
          </a:p>
          <a:p>
            <a:pPr>
              <a:lnSpc>
                <a:spcPct val="125000"/>
              </a:lnSpc>
            </a:pPr>
            <a:r>
              <a:rPr lang="en-US" sz="800" noProof="1">
                <a:solidFill>
                  <a:srgbClr val="000000"/>
                </a:solidFill>
                <a:latin typeface="Liter"/>
                <a:ea typeface="MiSans"/>
              </a:rPr>
              <a:t>Webex Agent Desktop, layout per team</a:t>
            </a:r>
            <a:endParaRPr lang="en-US" sz="950" noProof="1"/>
          </a:p>
        </p:txBody>
      </p:sp>
      <p:sp>
        <p:nvSpPr>
          <p:cNvPr id="15" name="f6"/>
          <p:cNvSpPr/>
          <p:nvPr/>
        </p:nvSpPr>
        <p:spPr>
          <a:xfrm>
            <a:off x="4876800" y="2997200"/>
            <a:ext cx="1879600" cy="812800"/>
          </a:xfrm>
          <a:prstGeom prst="rect">
            <a:avLst/>
          </a:prstGeom>
          <a:solidFill>
            <a:srgbClr val="D2C7EB"/>
          </a:solidFill>
          <a:ln w="11430">
            <a:solidFill>
              <a:srgbClr val="333333"/>
            </a:solidFill>
          </a:ln>
        </p:spPr>
      </p:sp>
      <p:sp>
        <p:nvSpPr>
          <p:cNvPr id="16" name="f6t"/>
          <p:cNvSpPr txBox="1"/>
          <p:nvPr/>
        </p:nvSpPr>
        <p:spPr>
          <a:xfrm>
            <a:off x="4953000" y="3073400"/>
            <a:ext cx="1727200" cy="660400"/>
          </a:xfrm>
          <a:prstGeom prst="rect">
            <a:avLst/>
          </a:prstGeom>
          <a:noFill/>
          <a:ln>
            <a:noFill/>
          </a:ln>
        </p:spPr>
        <p:txBody>
          <a:bodyPr lIns="0" rIns="0" tIns="0" bIns="0" wrap="square" rtlCol="0"/>
          <a:lstStyle/>
          <a:p>
            <a:pPr>
              <a:lnSpc>
                <a:spcPct val="125000"/>
              </a:lnSpc>
            </a:pPr>
            <a:r>
              <a:rPr lang="en-US" sz="950" noProof="1" b="1">
                <a:solidFill>
                  <a:srgbClr val="333333"/>
                </a:solidFill>
                <a:latin typeface="Liter"/>
                <a:ea typeface="MiSans"/>
              </a:rPr>
              <a:t>Analyzer</a:t>
            </a:r>
            <a:endParaRPr lang="en-US" sz="950" noProof="1"/>
          </a:p>
          <a:p>
            <a:pPr>
              <a:lnSpc>
                <a:spcPct val="125000"/>
              </a:lnSpc>
            </a:pPr>
            <a:r>
              <a:rPr lang="en-US" sz="800" noProof="1">
                <a:solidFill>
                  <a:srgbClr val="000000"/>
                </a:solidFill>
                <a:latin typeface="Liter"/>
                <a:ea typeface="MiSans"/>
              </a:rPr>
              <a:t>reports and dashboards close the loop</a:t>
            </a:r>
            <a:endParaRPr lang="en-US" sz="950" noProof="1"/>
          </a:p>
        </p:txBody>
      </p:sp>
      <p:sp>
        <p:nvSpPr>
          <p:cNvPr id="17" name="fa1"/>
          <p:cNvSpPr/>
          <p:nvPr>
            <p:extLst>
              <p:ext uri="{F5677B7D-0D2A-4D9B-9A5C-6D8D7D0E5A5D}">
                <pptd:line encoding="base64url">eyJ2aWV3Qm94IjpbMjAsMV0sInBvaW50cyI6IjAsMCAyMCwwIn0</pptd:line>
              </p:ext>
            </p:extLst>
          </p:nvPr>
        </p:nvSpPr>
        <p:spPr>
          <a:xfrm>
            <a:off x="2489200" y="1879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8" name="fa2"/>
          <p:cNvSpPr/>
          <p:nvPr>
            <p:extLst>
              <p:ext uri="{F5677B7D-0D2A-4D9B-9A5C-6D8D7D0E5A5D}">
                <pptd:line encoding="base64url">eyJ2aWV3Qm94IjpbMjAsMV0sInBvaW50cyI6IjAsMCAyMCwwIn0</pptd:line>
              </p:ext>
            </p:extLst>
          </p:nvPr>
        </p:nvSpPr>
        <p:spPr>
          <a:xfrm>
            <a:off x="4622800" y="18796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9" name="fa3"/>
          <p:cNvSpPr/>
          <p:nvPr>
            <p:extLst>
              <p:ext uri="{F5677B7D-0D2A-4D9B-9A5C-6D8D7D0E5A5D}">
                <pptd:line encoding="base64url">eyJ2aWV3Qm94IjpbMSw1Nl0sInBvaW50cyI6IjAsMCAwLDU2In0</pptd:line>
              </p:ext>
            </p:extLst>
          </p:nvPr>
        </p:nvSpPr>
        <p:spPr>
          <a:xfrm>
            <a:off x="5816600" y="2286000"/>
            <a:ext cx="12700" cy="711200"/>
          </a:xfrm>
          <a:custGeom>
            <a:avLst/>
            <a:gdLst/>
            <a:ahLst/>
            <a:cxnLst/>
            <a:rect l="l" t="t" r="r" b="b"/>
            <a:pathLst>
              <a:path w="1" h="56">
                <a:moveTo>
                  <a:pt x="0" y="0"/>
                </a:moveTo>
                <a:lnTo>
                  <a:pt x="0" y="56"/>
                </a:lnTo>
              </a:path>
            </a:pathLst>
          </a:custGeom>
          <a:noFill/>
          <a:ln w="15240" cap="rnd">
            <a:solidFill>
              <a:srgbClr val="E69138"/>
            </a:solidFill>
            <a:round/>
            <a:tailEnd type="arrow"/>
          </a:ln>
        </p:spPr>
      </p:sp>
      <p:sp>
        <p:nvSpPr>
          <p:cNvPr id="20" name="fa4"/>
          <p:cNvSpPr/>
          <p:nvPr>
            <p:extLst>
              <p:ext uri="{F5677B7D-0D2A-4D9B-9A5C-6D8D7D0E5A5D}">
                <pptd:line encoding="base64url">eyJ2aWV3Qm94IjpbMjAsMV0sInBvaW50cyI6IjIwLDAgMCwwIn0</pptd:line>
              </p:ext>
            </p:extLst>
          </p:nvPr>
        </p:nvSpPr>
        <p:spPr>
          <a:xfrm>
            <a:off x="4622800" y="3403600"/>
            <a:ext cx="254000" cy="12700"/>
          </a:xfrm>
          <a:custGeom>
            <a:avLst/>
            <a:gdLst/>
            <a:ahLst/>
            <a:cxnLst/>
            <a:rect l="l" t="t" r="r" b="b"/>
            <a:pathLst>
              <a:path w="20" h="1">
                <a:moveTo>
                  <a:pt x="20" y="0"/>
                </a:moveTo>
                <a:lnTo>
                  <a:pt x="0" y="0"/>
                </a:lnTo>
              </a:path>
            </a:pathLst>
          </a:custGeom>
          <a:noFill/>
          <a:ln w="15240" cap="rnd">
            <a:solidFill>
              <a:srgbClr val="E69138"/>
            </a:solidFill>
            <a:round/>
            <a:tailEnd type="arrow"/>
          </a:ln>
        </p:spPr>
      </p:sp>
      <p:sp>
        <p:nvSpPr>
          <p:cNvPr id="21" name="fa5"/>
          <p:cNvSpPr/>
          <p:nvPr>
            <p:extLst>
              <p:ext uri="{F5677B7D-0D2A-4D9B-9A5C-6D8D7D0E5A5D}">
                <pptd:line encoding="base64url">eyJ2aWV3Qm94IjpbMjAsMV0sInBvaW50cyI6IjIwLDAgMCwwIn0</pptd:line>
              </p:ext>
            </p:extLst>
          </p:nvPr>
        </p:nvSpPr>
        <p:spPr>
          <a:xfrm>
            <a:off x="2489200" y="3403600"/>
            <a:ext cx="254000" cy="12700"/>
          </a:xfrm>
          <a:custGeom>
            <a:avLst/>
            <a:gdLst/>
            <a:ahLst/>
            <a:cxnLst/>
            <a:rect l="l" t="t" r="r" b="b"/>
            <a:pathLst>
              <a:path w="20" h="1">
                <a:moveTo>
                  <a:pt x="20" y="0"/>
                </a:moveTo>
                <a:lnTo>
                  <a:pt x="0" y="0"/>
                </a:lnTo>
              </a:path>
            </a:pathLst>
          </a:custGeom>
          <a:noFill/>
          <a:ln w="15240" cap="rnd">
            <a:solidFill>
              <a:srgbClr val="E69138"/>
            </a:solidFill>
            <a:round/>
            <a:tailEnd type="arrow"/>
          </a:ln>
        </p:spPr>
      </p:sp>
      <p:sp>
        <p:nvSpPr>
          <p:cNvPr id="22" name="fa6"/>
          <p:cNvSpPr/>
          <p:nvPr>
            <p:extLst>
              <p:ext uri="{F5677B7D-0D2A-4D9B-9A5C-6D8D7D0E5A5D}">
                <pptd:line encoding="base64url">eyJ2aWV3Qm94IjpbMzM2LDQwXSwicG9pbnRzIjoiMCwwIDMzNiw0MCJ9</pptd:line>
              </p:ext>
            </p:extLst>
          </p:nvPr>
        </p:nvSpPr>
        <p:spPr>
          <a:xfrm>
            <a:off x="1549400" y="3810000"/>
            <a:ext cx="4267200" cy="508000"/>
          </a:xfrm>
          <a:custGeom>
            <a:avLst/>
            <a:gdLst/>
            <a:ahLst/>
            <a:cxnLst/>
            <a:rect l="l" t="t" r="r" b="b"/>
            <a:pathLst>
              <a:path w="336" h="40">
                <a:moveTo>
                  <a:pt x="0" y="0"/>
                </a:moveTo>
                <a:lnTo>
                  <a:pt x="336" y="40"/>
                </a:lnTo>
              </a:path>
            </a:pathLst>
          </a:custGeom>
          <a:noFill/>
          <a:ln w="12700" cap="rnd">
            <a:solidFill>
              <a:srgbClr val="A9AAAC"/>
            </a:solidFill>
            <a:prstDash val="dash"/>
            <a:round/>
            <a:tailEnd type="arrow"/>
          </a:ln>
        </p:spPr>
      </p:sp>
      <p:sp>
        <p:nvSpPr>
          <p:cNvPr id="23" name="flow-note"/>
          <p:cNvSpPr txBox="1"/>
          <p:nvPr/>
        </p:nvSpPr>
        <p:spPr>
          <a:xfrm>
            <a:off x="609600" y="4521200"/>
            <a:ext cx="5969000" cy="1371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flow builder is the CCX editor's successor:</a:t>
            </a:r>
            <a:r>
              <a:rPr lang="en-US" sz="1250" noProof="1">
                <a:solidFill>
                  <a:srgbClr val="000000"/>
                </a:solidFill>
                <a:latin typeface="Liter"/>
                <a:ea typeface="MiSans"/>
              </a:rPr>
              <a:t> the same blocks from Section 04 — prompts, menus, data dips, queue and transfer — exist as nodes on a canvas, versioned and published like software, with a validation pass before a flow can go live.</a:t>
            </a:r>
            <a:endParaRPr lang="en-US" sz="1250" noProof="1"/>
          </a:p>
          <a:p>
            <a:pPr>
              <a:lnSpc>
                <a:spcPct val="145000"/>
              </a:lnSpc>
              <a:spcBef>
                <a:spcPts val="800"/>
              </a:spcBef>
            </a:pPr>
            <a:r>
              <a:rPr lang="en-US" sz="1250" noProof="1">
                <a:solidFill>
                  <a:srgbClr val="000000"/>
                </a:solidFill>
                <a:latin typeface="Liter"/>
                <a:ea typeface="MiSans"/>
              </a:rPr>
              <a:t>Digital channels (chat, email, social) enter the same queues through multimedia profiles — one routing brain for every channel, as on the omnichannel page.</a:t>
            </a:r>
            <a:endParaRPr lang="en-US" sz="1250" noProof="1"/>
          </a:p>
        </p:txBody>
      </p:sp>
      <p:sp>
        <p:nvSpPr>
          <p:cNvPr id="24" name="cmp-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configure beyond the chain</a:t>
            </a:r>
            <a:endParaRPr lang="en-US" sz="1100" noProof="1"/>
          </a:p>
        </p:txBody>
      </p:sp>
      <p:graphicFrame>
        <p:nvGraphicFramePr>
          <p:cNvPr id="25" name="cmp-table"/>
          <p:cNvGraphicFramePr>
            <a:graphicFrameLocks noGrp="1"/>
          </p:cNvGraphicFramePr>
          <p:nvPr/>
        </p:nvGraphicFramePr>
        <p:xfrm>
          <a:off x="7086600" y="1447800"/>
          <a:ext cx="4495800" cy="3048000"/>
        </p:xfrm>
        <a:graphic>
          <a:graphicData uri="http://schemas.openxmlformats.org/drawingml/2006/table">
            <a:tbl>
              <a:tblPr/>
              <a:tblGrid>
                <a:gridCol w="1618488"/>
                <a:gridCol w="2877312"/>
              </a:tblGrid>
              <a:tr h="304800">
                <a:tc>
                  <a:txBody>
                    <a:bodyPr wrap="square" rtlCol="0" anchor="ctr"/>
                    <a:lstStyle/>
                    <a:p>
                      <a:pPr algn="l"/>
                      <a:r>
                        <a:rPr lang="en-US" sz="1050" noProof="1" b="1">
                          <a:solidFill>
                            <a:srgbClr val="000000"/>
                          </a:solidFill>
                          <a:latin typeface="Liter"/>
                          <a:ea typeface="MiSans"/>
                        </a:rPr>
                        <a:t>Component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Configuration</a:t>
                      </a:r>
                    </a:p>
                  </a:txBody>
                  <a:tcPr marL="91440" marR="91440" marT="45720" marB="45720" anchor="ctr">
                    <a:lnL>
                      <a:noFill/>
                    </a:lnL>
                    <a:lnR>
                      <a:noFill/>
                    </a:lnR>
                    <a:lnT>
                      <a:noFill/>
                    </a:lnT>
                    <a:lnB w="15240">
                      <a:solidFill>
                        <a:srgbClr val="000000"/>
                      </a:solidFill>
                    </a:lnB>
                    <a:noFill/>
                  </a:tcPr>
                </a:tc>
              </a:tr>
              <a:tr h="548640">
                <a:tc>
                  <a:txBody>
                    <a:bodyPr wrap="square" rtlCol="0" anchor="ctr"/>
                    <a:lstStyle/>
                    <a:p>
                      <a:pPr algn="l"/>
                      <a:r>
                        <a:rPr lang="en-US" sz="1050" noProof="1">
                          <a:solidFill>
                            <a:srgbClr val="000000"/>
                          </a:solidFill>
                          <a:latin typeface="Liter"/>
                          <a:ea typeface="MiSans"/>
                        </a:rPr>
                        <a:t>Analyzer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stock and custom reports, dashboards, scheduled exports — the CUIC successor</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WFO / QM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recording, scorecards and forecasting via Calabrio or Webex WFO integrations</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Virtual agent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natural-language front end to the flow; escalates to a queue with full context</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Agent assist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live transcription, suggested responses, automatic wrap-up summaries</a:t>
                      </a:r>
                    </a:p>
                  </a:txBody>
                  <a:tcPr marL="91440" marR="91440" marT="45720" marB="45720" anchor="ctr">
                    <a:lnL>
                      <a:noFill/>
                    </a:lnL>
                    <a:lnR>
                      <a:noFill/>
                    </a:lnR>
                    <a:lnT>
                      <a:noFill/>
                    </a:lnT>
                    <a:lnB w="7620">
                      <a:solidFill>
                        <a:srgbClr val="D9D9D9"/>
                      </a:solidFill>
                    </a:lnB>
                    <a:noFill/>
                  </a:tcPr>
                </a:tc>
              </a:tr>
              <a:tr h="548640">
                <a:tc>
                  <a:txBody>
                    <a:bodyPr wrap="square" rtlCol="0" anchor="ctr"/>
                    <a:lstStyle/>
                    <a:p>
                      <a:pPr algn="l"/>
                      <a:r>
                        <a:rPr lang="en-US" sz="1050" noProof="1">
                          <a:solidFill>
                            <a:srgbClr val="000000"/>
                          </a:solidFill>
                          <a:latin typeface="Liter"/>
                          <a:ea typeface="MiSans"/>
                        </a:rPr>
                        <a:t>APIs / webhooks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provisioning APIs and agent-state events — the same automation story as Section 07</a:t>
                      </a:r>
                    </a:p>
                  </a:txBody>
                  <a:tcPr marL="91440" marR="91440" marT="45720" marB="45720" anchor="ctr">
                    <a:lnL>
                      <a:noFill/>
                    </a:lnL>
                    <a:lnR>
                      <a:noFill/>
                    </a:lnR>
                    <a:lnT>
                      <a:noFill/>
                    </a:lnT>
                    <a:lnB w="7620">
                      <a:solidFill>
                        <a:srgbClr val="D9D9D9"/>
                      </a:solidFill>
                    </a:lnB>
                    <a:noFill/>
                  </a:tcPr>
                </a:tc>
              </a:tr>
            </a:tbl>
          </a:graphicData>
        </a:graphic>
      </p:graphicFrame>
      <p:sp>
        <p:nvSpPr>
          <p:cNvPr id="26" name="math-box"/>
          <p:cNvSpPr/>
          <p:nvPr/>
        </p:nvSpPr>
        <p:spPr>
          <a:xfrm>
            <a:off x="7086600" y="4699000"/>
            <a:ext cx="4495800" cy="939800"/>
          </a:xfrm>
          <a:prstGeom prst="roundRect">
            <a:avLst>
              <a:gd name="adj" fmla="val 12000"/>
            </a:avLst>
          </a:prstGeom>
          <a:solidFill>
            <a:srgbClr val="F3F3F3"/>
          </a:solidFill>
          <a:ln>
            <a:noFill/>
          </a:ln>
        </p:spPr>
      </p:sp>
      <p:sp>
        <p:nvSpPr>
          <p:cNvPr id="27" name="math-box-t"/>
          <p:cNvSpPr txBox="1"/>
          <p:nvPr/>
        </p:nvSpPr>
        <p:spPr>
          <a:xfrm>
            <a:off x="7239000" y="4826000"/>
            <a:ext cx="4191000" cy="7112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math did not move:</a:t>
            </a:r>
            <a:r>
              <a:rPr lang="en-US" sz="1000" noProof="1">
                <a:solidFill>
                  <a:srgbClr val="5A5A5A"/>
                </a:solidFill>
                <a:latin typeface="Liter"/>
                <a:ea typeface="MiSans"/>
              </a:rPr>
              <a:t> staffing is still Erlang C against offered load and AHT (Section 07). A cloud console changes who operates the platform, not how many agents Tuesday needs.</a:t>
            </a:r>
            <a:endParaRPr lang="en-US" sz="1000" noProof="1"/>
          </a:p>
        </p:txBody>
      </p:sp>
      <p:sp>
        <p:nvSpPr>
          <p:cNvPr id="28" name="cmp-note"/>
          <p:cNvSpPr txBox="1"/>
          <p:nvPr/>
        </p:nvSpPr>
        <p:spPr>
          <a:xfrm>
            <a:off x="7086600" y="5740400"/>
            <a:ext cx="4495800" cy="2540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PSTN for entry points rides Webex Calling trunks (Section 05).</a:t>
            </a:r>
            <a:endParaRPr lang="en-US" sz="1000" noProof="1"/>
          </a:p>
        </p:txBody>
      </p:sp>
      <p:sp>
        <p:nvSpPr>
          <p:cNvPr id="2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Contact Center setup and flow-builder documentation, help.webex.com</a:t>
            </a:r>
            <a:endParaRPr lang="en-US" sz="850" noProof="1"/>
          </a:p>
        </p:txBody>
      </p:sp>
      <p:sp>
        <p:nvSpPr>
          <p:cNvPr id="31" name="cml-footer-bar"/>
          <p:cNvSpPr/>
          <p:nvPr/>
        </p:nvSpPr>
        <p:spPr>
          <a:xfrm>
            <a:off x="0" y="6670000"/>
            <a:ext cx="12192000" cy="640000"/>
          </a:xfrm>
          <a:prstGeom prst="rect">
            <a:avLst/>
          </a:prstGeom>
          <a:solidFill>
            <a:srgbClr val="12161C"/>
          </a:solidFill>
          <a:ln>
            <a:noFill/>
          </a:ln>
        </p:spPr>
        <p:txBody>
          <a:bodyPr/>
          <a:lstStyle/>
          <a:p/>
        </p:txBody>
      </p:sp>
      <p:sp>
        <p:nvSpPr>
          <p:cNvPr id="32" name="cml-footer-rule"/>
          <p:cNvSpPr/>
          <p:nvPr/>
        </p:nvSpPr>
        <p:spPr>
          <a:xfrm>
            <a:off x="0" y="6670000"/>
            <a:ext cx="12192000" cy="19050"/>
          </a:xfrm>
          <a:prstGeom prst="rect">
            <a:avLst/>
          </a:prstGeom>
          <a:solidFill>
            <a:srgbClr val="2DD4BF"/>
          </a:solidFill>
          <a:ln>
            <a:noFill/>
          </a:ln>
        </p:spPr>
        <p:txBody>
          <a:bodyPr/>
          <a:lstStyle/>
          <a:p/>
        </p:txBody>
      </p:sp>
      <p:sp>
        <p:nvSpPr>
          <p:cNvPr id="3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05</a:t>
            </a:r>
            <a:endParaRPr lang="en-US" sz="4400" noProof="1"/>
          </a:p>
        </p:txBody>
      </p:sp>
      <p:sp>
        <p:nvSpPr>
          <p:cNvPr id="3" name="ch-title"/>
          <p:cNvSpPr txBox="1"/>
          <p:nvPr/>
        </p:nvSpPr>
        <p:spPr>
          <a:xfrm>
            <a:off x="609600" y="2794000"/>
            <a:ext cx="10668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Cloud Migration</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Moving users, dial plan and PSTN access from on-prem CUCM and contact center to Webex</a:t>
            </a:r>
            <a:endParaRPr lang="en-US" sz="1300" noProof="1"/>
          </a:p>
          <a:p>
            <a:pPr>
              <a:lnSpc>
                <a:spcPct val="150000"/>
              </a:lnSpc>
            </a:pPr>
            <a:r>
              <a:rPr lang="en-US" sz="1300" noProof="1">
                <a:solidFill>
                  <a:srgbClr val="F2DADA"/>
                </a:solidFill>
                <a:latin typeface="Liter"/>
                <a:ea typeface="MiSans"/>
              </a:rPr>
              <a:t>in gated phases — with a rollback position at every gate.</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05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8.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Migration is phased: assess, pilot, port numbers in waves, then decommission</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Users and directory move first, PSTN follows site by site, and the old cluster stays warm until the last wave proves out.</a:t>
            </a:r>
            <a:endParaRPr lang="en-US" sz="1100" noProof="1"/>
          </a:p>
        </p:txBody>
      </p:sp>
      <p:sp>
        <p:nvSpPr>
          <p:cNvPr id="4" name="ph-h"/>
          <p:cNvSpPr txBox="1"/>
          <p:nvPr/>
        </p:nvSpPr>
        <p:spPr>
          <a:xfrm>
            <a:off x="609600" y="1143000"/>
            <a:ext cx="609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Five phases, each with a go/no-go gate</a:t>
            </a:r>
            <a:endParaRPr lang="en-US" sz="1100" noProof="1"/>
          </a:p>
        </p:txBody>
      </p:sp>
      <p:sp>
        <p:nvSpPr>
          <p:cNvPr id="5" name="p0"/>
          <p:cNvSpPr/>
          <p:nvPr/>
        </p:nvSpPr>
        <p:spPr>
          <a:xfrm>
            <a:off x="609600" y="1473200"/>
            <a:ext cx="2032000" cy="1168400"/>
          </a:xfrm>
          <a:prstGeom prst="rect">
            <a:avLst/>
          </a:prstGeom>
          <a:solidFill>
            <a:srgbClr val="FFFFFF"/>
          </a:solidFill>
          <a:ln w="15240">
            <a:solidFill>
              <a:srgbClr val="000000"/>
            </a:solidFill>
          </a:ln>
        </p:spPr>
      </p:sp>
      <p:sp>
        <p:nvSpPr>
          <p:cNvPr id="6" name="p0t"/>
          <p:cNvSpPr txBox="1"/>
          <p:nvPr/>
        </p:nvSpPr>
        <p:spPr>
          <a:xfrm>
            <a:off x="7112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0 · Assess</a:t>
            </a:r>
            <a:endParaRPr lang="en-US" sz="900" noProof="1"/>
          </a:p>
          <a:p>
            <a:pPr>
              <a:lnSpc>
                <a:spcPct val="130000"/>
              </a:lnSpc>
              <a:spcBef>
                <a:spcPts val="400"/>
              </a:spcBef>
            </a:pPr>
            <a:r>
              <a:rPr lang="en-US" sz="850" noProof="1">
                <a:solidFill>
                  <a:srgbClr val="000000"/>
                </a:solidFill>
                <a:latin typeface="Liter"/>
                <a:ea typeface="MiSans"/>
              </a:rPr>
              <a:t>inventory devices, DNs, trunks, licenses; find analog/fax, legacy SCCP, features in use</a:t>
            </a:r>
            <a:endParaRPr lang="en-US" sz="900" noProof="1"/>
          </a:p>
        </p:txBody>
      </p:sp>
      <p:sp>
        <p:nvSpPr>
          <p:cNvPr id="7" name="pa1"/>
          <p:cNvSpPr/>
          <p:nvPr>
            <p:extLst>
              <p:ext uri="{F5677B7D-0D2A-4D9B-9A5C-6D8D7D0E5A5D}">
                <pptd:line encoding="base64url">eyJ2aWV3Qm94IjpbMTgsMV0sInBvaW50cyI6IjAsMCAxOCwwIn0</pptd:line>
              </p:ext>
            </p:extLst>
          </p:nvPr>
        </p:nvSpPr>
        <p:spPr>
          <a:xfrm>
            <a:off x="26416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8" name="p1"/>
          <p:cNvSpPr/>
          <p:nvPr/>
        </p:nvSpPr>
        <p:spPr>
          <a:xfrm>
            <a:off x="2870200" y="1473200"/>
            <a:ext cx="2032000" cy="1168400"/>
          </a:xfrm>
          <a:prstGeom prst="rect">
            <a:avLst/>
          </a:prstGeom>
          <a:solidFill>
            <a:srgbClr val="F7F5F0"/>
          </a:solidFill>
          <a:ln w="11430">
            <a:solidFill>
              <a:srgbClr val="333333"/>
            </a:solidFill>
          </a:ln>
        </p:spPr>
      </p:sp>
      <p:sp>
        <p:nvSpPr>
          <p:cNvPr id="9" name="p1t"/>
          <p:cNvSpPr txBox="1"/>
          <p:nvPr/>
        </p:nvSpPr>
        <p:spPr>
          <a:xfrm>
            <a:off x="29718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1 · Pilot</a:t>
            </a:r>
            <a:endParaRPr lang="en-US" sz="900" noProof="1"/>
          </a:p>
          <a:p>
            <a:pPr>
              <a:lnSpc>
                <a:spcPct val="130000"/>
              </a:lnSpc>
              <a:spcBef>
                <a:spcPts val="400"/>
              </a:spcBef>
            </a:pPr>
            <a:r>
              <a:rPr lang="en-US" sz="850" noProof="1">
                <a:solidFill>
                  <a:srgbClr val="000000"/>
                </a:solidFill>
                <a:latin typeface="Liter"/>
                <a:ea typeface="MiSans"/>
              </a:rPr>
              <a:t>50–200 friendly users on Webex Calling; validate QoS, E911, calling plans</a:t>
            </a:r>
            <a:endParaRPr lang="en-US" sz="900" noProof="1"/>
          </a:p>
        </p:txBody>
      </p:sp>
      <p:sp>
        <p:nvSpPr>
          <p:cNvPr id="10" name="pa2"/>
          <p:cNvSpPr/>
          <p:nvPr>
            <p:extLst>
              <p:ext uri="{F5677B7D-0D2A-4D9B-9A5C-6D8D7D0E5A5D}">
                <pptd:line encoding="base64url">eyJ2aWV3Qm94IjpbMTgsMV0sInBvaW50cyI6IjAsMCAxOCwwIn0</pptd:line>
              </p:ext>
            </p:extLst>
          </p:nvPr>
        </p:nvSpPr>
        <p:spPr>
          <a:xfrm>
            <a:off x="49022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1" name="p2"/>
          <p:cNvSpPr/>
          <p:nvPr/>
        </p:nvSpPr>
        <p:spPr>
          <a:xfrm>
            <a:off x="5130800" y="1473200"/>
            <a:ext cx="2032000" cy="1168400"/>
          </a:xfrm>
          <a:prstGeom prst="rect">
            <a:avLst/>
          </a:prstGeom>
          <a:solidFill>
            <a:srgbClr val="F7F5F0"/>
          </a:solidFill>
          <a:ln w="11430">
            <a:solidFill>
              <a:srgbClr val="333333"/>
            </a:solidFill>
          </a:ln>
        </p:spPr>
      </p:sp>
      <p:sp>
        <p:nvSpPr>
          <p:cNvPr id="12" name="p2t"/>
          <p:cNvSpPr txBox="1"/>
          <p:nvPr/>
        </p:nvSpPr>
        <p:spPr>
          <a:xfrm>
            <a:off x="52324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2 · Site waves</a:t>
            </a:r>
            <a:endParaRPr lang="en-US" sz="900" noProof="1"/>
          </a:p>
          <a:p>
            <a:pPr>
              <a:lnSpc>
                <a:spcPct val="130000"/>
              </a:lnSpc>
              <a:spcBef>
                <a:spcPts val="400"/>
              </a:spcBef>
            </a:pPr>
            <a:r>
              <a:rPr lang="en-US" sz="850" noProof="1">
                <a:solidFill>
                  <a:srgbClr val="000000"/>
                </a:solidFill>
                <a:latin typeface="Liter"/>
                <a:ea typeface="MiSans"/>
              </a:rPr>
              <a:t>users migrate per site; hybrid period uses dial-plan integration between CUCM and Webex</a:t>
            </a:r>
            <a:endParaRPr lang="en-US" sz="900" noProof="1"/>
          </a:p>
        </p:txBody>
      </p:sp>
      <p:sp>
        <p:nvSpPr>
          <p:cNvPr id="13" name="pa3"/>
          <p:cNvSpPr/>
          <p:nvPr>
            <p:extLst>
              <p:ext uri="{F5677B7D-0D2A-4D9B-9A5C-6D8D7D0E5A5D}">
                <pptd:line encoding="base64url">eyJ2aWV3Qm94IjpbMTgsMV0sInBvaW50cyI6IjAsMCAxOCwwIn0</pptd:line>
              </p:ext>
            </p:extLst>
          </p:nvPr>
        </p:nvSpPr>
        <p:spPr>
          <a:xfrm>
            <a:off x="71628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4" name="p3"/>
          <p:cNvSpPr/>
          <p:nvPr/>
        </p:nvSpPr>
        <p:spPr>
          <a:xfrm>
            <a:off x="7391400" y="1473200"/>
            <a:ext cx="2032000" cy="1168400"/>
          </a:xfrm>
          <a:prstGeom prst="rect">
            <a:avLst/>
          </a:prstGeom>
          <a:solidFill>
            <a:srgbClr val="F7F5F0"/>
          </a:solidFill>
          <a:ln w="11430">
            <a:solidFill>
              <a:srgbClr val="333333"/>
            </a:solidFill>
          </a:ln>
        </p:spPr>
      </p:sp>
      <p:sp>
        <p:nvSpPr>
          <p:cNvPr id="15" name="p3t"/>
          <p:cNvSpPr txBox="1"/>
          <p:nvPr/>
        </p:nvSpPr>
        <p:spPr>
          <a:xfrm>
            <a:off x="7493000" y="1549400"/>
            <a:ext cx="18288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3 · PSTN port</a:t>
            </a:r>
            <a:endParaRPr lang="en-US" sz="900" noProof="1"/>
          </a:p>
          <a:p>
            <a:pPr>
              <a:lnSpc>
                <a:spcPct val="130000"/>
              </a:lnSpc>
              <a:spcBef>
                <a:spcPts val="400"/>
              </a:spcBef>
            </a:pPr>
            <a:r>
              <a:rPr lang="en-US" sz="850" noProof="1">
                <a:solidFill>
                  <a:srgbClr val="000000"/>
                </a:solidFill>
                <a:latin typeface="Liter"/>
                <a:ea typeface="MiSans"/>
              </a:rPr>
              <a:t>number porting to Cisco Calling Plans or move trunks to local gateways</a:t>
            </a:r>
            <a:endParaRPr lang="en-US" sz="900" noProof="1"/>
          </a:p>
        </p:txBody>
      </p:sp>
      <p:sp>
        <p:nvSpPr>
          <p:cNvPr id="16" name="pa4"/>
          <p:cNvSpPr/>
          <p:nvPr>
            <p:extLst>
              <p:ext uri="{F5677B7D-0D2A-4D9B-9A5C-6D8D7D0E5A5D}">
                <pptd:line encoding="base64url">eyJ2aWV3Qm94IjpbMTgsMV0sInBvaW50cyI6IjAsMCAxOCwwIn0</pptd:line>
              </p:ext>
            </p:extLst>
          </p:nvPr>
        </p:nvSpPr>
        <p:spPr>
          <a:xfrm>
            <a:off x="9423400" y="2032000"/>
            <a:ext cx="228600" cy="12700"/>
          </a:xfrm>
          <a:custGeom>
            <a:avLst/>
            <a:gdLst/>
            <a:ahLst/>
            <a:cxnLst/>
            <a:rect l="l" t="t" r="r" b="b"/>
            <a:pathLst>
              <a:path w="18" h="1">
                <a:moveTo>
                  <a:pt x="0" y="0"/>
                </a:moveTo>
                <a:lnTo>
                  <a:pt x="18" y="0"/>
                </a:lnTo>
              </a:path>
            </a:pathLst>
          </a:custGeom>
          <a:noFill/>
          <a:ln w="17780" cap="rnd">
            <a:solidFill>
              <a:srgbClr val="E69138"/>
            </a:solidFill>
            <a:round/>
            <a:tailEnd type="arrow"/>
          </a:ln>
        </p:spPr>
      </p:sp>
      <p:sp>
        <p:nvSpPr>
          <p:cNvPr id="17" name="p4"/>
          <p:cNvSpPr/>
          <p:nvPr/>
        </p:nvSpPr>
        <p:spPr>
          <a:xfrm>
            <a:off x="9652000" y="1473200"/>
            <a:ext cx="1930400" cy="1168400"/>
          </a:xfrm>
          <a:prstGeom prst="rect">
            <a:avLst/>
          </a:prstGeom>
          <a:solidFill>
            <a:srgbClr val="D2C7EB"/>
          </a:solidFill>
          <a:ln w="11430">
            <a:solidFill>
              <a:srgbClr val="333333"/>
            </a:solidFill>
          </a:ln>
        </p:spPr>
      </p:sp>
      <p:sp>
        <p:nvSpPr>
          <p:cNvPr id="18" name="p4t"/>
          <p:cNvSpPr txBox="1"/>
          <p:nvPr/>
        </p:nvSpPr>
        <p:spPr>
          <a:xfrm>
            <a:off x="9753600" y="1549400"/>
            <a:ext cx="1727200" cy="1016000"/>
          </a:xfrm>
          <a:prstGeom prst="rect">
            <a:avLst/>
          </a:prstGeom>
          <a:noFill/>
          <a:ln>
            <a:noFill/>
          </a:ln>
        </p:spPr>
        <p:txBody>
          <a:bodyPr lIns="0" rIns="0" tIns="0" bIns="0" wrap="square" rtlCol="0"/>
          <a:lstStyle/>
          <a:p>
            <a:pPr>
              <a:lnSpc>
                <a:spcPct val="130000"/>
              </a:lnSpc>
            </a:pPr>
            <a:r>
              <a:rPr lang="en-US" sz="900" noProof="1" b="1">
                <a:solidFill>
                  <a:srgbClr val="333333"/>
                </a:solidFill>
                <a:latin typeface="Liter"/>
                <a:ea typeface="MiSans"/>
              </a:rPr>
              <a:t>4 · Decommission</a:t>
            </a:r>
            <a:endParaRPr lang="en-US" sz="900" noProof="1"/>
          </a:p>
          <a:p>
            <a:pPr>
              <a:lnSpc>
                <a:spcPct val="130000"/>
              </a:lnSpc>
              <a:spcBef>
                <a:spcPts val="400"/>
              </a:spcBef>
            </a:pPr>
            <a:r>
              <a:rPr lang="en-US" sz="850" noProof="1">
                <a:solidFill>
                  <a:srgbClr val="000000"/>
                </a:solidFill>
                <a:latin typeface="Liter"/>
                <a:ea typeface="MiSans"/>
              </a:rPr>
              <a:t>drain CUCM/UCCX; archive CDRs; cancel circuits; retire VMs and gateways</a:t>
            </a:r>
            <a:endParaRPr lang="en-US" sz="900" noProof="1"/>
          </a:p>
        </p:txBody>
      </p:sp>
      <p:sp>
        <p:nvSpPr>
          <p:cNvPr id="19" name="gate-note"/>
          <p:cNvSpPr txBox="1"/>
          <p:nvPr/>
        </p:nvSpPr>
        <p:spPr>
          <a:xfrm>
            <a:off x="609600" y="2819400"/>
            <a:ext cx="10972800" cy="431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Gate discipline:</a:t>
            </a:r>
            <a:r>
              <a:rPr lang="en-US" sz="1000" noProof="1">
                <a:solidFill>
                  <a:srgbClr val="5A5A5A"/>
                </a:solidFill>
                <a:latin typeface="Liter"/>
                <a:ea typeface="MiSans"/>
              </a:rPr>
              <a:t> each phase ends with objective checks (registration rate, MOS on test calls, E911 test, port completion report) and a documented rollback — for phases 1–3 rollback is simply "users stay on / return to CUCM," because the old cluster remains the system of record until phase 4.</a:t>
            </a:r>
            <a:endParaRPr lang="en-US" sz="1000" noProof="1"/>
          </a:p>
        </p:txBody>
      </p:sp>
      <p:sp>
        <p:nvSpPr>
          <p:cNvPr id="20" name="opt-h"/>
          <p:cNvSpPr txBox="1"/>
          <p:nvPr/>
        </p:nvSpPr>
        <p:spPr>
          <a:xfrm>
            <a:off x="609600" y="3403600"/>
            <a:ext cx="609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PSTN access after migration: three supported options</a:t>
            </a:r>
            <a:endParaRPr lang="en-US" sz="1100" noProof="1"/>
          </a:p>
        </p:txBody>
      </p:sp>
      <p:graphicFrame>
        <p:nvGraphicFramePr>
          <p:cNvPr id="21" name="opt-table"/>
          <p:cNvGraphicFramePr>
            <a:graphicFrameLocks noGrp="1"/>
          </p:cNvGraphicFramePr>
          <p:nvPr/>
        </p:nvGraphicFramePr>
        <p:xfrm>
          <a:off x="609600" y="3708400"/>
          <a:ext cx="6604000" cy="2159000"/>
        </p:xfrm>
        <a:graphic>
          <a:graphicData uri="http://schemas.openxmlformats.org/drawingml/2006/table">
            <a:tbl>
              <a:tblPr/>
              <a:tblGrid>
                <a:gridCol w="1981200"/>
                <a:gridCol w="2773680"/>
                <a:gridCol w="1849120"/>
              </a:tblGrid>
              <a:tr h="431800">
                <a:tc>
                  <a:txBody>
                    <a:bodyPr wrap="square" rtlCol="0" anchor="ctr"/>
                    <a:lstStyle/>
                    <a:p>
                      <a:pPr algn="l"/>
                      <a:r>
                        <a:rPr lang="en-US" sz="1050" noProof="1" b="1">
                          <a:solidFill>
                            <a:srgbClr val="000000"/>
                          </a:solidFill>
                          <a:latin typeface="Liter"/>
                          <a:ea typeface="MiSans"/>
                        </a:rPr>
                        <a:t>Option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How it works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Best when</a:t>
                      </a:r>
                    </a:p>
                  </a:txBody>
                  <a:tcPr marL="91440" marR="91440" marT="45720" marB="45720" anchor="ctr">
                    <a:lnL>
                      <a:noFill/>
                    </a:lnL>
                    <a:lnR>
                      <a:noFill/>
                    </a:lnR>
                    <a:lnT>
                      <a:noFill/>
                    </a:lnT>
                    <a:lnB w="15240">
                      <a:solidFill>
                        <a:srgbClr val="000000"/>
                      </a:solidFill>
                    </a:lnB>
                    <a:noFill/>
                  </a:tcPr>
                </a:tc>
              </a:tr>
              <a:tr h="575589">
                <a:tc>
                  <a:txBody>
                    <a:bodyPr wrap="square" rtlCol="0" anchor="ctr"/>
                    <a:lstStyle/>
                    <a:p>
                      <a:pPr algn="l"/>
                      <a:r>
                        <a:rPr lang="en-US" sz="1050" noProof="1">
                          <a:solidFill>
                            <a:srgbClr val="000000"/>
                          </a:solidFill>
                          <a:latin typeface="Liter"/>
                          <a:ea typeface="MiSans"/>
                        </a:rPr>
                        <a:t>Cisco Calling Plans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PSTN bundled by Cisco; numbers ported into Webex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covered countries, simple estates</a:t>
                      </a:r>
                    </a:p>
                  </a:txBody>
                  <a:tcPr marL="91440" marR="91440" marT="45720" marB="45720" anchor="ctr">
                    <a:lnL>
                      <a:noFill/>
                    </a:lnL>
                    <a:lnR>
                      <a:noFill/>
                    </a:lnR>
                    <a:lnT>
                      <a:noFill/>
                    </a:lnT>
                    <a:lnB w="7620">
                      <a:solidFill>
                        <a:srgbClr val="D9D9D9"/>
                      </a:solidFill>
                    </a:lnB>
                    <a:noFill/>
                  </a:tcPr>
                </a:tc>
              </a:tr>
              <a:tr h="575589">
                <a:tc>
                  <a:txBody>
                    <a:bodyPr wrap="square" rtlCol="0" anchor="ctr"/>
                    <a:lstStyle/>
                    <a:p>
                      <a:pPr algn="l"/>
                      <a:r>
                        <a:rPr lang="en-US" sz="1050" noProof="1">
                          <a:solidFill>
                            <a:srgbClr val="000000"/>
                          </a:solidFill>
                          <a:latin typeface="Liter"/>
                          <a:ea typeface="MiSans"/>
                        </a:rPr>
                        <a:t>Local Gateway (LGW)</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SIP provider terminates on an on-prem gateway registered to Webex</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existing contracts, special trunks</a:t>
                      </a:r>
                    </a:p>
                  </a:txBody>
                  <a:tcPr marL="91440" marR="91440" marT="45720" marB="45720" anchor="ctr">
                    <a:lnL>
                      <a:noFill/>
                    </a:lnL>
                    <a:lnR>
                      <a:noFill/>
                    </a:lnR>
                    <a:lnT>
                      <a:noFill/>
                    </a:lnT>
                    <a:lnB w="7620">
                      <a:solidFill>
                        <a:srgbClr val="D9D9D9"/>
                      </a:solidFill>
                    </a:lnB>
                    <a:noFill/>
                  </a:tcPr>
                </a:tc>
              </a:tr>
              <a:tr h="576021">
                <a:tc>
                  <a:txBody>
                    <a:bodyPr wrap="square" rtlCol="0" anchor="ctr"/>
                    <a:lstStyle/>
                    <a:p>
                      <a:pPr algn="l"/>
                      <a:r>
                        <a:rPr lang="en-US" sz="1050" noProof="1">
                          <a:solidFill>
                            <a:srgbClr val="000000"/>
                          </a:solidFill>
                          <a:latin typeface="Liter"/>
                          <a:ea typeface="MiSans"/>
                        </a:rPr>
                        <a:t>Cloud Connect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certified carrier peers into Webex on your behalf</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global carriers, no on-prem hardware</a:t>
                      </a:r>
                    </a:p>
                  </a:txBody>
                  <a:tcPr marL="91440" marR="91440" marT="45720" marB="45720" anchor="ctr">
                    <a:lnL>
                      <a:noFill/>
                    </a:lnL>
                    <a:lnR>
                      <a:noFill/>
                    </a:lnR>
                    <a:lnT>
                      <a:noFill/>
                    </a:lnT>
                    <a:lnB w="7620">
                      <a:solidFill>
                        <a:srgbClr val="D9D9D9"/>
                      </a:solidFill>
                    </a:lnB>
                    <a:noFill/>
                  </a:tcPr>
                </a:tc>
              </a:tr>
            </a:tbl>
          </a:graphicData>
        </a:graphic>
      </p:graphicFrame>
      <p:sp>
        <p:nvSpPr>
          <p:cNvPr id="22" name="hy-note"/>
          <p:cNvSpPr txBox="1"/>
          <p:nvPr/>
        </p:nvSpPr>
        <p:spPr>
          <a:xfrm>
            <a:off x="7620000" y="3708400"/>
            <a:ext cx="3962400" cy="2159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Contact center follows the same logic:</a:t>
            </a:r>
            <a:r>
              <a:rPr lang="en-US" sz="1250" noProof="1">
                <a:solidFill>
                  <a:srgbClr val="000000"/>
                </a:solidFill>
                <a:latin typeface="Liter"/>
                <a:ea typeface="MiSans"/>
              </a:rPr>
              <a:t> new queues are built in Webex CC while UCCE/UCCX keeps running; calls can hairpin between the two during coexistence.</a:t>
            </a:r>
            <a:endParaRPr lang="en-US" sz="1250" noProof="1"/>
          </a:p>
          <a:p>
            <a:pPr>
              <a:lnSpc>
                <a:spcPct val="145000"/>
              </a:lnSpc>
              <a:spcBef>
                <a:spcPts val="800"/>
              </a:spcBef>
            </a:pPr>
            <a:r>
              <a:rPr lang="en-US" sz="1250" noProof="1">
                <a:solidFill>
                  <a:srgbClr val="000000"/>
                </a:solidFill>
                <a:latin typeface="Liter"/>
                <a:ea typeface="MiSans"/>
              </a:rPr>
              <a:t>A </a:t>
            </a:r>
            <a:r>
              <a:rPr lang="en-US" sz="1250" noProof="1" b="1">
                <a:solidFill>
                  <a:srgbClr val="000000"/>
                </a:solidFill>
                <a:latin typeface="Liter"/>
                <a:ea typeface="MiSans"/>
              </a:rPr>
              <a:t>hybrid steady-state is legitimate</a:t>
            </a:r>
            <a:r>
              <a:rPr lang="en-US" sz="1250" noProof="1">
                <a:solidFill>
                  <a:srgbClr val="000000"/>
                </a:solidFill>
                <a:latin typeface="Liter"/>
                <a:ea typeface="MiSans"/>
              </a:rPr>
              <a:t> — many estates keep a small on-prem footprint for fax, paging or regulated trunks indefinitely.</a:t>
            </a:r>
            <a:endParaRPr lang="en-US" sz="1250" noProof="1"/>
          </a:p>
        </p:txBody>
      </p:sp>
      <p:sp>
        <p:nvSpPr>
          <p:cNvPr id="2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migration and Local Gateway documentation, help.webex.com; Cisco UCM Cloud migration guides, cisco.com</a:t>
            </a:r>
            <a:endParaRPr lang="en-US" sz="850" noProof="1"/>
          </a:p>
        </p:txBody>
      </p:sp>
      <p:sp>
        <p:nvSpPr>
          <p:cNvPr id="25" name="cml-footer-bar"/>
          <p:cNvSpPr/>
          <p:nvPr/>
        </p:nvSpPr>
        <p:spPr>
          <a:xfrm>
            <a:off x="0" y="6670000"/>
            <a:ext cx="12192000" cy="640000"/>
          </a:xfrm>
          <a:prstGeom prst="rect">
            <a:avLst/>
          </a:prstGeom>
          <a:solidFill>
            <a:srgbClr val="12161C"/>
          </a:solidFill>
          <a:ln>
            <a:noFill/>
          </a:ln>
        </p:spPr>
        <p:txBody>
          <a:bodyPr/>
          <a:lstStyle/>
          <a:p/>
        </p:txBody>
      </p:sp>
      <p:sp>
        <p:nvSpPr>
          <p:cNvPr id="26" name="cml-footer-rule"/>
          <p:cNvSpPr/>
          <p:nvPr/>
        </p:nvSpPr>
        <p:spPr>
          <a:xfrm>
            <a:off x="0" y="6670000"/>
            <a:ext cx="12192000" cy="19050"/>
          </a:xfrm>
          <a:prstGeom prst="rect">
            <a:avLst/>
          </a:prstGeom>
          <a:solidFill>
            <a:srgbClr val="2DD4BF"/>
          </a:solidFill>
          <a:ln>
            <a:noFill/>
          </a:ln>
        </p:spPr>
        <p:txBody>
          <a:bodyPr/>
          <a:lstStyle/>
          <a:p/>
        </p:txBody>
      </p:sp>
      <p:sp>
        <p:nvSpPr>
          <p:cNvPr id="27"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8"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9"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0"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1"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2"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3"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4"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5"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6"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7"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8"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9"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0"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3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Webex Calling is cloud call control with local breakout: locations define the edges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Cisco runs the call control in regional data centers; your network supplies endpoints, PSTN breakout and the management plane.</a:t>
            </a:r>
            <a:endParaRPr lang="en-US" sz="1100" noProof="1"/>
          </a:p>
        </p:txBody>
      </p:sp>
      <p:sp>
        <p:nvSpPr>
          <p:cNvPr id="4" name="dia-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architecture, top to bottom</a:t>
            </a:r>
            <a:endParaRPr lang="en-US" sz="1100" noProof="1"/>
          </a:p>
        </p:txBody>
      </p:sp>
      <p:sp>
        <p:nvSpPr>
          <p:cNvPr id="5" name="w-ch"/>
          <p:cNvSpPr/>
          <p:nvPr/>
        </p:nvSpPr>
        <p:spPr>
          <a:xfrm>
            <a:off x="3683000" y="1473200"/>
            <a:ext cx="2540000" cy="660400"/>
          </a:xfrm>
          <a:prstGeom prst="rect">
            <a:avLst/>
          </a:prstGeom>
          <a:solidFill>
            <a:srgbClr val="FFFFFF"/>
          </a:solidFill>
          <a:ln w="16510">
            <a:solidFill>
              <a:srgbClr val="000000"/>
            </a:solidFill>
          </a:ln>
        </p:spPr>
      </p:sp>
      <p:sp>
        <p:nvSpPr>
          <p:cNvPr id="6" name="w-ch-t"/>
          <p:cNvSpPr txBox="1"/>
          <p:nvPr/>
        </p:nvSpPr>
        <p:spPr>
          <a:xfrm>
            <a:off x="3683000" y="1473200"/>
            <a:ext cx="2540000" cy="6604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Control Hub</a:t>
            </a:r>
            <a:endParaRPr lang="en-US" sz="1000" noProof="1"/>
          </a:p>
          <a:p>
            <a:pPr algn="ctr">
              <a:lnSpc>
                <a:spcPct val="120000"/>
              </a:lnSpc>
            </a:pPr>
            <a:r>
              <a:rPr lang="en-US" sz="800" noProof="1">
                <a:solidFill>
                  <a:srgbClr val="000000"/>
                </a:solidFill>
                <a:latin typeface="Liter"/>
                <a:ea typeface="MiSans"/>
              </a:rPr>
              <a:t>management plane (browser)</a:t>
            </a:r>
            <a:endParaRPr lang="en-US" sz="1000" noProof="1"/>
          </a:p>
        </p:txBody>
      </p:sp>
      <p:sp>
        <p:nvSpPr>
          <p:cNvPr id="7" name="w-cloud"/>
          <p:cNvSpPr/>
          <p:nvPr/>
        </p:nvSpPr>
        <p:spPr>
          <a:xfrm>
            <a:off x="3683000" y="2540000"/>
            <a:ext cx="2540000" cy="838200"/>
          </a:xfrm>
          <a:prstGeom prst="rect">
            <a:avLst/>
          </a:prstGeom>
          <a:solidFill>
            <a:srgbClr val="D2C7EB"/>
          </a:solidFill>
          <a:ln w="11430">
            <a:solidFill>
              <a:srgbClr val="333333"/>
            </a:solidFill>
          </a:ln>
        </p:spPr>
      </p:sp>
      <p:sp>
        <p:nvSpPr>
          <p:cNvPr id="8" name="w-cloud-t"/>
          <p:cNvSpPr txBox="1"/>
          <p:nvPr/>
        </p:nvSpPr>
        <p:spPr>
          <a:xfrm>
            <a:off x="3683000" y="2540000"/>
            <a:ext cx="2540000" cy="838200"/>
          </a:xfrm>
          <a:prstGeom prst="rect">
            <a:avLst/>
          </a:prstGeom>
          <a:noFill/>
          <a:ln>
            <a:noFill/>
          </a:ln>
        </p:spPr>
        <p:txBody>
          <a:bodyPr lIns="0" rIns="0" tIns="0" bIns="0" wrap="square" rtlCol="0" anchor="ctr"/>
          <a:lstStyle/>
          <a:p>
            <a:pPr algn="ctr">
              <a:lnSpc>
                <a:spcPct val="120000"/>
              </a:lnSpc>
            </a:pPr>
            <a:r>
              <a:rPr lang="en-US" sz="1000" noProof="1" b="1">
                <a:solidFill>
                  <a:srgbClr val="333333"/>
                </a:solidFill>
                <a:latin typeface="Liter"/>
                <a:ea typeface="MiSans"/>
              </a:rPr>
              <a:t>Webex Calling cloud</a:t>
            </a:r>
            <a:endParaRPr lang="en-US" sz="1000" noProof="1"/>
          </a:p>
          <a:p>
            <a:pPr algn="ctr">
              <a:lnSpc>
                <a:spcPct val="120000"/>
              </a:lnSpc>
            </a:pPr>
            <a:r>
              <a:rPr lang="en-US" sz="800" noProof="1">
                <a:solidFill>
                  <a:srgbClr val="000000"/>
                </a:solidFill>
                <a:latin typeface="Liter"/>
                <a:ea typeface="MiSans"/>
              </a:rPr>
              <a:t>regional data centers · call control</a:t>
            </a:r>
            <a:endParaRPr lang="en-US" sz="1000" noProof="1"/>
          </a:p>
          <a:p>
            <a:pPr algn="ctr">
              <a:lnSpc>
                <a:spcPct val="120000"/>
              </a:lnSpc>
            </a:pPr>
            <a:r>
              <a:rPr lang="en-US" sz="800" noProof="1">
                <a:solidFill>
                  <a:srgbClr val="000000"/>
                </a:solidFill>
                <a:latin typeface="Liter"/>
                <a:ea typeface="MiSans"/>
              </a:rPr>
              <a:t>voicemail · media services</a:t>
            </a:r>
            <a:endParaRPr lang="en-US" sz="1000" noProof="1"/>
          </a:p>
        </p:txBody>
      </p:sp>
      <p:sp>
        <p:nvSpPr>
          <p:cNvPr id="9" name="w-ep"/>
          <p:cNvSpPr/>
          <p:nvPr/>
        </p:nvSpPr>
        <p:spPr>
          <a:xfrm>
            <a:off x="609600" y="4013200"/>
            <a:ext cx="1905000" cy="685800"/>
          </a:xfrm>
          <a:prstGeom prst="rect">
            <a:avLst/>
          </a:prstGeom>
          <a:solidFill>
            <a:srgbClr val="F7F5F0"/>
          </a:solidFill>
          <a:ln w="10160">
            <a:solidFill>
              <a:srgbClr val="333333"/>
            </a:solidFill>
          </a:ln>
        </p:spPr>
      </p:sp>
      <p:sp>
        <p:nvSpPr>
          <p:cNvPr id="10" name="w-ep-t"/>
          <p:cNvSpPr txBox="1"/>
          <p:nvPr/>
        </p:nvSpPr>
        <p:spPr>
          <a:xfrm>
            <a:off x="609600" y="4013200"/>
            <a:ext cx="1905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Endpoints</a:t>
            </a:r>
            <a:endParaRPr lang="en-US" sz="950" noProof="1"/>
          </a:p>
          <a:p>
            <a:pPr algn="ctr">
              <a:lnSpc>
                <a:spcPct val="120000"/>
              </a:lnSpc>
            </a:pPr>
            <a:r>
              <a:rPr lang="en-US" sz="800" noProof="1">
                <a:solidFill>
                  <a:srgbClr val="000000"/>
                </a:solidFill>
                <a:latin typeface="Liter"/>
                <a:ea typeface="MiSans"/>
              </a:rPr>
              <a:t>MPP phones · Webex app</a:t>
            </a:r>
            <a:endParaRPr lang="en-US" sz="950" noProof="1"/>
          </a:p>
        </p:txBody>
      </p:sp>
      <p:sp>
        <p:nvSpPr>
          <p:cNvPr id="11" name="w-lgw"/>
          <p:cNvSpPr/>
          <p:nvPr/>
        </p:nvSpPr>
        <p:spPr>
          <a:xfrm>
            <a:off x="3810000" y="4013200"/>
            <a:ext cx="2286000" cy="685800"/>
          </a:xfrm>
          <a:prstGeom prst="rect">
            <a:avLst/>
          </a:prstGeom>
          <a:solidFill>
            <a:srgbClr val="F7F5F0"/>
          </a:solidFill>
          <a:ln w="11430">
            <a:solidFill>
              <a:srgbClr val="333333"/>
            </a:solidFill>
          </a:ln>
        </p:spPr>
      </p:sp>
      <p:sp>
        <p:nvSpPr>
          <p:cNvPr id="12" name="w-lgw-t"/>
          <p:cNvSpPr txBox="1"/>
          <p:nvPr/>
        </p:nvSpPr>
        <p:spPr>
          <a:xfrm>
            <a:off x="3810000" y="4013200"/>
            <a:ext cx="2286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Local Gateway (LGW)</a:t>
            </a:r>
            <a:endParaRPr lang="en-US" sz="950" noProof="1"/>
          </a:p>
          <a:p>
            <a:pPr algn="ctr">
              <a:lnSpc>
                <a:spcPct val="120000"/>
              </a:lnSpc>
            </a:pPr>
            <a:r>
              <a:rPr lang="en-US" sz="800" noProof="1">
                <a:solidFill>
                  <a:srgbClr val="000000"/>
                </a:solidFill>
                <a:latin typeface="Liter"/>
                <a:ea typeface="MiSans"/>
              </a:rPr>
              <a:t>your IOS XE router, per location</a:t>
            </a:r>
            <a:endParaRPr lang="en-US" sz="950" noProof="1"/>
          </a:p>
        </p:txBody>
      </p:sp>
      <p:sp>
        <p:nvSpPr>
          <p:cNvPr id="13" name="w-pstn"/>
          <p:cNvSpPr/>
          <p:nvPr/>
        </p:nvSpPr>
        <p:spPr>
          <a:xfrm>
            <a:off x="7391400" y="4013200"/>
            <a:ext cx="1651000" cy="685800"/>
          </a:xfrm>
          <a:prstGeom prst="rect">
            <a:avLst/>
          </a:prstGeom>
          <a:solidFill>
            <a:srgbClr val="FFFFFF"/>
          </a:solidFill>
          <a:ln w="11430">
            <a:solidFill>
              <a:srgbClr val="333333"/>
            </a:solidFill>
          </a:ln>
        </p:spPr>
      </p:sp>
      <p:sp>
        <p:nvSpPr>
          <p:cNvPr id="14" name="w-pstn-t"/>
          <p:cNvSpPr txBox="1"/>
          <p:nvPr/>
        </p:nvSpPr>
        <p:spPr>
          <a:xfrm>
            <a:off x="7391400" y="4013200"/>
            <a:ext cx="1651000" cy="685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PSTN</a:t>
            </a:r>
            <a:endParaRPr lang="en-US" sz="950" noProof="1"/>
          </a:p>
          <a:p>
            <a:pPr algn="ctr">
              <a:lnSpc>
                <a:spcPct val="120000"/>
              </a:lnSpc>
            </a:pPr>
            <a:r>
              <a:rPr lang="en-US" sz="800" noProof="1">
                <a:solidFill>
                  <a:srgbClr val="000000"/>
                </a:solidFill>
                <a:latin typeface="Liter"/>
                <a:ea typeface="MiSans"/>
              </a:rPr>
              <a:t>carrier / SIP provider</a:t>
            </a:r>
            <a:endParaRPr lang="en-US" sz="950" noProof="1"/>
          </a:p>
        </p:txBody>
      </p:sp>
      <p:sp>
        <p:nvSpPr>
          <p:cNvPr id="15" name="w-a1"/>
          <p:cNvSpPr/>
          <p:nvPr>
            <p:extLst>
              <p:ext uri="{F5677B7D-0D2A-4D9B-9A5C-6D8D7D0E5A5D}">
                <pptd:line encoding="base64url">eyJ2aWV3Qm94IjpbMSwzMl0sInBvaW50cyI6IjAsMCAwLDMyIn0</pptd:line>
              </p:ext>
            </p:extLst>
          </p:nvPr>
        </p:nvSpPr>
        <p:spPr>
          <a:xfrm>
            <a:off x="4953000" y="2133600"/>
            <a:ext cx="12700" cy="406400"/>
          </a:xfrm>
          <a:custGeom>
            <a:avLst/>
            <a:gdLst/>
            <a:ahLst/>
            <a:cxnLst/>
            <a:rect l="l" t="t" r="r" b="b"/>
            <a:pathLst>
              <a:path w="1" h="32">
                <a:moveTo>
                  <a:pt x="0" y="0"/>
                </a:moveTo>
                <a:lnTo>
                  <a:pt x="0" y="32"/>
                </a:lnTo>
              </a:path>
            </a:pathLst>
          </a:custGeom>
          <a:noFill/>
          <a:ln w="12700" cap="rnd">
            <a:solidFill>
              <a:srgbClr val="A9AAAC"/>
            </a:solidFill>
            <a:prstDash val="dash"/>
            <a:round/>
            <a:headEnd type="arrow"/>
            <a:tailEnd type="arrow"/>
          </a:ln>
        </p:spPr>
      </p:sp>
      <p:sp>
        <p:nvSpPr>
          <p:cNvPr id="16" name="w-a2"/>
          <p:cNvSpPr/>
          <p:nvPr>
            <p:extLst>
              <p:ext uri="{F5677B7D-0D2A-4D9B-9A5C-6D8D7D0E5A5D}">
                <pptd:line encoding="base64url">eyJ2aWV3Qm94IjpbMjAwLDUwXSwicG9pbnRzIjoiMCw1MCAyMDAsMCJ9</pptd:line>
              </p:ext>
            </p:extLst>
          </p:nvPr>
        </p:nvSpPr>
        <p:spPr>
          <a:xfrm>
            <a:off x="1562100" y="3378200"/>
            <a:ext cx="2540000" cy="635000"/>
          </a:xfrm>
          <a:custGeom>
            <a:avLst/>
            <a:gdLst/>
            <a:ahLst/>
            <a:cxnLst/>
            <a:rect l="l" t="t" r="r" b="b"/>
            <a:pathLst>
              <a:path w="200" h="50">
                <a:moveTo>
                  <a:pt x="0" y="50"/>
                </a:moveTo>
                <a:lnTo>
                  <a:pt x="200" y="0"/>
                </a:lnTo>
              </a:path>
            </a:pathLst>
          </a:custGeom>
          <a:noFill/>
          <a:ln w="15240" cap="rnd">
            <a:solidFill>
              <a:srgbClr val="E69138"/>
            </a:solidFill>
            <a:round/>
            <a:headEnd type="arrow"/>
            <a:tailEnd type="arrow"/>
          </a:ln>
        </p:spPr>
      </p:sp>
      <p:sp>
        <p:nvSpPr>
          <p:cNvPr id="17" name="w-a2t"/>
          <p:cNvSpPr txBox="1"/>
          <p:nvPr/>
        </p:nvSpPr>
        <p:spPr>
          <a:xfrm>
            <a:off x="1905000" y="3530600"/>
            <a:ext cx="1651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TLS registration</a:t>
            </a:r>
            <a:endParaRPr lang="en-US" sz="800" noProof="1"/>
          </a:p>
        </p:txBody>
      </p:sp>
      <p:sp>
        <p:nvSpPr>
          <p:cNvPr id="18" name="w-a3"/>
          <p:cNvSpPr/>
          <p:nvPr>
            <p:extLst>
              <p:ext uri="{F5677B7D-0D2A-4D9B-9A5C-6D8D7D0E5A5D}">
                <pptd:line encoding="base64url">eyJ2aWV3Qm94IjpbMSw1MF0sInBvaW50cyI6IjAsMCAwLDUwIn0</pptd:line>
              </p:ext>
            </p:extLst>
          </p:nvPr>
        </p:nvSpPr>
        <p:spPr>
          <a:xfrm>
            <a:off x="4953000" y="3378200"/>
            <a:ext cx="12700" cy="635000"/>
          </a:xfrm>
          <a:custGeom>
            <a:avLst/>
            <a:gdLst/>
            <a:ahLst/>
            <a:cxnLst/>
            <a:rect l="l" t="t" r="r" b="b"/>
            <a:pathLst>
              <a:path w="1" h="50">
                <a:moveTo>
                  <a:pt x="0" y="0"/>
                </a:moveTo>
                <a:lnTo>
                  <a:pt x="0" y="50"/>
                </a:lnTo>
              </a:path>
            </a:pathLst>
          </a:custGeom>
          <a:noFill/>
          <a:ln w="17780" cap="rnd">
            <a:solidFill>
              <a:srgbClr val="E69138"/>
            </a:solidFill>
            <a:round/>
            <a:headEnd type="arrow"/>
            <a:tailEnd type="arrow"/>
          </a:ln>
        </p:spPr>
      </p:sp>
      <p:sp>
        <p:nvSpPr>
          <p:cNvPr id="19" name="w-a3t"/>
          <p:cNvSpPr txBox="1"/>
          <p:nvPr/>
        </p:nvSpPr>
        <p:spPr>
          <a:xfrm>
            <a:off x="5054600" y="3632200"/>
            <a:ext cx="1651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SIP trunk (registered)</a:t>
            </a:r>
            <a:endParaRPr lang="en-US" sz="800" noProof="1"/>
          </a:p>
        </p:txBody>
      </p:sp>
      <p:sp>
        <p:nvSpPr>
          <p:cNvPr id="20" name="w-a4"/>
          <p:cNvSpPr/>
          <p:nvPr>
            <p:extLst>
              <p:ext uri="{F5677B7D-0D2A-4D9B-9A5C-6D8D7D0E5A5D}">
                <pptd:line encoding="base64url">eyJ2aWV3Qm94IjpbMTAyLDFdLCJwb2ludHMiOiIwLDAgMTAyLDAifQ</pptd:line>
              </p:ext>
            </p:extLst>
          </p:nvPr>
        </p:nvSpPr>
        <p:spPr>
          <a:xfrm>
            <a:off x="6096000" y="4343400"/>
            <a:ext cx="1295400" cy="12700"/>
          </a:xfrm>
          <a:custGeom>
            <a:avLst/>
            <a:gdLst/>
            <a:ahLst/>
            <a:cxnLst/>
            <a:rect l="l" t="t" r="r" b="b"/>
            <a:pathLst>
              <a:path w="102" h="1">
                <a:moveTo>
                  <a:pt x="0" y="0"/>
                </a:moveTo>
                <a:lnTo>
                  <a:pt x="102" y="0"/>
                </a:lnTo>
              </a:path>
            </a:pathLst>
          </a:custGeom>
          <a:noFill/>
          <a:ln w="17780" cap="rnd">
            <a:solidFill>
              <a:srgbClr val="E69138"/>
            </a:solidFill>
            <a:round/>
            <a:headEnd type="arrow"/>
            <a:tailEnd type="arrow"/>
          </a:ln>
        </p:spPr>
      </p:sp>
      <p:sp>
        <p:nvSpPr>
          <p:cNvPr id="21" name="w-a4t"/>
          <p:cNvSpPr txBox="1"/>
          <p:nvPr/>
        </p:nvSpPr>
        <p:spPr>
          <a:xfrm>
            <a:off x="6248400" y="4140200"/>
            <a:ext cx="1143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local PSTN</a:t>
            </a:r>
            <a:endParaRPr lang="en-US" sz="800" noProof="1"/>
          </a:p>
        </p:txBody>
      </p:sp>
      <p:sp>
        <p:nvSpPr>
          <p:cNvPr id="22" name="w-note"/>
          <p:cNvSpPr txBox="1"/>
          <p:nvPr/>
        </p:nvSpPr>
        <p:spPr>
          <a:xfrm>
            <a:off x="609600" y="4978400"/>
            <a:ext cx="8890000" cy="965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Locations are the design unit:</a:t>
            </a:r>
            <a:r>
              <a:rPr lang="en-US" sz="1250" noProof="1">
                <a:solidFill>
                  <a:srgbClr val="000000"/>
                </a:solidFill>
                <a:latin typeface="Liter"/>
                <a:ea typeface="MiSans"/>
              </a:rPr>
              <a:t> every site is a location with its own PSTN connection choice (Calling Plans, LGW, or Cloud Connect), bandwidth policy, and emergency-calling settings. Endpoints register to the nearest regional cloud; media stays as local as the PSTN breakout allows.</a:t>
            </a:r>
            <a:endParaRPr lang="en-US" sz="1250" noProof="1"/>
          </a:p>
        </p:txBody>
      </p:sp>
      <p:sp>
        <p:nvSpPr>
          <p:cNvPr id="23" name="w-surv"/>
          <p:cNvSpPr/>
          <p:nvPr/>
        </p:nvSpPr>
        <p:spPr>
          <a:xfrm>
            <a:off x="9652000" y="1473200"/>
            <a:ext cx="1930400" cy="1473200"/>
          </a:xfrm>
          <a:prstGeom prst="roundRect">
            <a:avLst>
              <a:gd name="adj" fmla="val 12000"/>
            </a:avLst>
          </a:prstGeom>
          <a:solidFill>
            <a:srgbClr val="F3F3F3"/>
          </a:solidFill>
          <a:ln>
            <a:noFill/>
          </a:ln>
        </p:spPr>
      </p:sp>
      <p:sp>
        <p:nvSpPr>
          <p:cNvPr id="24" name="w-surv-t"/>
          <p:cNvSpPr txBox="1"/>
          <p:nvPr/>
        </p:nvSpPr>
        <p:spPr>
          <a:xfrm>
            <a:off x="9804400" y="1600200"/>
            <a:ext cx="1625600" cy="1244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Survivability</a:t>
            </a:r>
            <a:endParaRPr lang="en-US" sz="1000" noProof="1"/>
          </a:p>
          <a:p>
            <a:pPr>
              <a:lnSpc>
                <a:spcPct val="135000"/>
              </a:lnSpc>
              <a:spcBef>
                <a:spcPts val="600"/>
              </a:spcBef>
            </a:pPr>
            <a:r>
              <a:rPr lang="en-US" sz="1000" noProof="1">
                <a:solidFill>
                  <a:srgbClr val="5A5A5A"/>
                </a:solidFill>
                <a:latin typeface="Liter"/>
                <a:ea typeface="MiSans"/>
              </a:rPr>
              <a:t>An on-prem survivability gateway keeps local calling and PSTN access alive if the cloud path fails — the cloud-era successor to SRST.</a:t>
            </a:r>
            <a:endParaRPr lang="en-US" sz="1000" noProof="1"/>
          </a:p>
        </p:txBody>
      </p:sp>
      <p:sp>
        <p:nvSpPr>
          <p:cNvPr id="2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architecture, Local Gateway and survivability documentation, help.webex.com</a:t>
            </a:r>
            <a:endParaRPr lang="en-US" sz="850" noProof="1"/>
          </a:p>
        </p:txBody>
      </p:sp>
      <p:sp>
        <p:nvSpPr>
          <p:cNvPr id="27" name="cml-footer-bar"/>
          <p:cNvSpPr/>
          <p:nvPr/>
        </p:nvSpPr>
        <p:spPr>
          <a:xfrm>
            <a:off x="0" y="6670000"/>
            <a:ext cx="12192000" cy="640000"/>
          </a:xfrm>
          <a:prstGeom prst="rect">
            <a:avLst/>
          </a:prstGeom>
          <a:solidFill>
            <a:srgbClr val="12161C"/>
          </a:solidFill>
          <a:ln>
            <a:noFill/>
          </a:ln>
        </p:spPr>
        <p:txBody>
          <a:bodyPr/>
          <a:lstStyle/>
          <a:p/>
        </p:txBody>
      </p:sp>
      <p:sp>
        <p:nvSpPr>
          <p:cNvPr id="28" name="cml-footer-rule"/>
          <p:cNvSpPr/>
          <p:nvPr/>
        </p:nvSpPr>
        <p:spPr>
          <a:xfrm>
            <a:off x="0" y="6670000"/>
            <a:ext cx="12192000" cy="19050"/>
          </a:xfrm>
          <a:prstGeom prst="rect">
            <a:avLst/>
          </a:prstGeom>
          <a:solidFill>
            <a:srgbClr val="2DD4BF"/>
          </a:solidFill>
          <a:ln>
            <a:noFill/>
          </a:ln>
        </p:spPr>
        <p:txBody>
          <a:bodyPr/>
          <a:lstStyle/>
          <a:p/>
        </p:txBody>
      </p:sp>
      <p:sp>
        <p:nvSpPr>
          <p:cNvPr id="29"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0"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1"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2"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3"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4"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5"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6"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7"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8"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9"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0"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1"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2"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Control Hub is the Webex operating console: users, locations, numbers, features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Day-two administration is a browser workflow — single edits, CSV bulk jobs, or directory synchronization keep one source of truth.</a:t>
            </a:r>
            <a:endParaRPr lang="en-US" sz="1100" noProof="1"/>
          </a:p>
        </p:txBody>
      </p:sp>
      <p:sp>
        <p:nvSpPr>
          <p:cNvPr id="4" name="obj-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you administer, and where it lives</a:t>
            </a:r>
            <a:endParaRPr lang="en-US" sz="1100" noProof="1"/>
          </a:p>
        </p:txBody>
      </p:sp>
      <p:graphicFrame>
        <p:nvGraphicFramePr>
          <p:cNvPr id="5" name="obj-table"/>
          <p:cNvGraphicFramePr>
            <a:graphicFrameLocks noGrp="1"/>
          </p:cNvGraphicFramePr>
          <p:nvPr/>
        </p:nvGraphicFramePr>
        <p:xfrm>
          <a:off x="609600" y="1447800"/>
          <a:ext cx="5588000" cy="2844800"/>
        </p:xfrm>
        <a:graphic>
          <a:graphicData uri="http://schemas.openxmlformats.org/drawingml/2006/table">
            <a:tbl>
              <a:tblPr/>
              <a:tblGrid>
                <a:gridCol w="1452880"/>
                <a:gridCol w="2235200"/>
                <a:gridCol w="1899920"/>
              </a:tblGrid>
              <a:tr h="398272">
                <a:tc>
                  <a:txBody>
                    <a:bodyPr wrap="square" rtlCol="0" anchor="ctr"/>
                    <a:lstStyle/>
                    <a:p>
                      <a:pPr algn="l"/>
                      <a:r>
                        <a:rPr lang="en-US" sz="1050" noProof="1" b="1">
                          <a:solidFill>
                            <a:srgbClr val="000000"/>
                          </a:solidFill>
                          <a:latin typeface="Liter"/>
                          <a:ea typeface="MiSans"/>
                        </a:rPr>
                        <a:t>Object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Managed attributes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task</a:t>
                      </a:r>
                    </a:p>
                  </a:txBody>
                  <a:tcPr marL="91440" marR="91440" marT="45720" marB="45720" anchor="ctr">
                    <a:lnL>
                      <a:noFill/>
                    </a:lnL>
                    <a:lnR>
                      <a:noFill/>
                    </a:lnR>
                    <a:lnT>
                      <a:noFill/>
                    </a:lnT>
                    <a:lnB w="15240">
                      <a:solidFill>
                        <a:srgbClr val="000000"/>
                      </a:solidFill>
                    </a:lnB>
                    <a:noFill/>
                  </a:tcPr>
                </a:tc>
              </a:tr>
              <a:tr h="489306">
                <a:tc>
                  <a:txBody>
                    <a:bodyPr wrap="square" rtlCol="0" anchor="ctr"/>
                    <a:lstStyle/>
                    <a:p>
                      <a:pPr algn="l"/>
                      <a:r>
                        <a:rPr lang="en-US" sz="1050" noProof="1">
                          <a:solidFill>
                            <a:srgbClr val="000000"/>
                          </a:solidFill>
                          <a:latin typeface="Liter"/>
                          <a:ea typeface="MiSans"/>
                        </a:rPr>
                        <a:t>Users &amp; workspaces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licenses, numbers, extension, caller ID, calling behavior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 user, assign Calling license</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Locations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PSTN choice, bandwidth policy, emergency settings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create site, attach trunk</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Phone numbers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inventory, assignment state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reserve, assign, port in</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Features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voicemail, auto attendant, hunt group, call queue, recording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configure per location</a:t>
                      </a:r>
                    </a:p>
                  </a:txBody>
                  <a:tcPr marL="91440" marR="91440" marT="45720" marB="45720" anchor="ctr">
                    <a:lnL>
                      <a:noFill/>
                    </a:lnL>
                    <a:lnR>
                      <a:noFill/>
                    </a:lnR>
                    <a:lnT>
                      <a:noFill/>
                    </a:lnT>
                    <a:lnB w="7620">
                      <a:solidFill>
                        <a:srgbClr val="D9D9D9"/>
                      </a:solidFill>
                    </a:lnB>
                    <a:noFill/>
                  </a:tcPr>
                </a:tc>
              </a:tr>
              <a:tr h="489306">
                <a:tc>
                  <a:txBody>
                    <a:bodyPr wrap="square" rtlCol="0" anchor="ctr"/>
                    <a:lstStyle/>
                    <a:p>
                      <a:pPr algn="l"/>
                      <a:r>
                        <a:rPr lang="en-US" sz="1050" noProof="1">
                          <a:solidFill>
                            <a:srgbClr val="000000"/>
                          </a:solidFill>
                          <a:latin typeface="Liter"/>
                          <a:ea typeface="MiSans"/>
                        </a:rPr>
                        <a:t>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MPP phones, ATA, room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 by MAC or activation code</a:t>
                      </a:r>
                    </a:p>
                  </a:txBody>
                  <a:tcPr marL="91440" marR="91440" marT="45720" marB="45720" anchor="ctr">
                    <a:lnL>
                      <a:noFill/>
                    </a:lnL>
                    <a:lnR>
                      <a:noFill/>
                    </a:lnR>
                    <a:lnT>
                      <a:noFill/>
                    </a:lnT>
                    <a:lnB w="7620">
                      <a:solidFill>
                        <a:srgbClr val="D9D9D9"/>
                      </a:solidFill>
                    </a:lnB>
                    <a:noFill/>
                  </a:tcPr>
                </a:tc>
              </a:tr>
            </a:tbl>
          </a:graphicData>
        </a:graphic>
      </p:graphicFrame>
      <p:sp>
        <p:nvSpPr>
          <p:cNvPr id="6" name="obj-note"/>
          <p:cNvSpPr txBox="1"/>
          <p:nvPr/>
        </p:nvSpPr>
        <p:spPr>
          <a:xfrm>
            <a:off x="609600" y="4470400"/>
            <a:ext cx="5588000" cy="1498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Role-based access:</a:t>
            </a:r>
            <a:r>
              <a:rPr lang="en-US" sz="1250" noProof="1">
                <a:solidFill>
                  <a:srgbClr val="000000"/>
                </a:solidFill>
                <a:latin typeface="Liter"/>
                <a:ea typeface="MiSans"/>
              </a:rPr>
              <a:t> full, read-only, and location-scoped administrator roles map to real support tiers — a site administrator can manage their location without touching global settings.</a:t>
            </a:r>
            <a:endParaRPr lang="en-US" sz="1250" noProof="1"/>
          </a:p>
          <a:p>
            <a:pPr>
              <a:lnSpc>
                <a:spcPct val="145000"/>
              </a:lnSpc>
              <a:spcBef>
                <a:spcPts val="800"/>
              </a:spcBef>
            </a:pPr>
            <a:r>
              <a:rPr lang="en-US" sz="1250" noProof="1">
                <a:solidFill>
                  <a:srgbClr val="000000"/>
                </a:solidFill>
                <a:latin typeface="Liter"/>
                <a:ea typeface="MiSans"/>
              </a:rPr>
              <a:t>Audit logs record every change with actor and timestamp; treat them as part of the compliance trail during migration waves.</a:t>
            </a:r>
            <a:endParaRPr lang="en-US" sz="1250" noProof="1"/>
          </a:p>
        </p:txBody>
      </p:sp>
      <p:sp>
        <p:nvSpPr>
          <p:cNvPr id="7" name="prov-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provisioning paths, scaled to the job</a:t>
            </a:r>
            <a:endParaRPr lang="en-US" sz="1100" noProof="1"/>
          </a:p>
        </p:txBody>
      </p:sp>
      <p:sp>
        <p:nvSpPr>
          <p:cNvPr id="8" name="p1"/>
          <p:cNvSpPr/>
          <p:nvPr/>
        </p:nvSpPr>
        <p:spPr>
          <a:xfrm>
            <a:off x="6604000" y="1473200"/>
            <a:ext cx="4978400" cy="787400"/>
          </a:xfrm>
          <a:prstGeom prst="rect">
            <a:avLst/>
          </a:prstGeom>
          <a:solidFill>
            <a:srgbClr val="F7F5F0"/>
          </a:solidFill>
          <a:ln w="10160">
            <a:solidFill>
              <a:srgbClr val="333333"/>
            </a:solidFill>
          </a:ln>
        </p:spPr>
      </p:sp>
      <p:sp>
        <p:nvSpPr>
          <p:cNvPr id="9" name="p1t"/>
          <p:cNvSpPr txBox="1"/>
          <p:nvPr/>
        </p:nvSpPr>
        <p:spPr>
          <a:xfrm>
            <a:off x="6756400" y="15494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Manual — the single user</a:t>
            </a:r>
            <a:endParaRPr lang="en-US" sz="1000" noProof="1"/>
          </a:p>
          <a:p>
            <a:pPr>
              <a:lnSpc>
                <a:spcPct val="130000"/>
              </a:lnSpc>
            </a:pPr>
            <a:r>
              <a:rPr lang="en-US" sz="850" noProof="1">
                <a:solidFill>
                  <a:srgbClr val="000000"/>
                </a:solidFill>
                <a:latin typeface="Liter"/>
                <a:ea typeface="MiSans"/>
              </a:rPr>
              <a:t>add user → assign license → assign number → done; the right tool for day-two changes</a:t>
            </a:r>
            <a:endParaRPr lang="en-US" sz="1000" noProof="1"/>
          </a:p>
        </p:txBody>
      </p:sp>
      <p:sp>
        <p:nvSpPr>
          <p:cNvPr id="10" name="p2"/>
          <p:cNvSpPr/>
          <p:nvPr/>
        </p:nvSpPr>
        <p:spPr>
          <a:xfrm>
            <a:off x="6604000" y="2413000"/>
            <a:ext cx="4978400" cy="787400"/>
          </a:xfrm>
          <a:prstGeom prst="rect">
            <a:avLst/>
          </a:prstGeom>
          <a:solidFill>
            <a:srgbClr val="F7F5F0"/>
          </a:solidFill>
          <a:ln w="10160">
            <a:solidFill>
              <a:srgbClr val="333333"/>
            </a:solidFill>
          </a:ln>
        </p:spPr>
      </p:sp>
      <p:sp>
        <p:nvSpPr>
          <p:cNvPr id="11" name="p2t"/>
          <p:cNvSpPr txBox="1"/>
          <p:nvPr/>
        </p:nvSpPr>
        <p:spPr>
          <a:xfrm>
            <a:off x="6756400" y="24892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CSV bulk — the migration wave</a:t>
            </a:r>
            <a:endParaRPr lang="en-US" sz="1000" noProof="1"/>
          </a:p>
          <a:p>
            <a:pPr>
              <a:lnSpc>
                <a:spcPct val="130000"/>
              </a:lnSpc>
            </a:pPr>
            <a:r>
              <a:rPr lang="en-US" sz="850" noProof="1">
                <a:solidFill>
                  <a:srgbClr val="000000"/>
                </a:solidFill>
                <a:latin typeface="Liter"/>
                <a:ea typeface="MiSans"/>
              </a:rPr>
              <a:t>one template provisions hundreds of users, numbers, and workspaces per job; errors return as a row-level report</a:t>
            </a:r>
            <a:endParaRPr lang="en-US" sz="1000" noProof="1"/>
          </a:p>
        </p:txBody>
      </p:sp>
      <p:sp>
        <p:nvSpPr>
          <p:cNvPr id="12" name="p3"/>
          <p:cNvSpPr/>
          <p:nvPr/>
        </p:nvSpPr>
        <p:spPr>
          <a:xfrm>
            <a:off x="6604000" y="3352800"/>
            <a:ext cx="4978400" cy="787400"/>
          </a:xfrm>
          <a:prstGeom prst="rect">
            <a:avLst/>
          </a:prstGeom>
          <a:solidFill>
            <a:srgbClr val="F7F5F0"/>
          </a:solidFill>
          <a:ln w="10160">
            <a:solidFill>
              <a:srgbClr val="333333"/>
            </a:solidFill>
          </a:ln>
        </p:spPr>
      </p:sp>
      <p:sp>
        <p:nvSpPr>
          <p:cNvPr id="13" name="p3t"/>
          <p:cNvSpPr txBox="1"/>
          <p:nvPr/>
        </p:nvSpPr>
        <p:spPr>
          <a:xfrm>
            <a:off x="6756400" y="3429000"/>
            <a:ext cx="4699000" cy="660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Directory sync — the steady state</a:t>
            </a:r>
            <a:endParaRPr lang="en-US" sz="1000" noProof="1"/>
          </a:p>
          <a:p>
            <a:pPr>
              <a:lnSpc>
                <a:spcPct val="130000"/>
              </a:lnSpc>
            </a:pPr>
            <a:r>
              <a:rPr lang="en-US" sz="850" noProof="1">
                <a:solidFill>
                  <a:srgbClr val="000000"/>
                </a:solidFill>
                <a:latin typeface="Liter"/>
                <a:ea typeface="MiSans"/>
              </a:rPr>
              <a:t>Directory Connector (AD/LDAP) or Azure AD sync makes the directory authoritative; Control Hub stops being a user database</a:t>
            </a:r>
            <a:endParaRPr lang="en-US" sz="1000" noProof="1"/>
          </a:p>
        </p:txBody>
      </p:sp>
      <p:sp>
        <p:nvSpPr>
          <p:cNvPr id="14" name="lic-box"/>
          <p:cNvSpPr/>
          <p:nvPr/>
        </p:nvSpPr>
        <p:spPr>
          <a:xfrm>
            <a:off x="6604000" y="4368800"/>
            <a:ext cx="4978400" cy="1219200"/>
          </a:xfrm>
          <a:prstGeom prst="roundRect">
            <a:avLst>
              <a:gd name="adj" fmla="val 12000"/>
            </a:avLst>
          </a:prstGeom>
          <a:solidFill>
            <a:srgbClr val="F3F3F3"/>
          </a:solidFill>
          <a:ln>
            <a:noFill/>
          </a:ln>
        </p:spPr>
      </p:sp>
      <p:sp>
        <p:nvSpPr>
          <p:cNvPr id="15" name="lic-box-t"/>
          <p:cNvSpPr txBox="1"/>
          <p:nvPr/>
        </p:nvSpPr>
        <p:spPr>
          <a:xfrm>
            <a:off x="6756400" y="4495800"/>
            <a:ext cx="46736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Licensing in one line</a:t>
            </a:r>
            <a:endParaRPr lang="en-US" sz="1000" noProof="1"/>
          </a:p>
          <a:p>
            <a:pPr>
              <a:lnSpc>
                <a:spcPct val="135000"/>
              </a:lnSpc>
              <a:spcBef>
                <a:spcPts val="600"/>
              </a:spcBef>
            </a:pPr>
            <a:r>
              <a:rPr lang="en-US" sz="1000" noProof="1">
                <a:solidFill>
                  <a:srgbClr val="5A5A5A"/>
                </a:solidFill>
                <a:latin typeface="Liter"/>
                <a:ea typeface="MiSans"/>
              </a:rPr>
              <a:t>Professional licenses attach to named users; workspace licenses serve common-area devices. Auto attendants and call queues are licensed per location — plan them with the location design, not per user.</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Control Hub administration, user and workspace management guides, help.webex.com</a:t>
            </a:r>
            <a:endParaRPr lang="en-US" sz="850" noProof="1"/>
          </a:p>
        </p:txBody>
      </p:sp>
      <p:sp>
        <p:nvSpPr>
          <p:cNvPr id="18" name="cml-footer-bar"/>
          <p:cNvSpPr/>
          <p:nvPr/>
        </p:nvSpPr>
        <p:spPr>
          <a:xfrm>
            <a:off x="0" y="6670000"/>
            <a:ext cx="12192000" cy="640000"/>
          </a:xfrm>
          <a:prstGeom prst="rect">
            <a:avLst/>
          </a:prstGeom>
          <a:solidFill>
            <a:srgbClr val="12161C"/>
          </a:solidFill>
          <a:ln>
            <a:noFill/>
          </a:ln>
        </p:spPr>
        <p:txBody>
          <a:bodyPr/>
          <a:lstStyle/>
          <a:p/>
        </p:txBody>
      </p:sp>
      <p:sp>
        <p:nvSpPr>
          <p:cNvPr id="19" name="cml-footer-rule"/>
          <p:cNvSpPr/>
          <p:nvPr/>
        </p:nvSpPr>
        <p:spPr>
          <a:xfrm>
            <a:off x="0" y="6670000"/>
            <a:ext cx="12192000" cy="19050"/>
          </a:xfrm>
          <a:prstGeom prst="rect">
            <a:avLst/>
          </a:prstGeom>
          <a:solidFill>
            <a:srgbClr val="2DD4BF"/>
          </a:solidFill>
          <a:ln>
            <a:noFill/>
          </a:ln>
        </p:spPr>
        <p:txBody>
          <a:bodyPr/>
          <a:lstStyle/>
          <a:p/>
        </p:txBody>
      </p:sp>
      <p:sp>
        <p:nvSpPr>
          <p:cNvPr id="2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1.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Three call-control homes, three operating contracts — decide who runs what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On-premises CUCM, hosted UCM Cloud, and Webex Calling differ less in features than in where the responsibility boundary sits.</a:t>
            </a:r>
            <a:endParaRPr lang="en-US" sz="1100" noProof="1"/>
          </a:p>
        </p:txBody>
      </p:sp>
      <p:graphicFrame>
        <p:nvGraphicFramePr>
          <p:cNvPr id="4" name="cmp-table"/>
          <p:cNvGraphicFramePr>
            <a:graphicFrameLocks noGrp="1"/>
          </p:cNvGraphicFramePr>
          <p:nvPr/>
        </p:nvGraphicFramePr>
        <p:xfrm>
          <a:off x="609600" y="1168400"/>
          <a:ext cx="10972800" cy="4064000"/>
        </p:xfrm>
        <a:graphic>
          <a:graphicData uri="http://schemas.openxmlformats.org/drawingml/2006/table">
            <a:tbl>
              <a:tblPr/>
              <a:tblGrid>
                <a:gridCol w="2194560"/>
                <a:gridCol w="2962656"/>
                <a:gridCol w="2852928"/>
                <a:gridCol w="2962656"/>
              </a:tblGrid>
              <a:tr h="365760">
                <a:tc>
                  <a:txBody>
                    <a:bodyPr wrap="square" rtlCol="0" anchor="ctr"/>
                    <a:lstStyle/>
                    <a:p>
                      <a:pPr algn="l"/>
                      <a:r>
                        <a:rPr lang="en-US" sz="1050" noProof="1" b="1">
                          <a:solidFill>
                            <a:srgbClr val="000000"/>
                          </a:solidFill>
                          <a:latin typeface="Liter"/>
                          <a:ea typeface="MiSans"/>
                        </a:rPr>
                        <a:t>Aspect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CUCM on-premises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UCM Cloud (hosted)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Calling (SaaS)</a:t>
                      </a:r>
                    </a:p>
                  </a:txBody>
                  <a:tcPr marL="91440" marR="91440" marT="45720" marB="45720" anchor="ctr">
                    <a:lnL>
                      <a:noFill/>
                    </a:lnL>
                    <a:lnR>
                      <a:noFill/>
                    </a:lnR>
                    <a:lnT>
                      <a:noFill/>
                    </a:lnT>
                    <a:lnB w="15240">
                      <a:solidFill>
                        <a:srgbClr val="000000"/>
                      </a:solidFill>
                    </a:lnB>
                    <a:noFill/>
                  </a:tcPr>
                </a:tc>
              </a:tr>
              <a:tr h="528320">
                <a:tc>
                  <a:txBody>
                    <a:bodyPr wrap="square" rtlCol="0" anchor="ctr"/>
                    <a:lstStyle/>
                    <a:p>
                      <a:pPr algn="l"/>
                      <a:r>
                        <a:rPr lang="en-US" sz="1050" noProof="1">
                          <a:solidFill>
                            <a:srgbClr val="000000"/>
                          </a:solidFill>
                          <a:latin typeface="Liter"/>
                          <a:ea typeface="MiSans"/>
                        </a:rPr>
                        <a:t>Servers and upgrades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 or your integrator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or partner operates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operates</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Hardware and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UCS, your DC</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provider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Cisco cloud regions</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Dial plan control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 CSS, partitions, route logic</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 same constructs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location-based, deliberately simpler</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PSTN access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trunks via CUBE / gateways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your trunks or provider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Calling Plans, Local Gateway, Cloud Connect</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Endpoints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full 8800 / MPP / Jabber range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same as on-premises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MPP phones, Webex app, ATA</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Survivability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SRST at the branch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SRST at the branch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survivability gateway</a:t>
                      </a:r>
                    </a:p>
                  </a:txBody>
                  <a:tcPr marL="91440" marR="91440" marT="45720" marB="45720" anchor="ctr">
                    <a:lnL>
                      <a:noFill/>
                    </a:lnL>
                    <a:lnR>
                      <a:noFill/>
                    </a:lnR>
                    <a:lnT>
                      <a:noFill/>
                    </a:lnT>
                    <a:lnB w="7620">
                      <a:solidFill>
                        <a:srgbClr val="D9D9D9"/>
                      </a:solidFill>
                    </a:lnB>
                    <a:noFill/>
                  </a:tcPr>
                </a:tc>
              </a:tr>
              <a:tr h="528320">
                <a:tc>
                  <a:txBody>
                    <a:bodyPr wrap="square" rtlCol="0" anchor="ctr"/>
                    <a:lstStyle/>
                    <a:p>
                      <a:pPr algn="l"/>
                      <a:r>
                        <a:rPr lang="en-US" sz="1050" noProof="1">
                          <a:solidFill>
                            <a:srgbClr val="000000"/>
                          </a:solidFill>
                          <a:latin typeface="Liter"/>
                          <a:ea typeface="MiSans"/>
                        </a:rPr>
                        <a:t>Best fit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complex dial plans, strict control, heavy compliance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keep CUCM logic, shed hardware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standardize, cloud-first, elastic scale</a:t>
                      </a:r>
                    </a:p>
                  </a:txBody>
                  <a:tcPr marL="91440" marR="91440" marT="45720" marB="45720" anchor="ctr">
                    <a:lnL>
                      <a:noFill/>
                    </a:lnL>
                    <a:lnR>
                      <a:noFill/>
                    </a:lnR>
                    <a:lnT>
                      <a:noFill/>
                    </a:lnT>
                    <a:lnB w="7620">
                      <a:solidFill>
                        <a:srgbClr val="D9D9D9"/>
                      </a:solidFill>
                    </a:lnB>
                    <a:noFill/>
                  </a:tcPr>
                </a:tc>
              </a:tr>
            </a:tbl>
          </a:graphicData>
        </a:graphic>
      </p:graphicFrame>
      <p:sp>
        <p:nvSpPr>
          <p:cNvPr id="5" name="cmp-note"/>
          <p:cNvSpPr txBox="1"/>
          <p:nvPr/>
        </p:nvSpPr>
        <p:spPr>
          <a:xfrm>
            <a:off x="609600" y="5435600"/>
            <a:ext cx="10972800" cy="711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Migration reality:</a:t>
            </a:r>
            <a:r>
              <a:rPr lang="en-US" sz="1250" noProof="1">
                <a:solidFill>
                  <a:srgbClr val="000000"/>
                </a:solidFill>
                <a:latin typeface="Liter"/>
                <a:ea typeface="MiSans"/>
              </a:rPr>
              <a:t> UCM Cloud preserves your dial-plan logic almost one-to-one; Webex Calling rewards redesign. Do not replicate legacy partition trees into locations — carry over the call flows users actually use, and let the rest retire.</a:t>
            </a:r>
            <a:endParaRPr lang="en-US" sz="1250" noProof="1"/>
          </a:p>
        </p:txBody>
      </p:sp>
      <p:sp>
        <p:nvSpPr>
          <p:cNvPr id="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UCM Cloud and Webex Calling solution overviews, cisco.com; responsibility boundaries as documented per offer</a:t>
            </a:r>
            <a:endParaRPr lang="en-US" sz="850" noProof="1"/>
          </a:p>
        </p:txBody>
      </p:sp>
      <p:sp>
        <p:nvSpPr>
          <p:cNvPr id="8" name="cml-footer-bar"/>
          <p:cNvSpPr/>
          <p:nvPr/>
        </p:nvSpPr>
        <p:spPr>
          <a:xfrm>
            <a:off x="0" y="6670000"/>
            <a:ext cx="12192000" cy="640000"/>
          </a:xfrm>
          <a:prstGeom prst="rect">
            <a:avLst/>
          </a:prstGeom>
          <a:solidFill>
            <a:srgbClr val="12161C"/>
          </a:solidFill>
          <a:ln>
            <a:noFill/>
          </a:ln>
        </p:spPr>
        <p:txBody>
          <a:bodyPr/>
          <a:lstStyle/>
          <a:p/>
        </p:txBody>
      </p:sp>
      <p:sp>
        <p:nvSpPr>
          <p:cNvPr id="9" name="cml-footer-rule"/>
          <p:cNvSpPr/>
          <p:nvPr/>
        </p:nvSpPr>
        <p:spPr>
          <a:xfrm>
            <a:off x="0" y="6670000"/>
            <a:ext cx="12192000" cy="19050"/>
          </a:xfrm>
          <a:prstGeom prst="rect">
            <a:avLst/>
          </a:prstGeom>
          <a:solidFill>
            <a:srgbClr val="2DD4BF"/>
          </a:solidFill>
          <a:ln>
            <a:noFill/>
          </a:ln>
        </p:spPr>
        <p:txBody>
          <a:bodyPr/>
          <a:lstStyle/>
          <a:p/>
        </p:txBody>
      </p:sp>
      <p:sp>
        <p:nvSpPr>
          <p:cNvPr id="1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Number porting and emergency calling are the top risks — both are testable gates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None of these risks is discovered late if the assessment phase is honest; each has a concrete validation step before the wave proceeds.</a:t>
            </a:r>
            <a:endParaRPr lang="en-US" sz="1100" noProof="1"/>
          </a:p>
        </p:txBody>
      </p:sp>
      <p:graphicFrame>
        <p:nvGraphicFramePr>
          <p:cNvPr id="4" name="risk-table"/>
          <p:cNvGraphicFramePr>
            <a:graphicFrameLocks noGrp="1"/>
          </p:cNvGraphicFramePr>
          <p:nvPr/>
        </p:nvGraphicFramePr>
        <p:xfrm>
          <a:off x="609600" y="1168400"/>
          <a:ext cx="10972800" cy="4064000"/>
        </p:xfrm>
        <a:graphic>
          <a:graphicData uri="http://schemas.openxmlformats.org/drawingml/2006/table">
            <a:tbl>
              <a:tblPr/>
              <a:tblGrid>
                <a:gridCol w="2194560"/>
                <a:gridCol w="2194560"/>
                <a:gridCol w="3730752"/>
                <a:gridCol w="2852928"/>
              </a:tblGrid>
              <a:tr h="406400">
                <a:tc>
                  <a:txBody>
                    <a:bodyPr wrap="square" rtlCol="0" anchor="ctr"/>
                    <a:lstStyle/>
                    <a:p>
                      <a:pPr algn="l"/>
                      <a:r>
                        <a:rPr lang="en-US" sz="1050" noProof="1" b="1">
                          <a:solidFill>
                            <a:srgbClr val="000000"/>
                          </a:solidFill>
                          <a:latin typeface="Liter"/>
                          <a:ea typeface="MiSans"/>
                        </a:rPr>
                        <a:t>Risk</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Severity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Mitigation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Validation gate</a:t>
                      </a:r>
                    </a:p>
                  </a:txBody>
                  <a:tcPr marL="91440" marR="91440" marT="45720" marB="45720" anchor="ctr">
                    <a:lnL>
                      <a:noFill/>
                    </a:lnL>
                    <a:lnR>
                      <a:noFill/>
                    </a:lnR>
                    <a:lnT>
                      <a:noFill/>
                    </a:lnT>
                    <a:lnB w="15240">
                      <a:solidFill>
                        <a:srgbClr val="000000"/>
                      </a:solidFill>
                    </a:lnB>
                    <a:noFill/>
                  </a:tcPr>
                </a:tc>
              </a:tr>
              <a:tr h="609600">
                <a:tc>
                  <a:txBody>
                    <a:bodyPr wrap="square" rtlCol="0" anchor="ctr"/>
                    <a:lstStyle/>
                    <a:p>
                      <a:pPr algn="l"/>
                      <a:r>
                        <a:rPr lang="en-US" sz="1050" noProof="1">
                          <a:solidFill>
                            <a:srgbClr val="000000"/>
                          </a:solidFill>
                          <a:latin typeface="Liter"/>
                          <a:ea typeface="MiSans"/>
                        </a:rPr>
                        <a:t>Number porting delays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high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order ports early; keep old trunks live during transition; stage a temporary DID redirect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port completion + inbound test calls per range</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E911 / emergency routing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high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location database per site; ELIN mapping; regulatory check per country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933/911 test call from each site</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Analog &amp; fax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ATAs / VG gateways; T.38 relay for fax; keep minimal ISDN for elevators/alarms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per-device functional test list</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WAN / QoS readiness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bandwidth per concurrent call (Opus adaptive); DSCP EF marking end-to-end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load test with MOS ≥ 4.0 at peak</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Feature parity gaps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map used CUCM features to Webex equivalents; script workarounds for hunt/paging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signed feature-mapping document</a:t>
                      </a:r>
                    </a:p>
                  </a:txBody>
                  <a:tcPr marL="91440" marR="91440" marT="45720" marB="45720" anchor="ctr">
                    <a:lnL>
                      <a:noFill/>
                    </a:lnL>
                    <a:lnR>
                      <a:noFill/>
                    </a:lnR>
                    <a:lnT>
                      <a:noFill/>
                    </a:lnT>
                    <a:lnB w="7620">
                      <a:solidFill>
                        <a:srgbClr val="D9D9D9"/>
                      </a:solidFill>
                    </a:lnB>
                    <a:noFill/>
                  </a:tcPr>
                </a:tc>
              </a:tr>
              <a:tr h="609600">
                <a:tc>
                  <a:txBody>
                    <a:bodyPr wrap="square" rtlCol="0" anchor="ctr"/>
                    <a:lstStyle/>
                    <a:p>
                      <a:pPr algn="l"/>
                      <a:r>
                        <a:rPr lang="en-US" sz="1050" noProof="1">
                          <a:solidFill>
                            <a:srgbClr val="000000"/>
                          </a:solidFill>
                          <a:latin typeface="Liter"/>
                          <a:ea typeface="MiSans"/>
                        </a:rPr>
                        <a:t>CC integration &amp; reporting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medium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rebuild CRM screen pops and WFM feeds against Webex CC APIs before queue cutover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parallel-run one queue for 2 weeks</a:t>
                      </a:r>
                    </a:p>
                  </a:txBody>
                  <a:tcPr marL="91440" marR="91440" marT="45720" marB="45720" anchor="ctr">
                    <a:lnL>
                      <a:noFill/>
                    </a:lnL>
                    <a:lnR>
                      <a:noFill/>
                    </a:lnR>
                    <a:lnT>
                      <a:noFill/>
                    </a:lnT>
                    <a:lnB w="7620">
                      <a:solidFill>
                        <a:srgbClr val="D9D9D9"/>
                      </a:solidFill>
                    </a:lnB>
                    <a:noFill/>
                  </a:tcPr>
                </a:tc>
              </a:tr>
            </a:tbl>
          </a:graphicData>
        </a:graphic>
      </p:graphicFrame>
      <p:sp>
        <p:nvSpPr>
          <p:cNvPr id="5" name="note"/>
          <p:cNvSpPr txBox="1"/>
          <p:nvPr/>
        </p:nvSpPr>
        <p:spPr>
          <a:xfrm>
            <a:off x="609600" y="5435600"/>
            <a:ext cx="10972800" cy="660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pattern to notice:</a:t>
            </a:r>
            <a:r>
              <a:rPr lang="en-US" sz="1250" noProof="1">
                <a:solidFill>
                  <a:srgbClr val="000000"/>
                </a:solidFill>
                <a:latin typeface="Liter"/>
                <a:ea typeface="MiSans"/>
              </a:rPr>
              <a:t> every mitigation ends in a </a:t>
            </a:r>
            <a:r>
              <a:rPr lang="en-US" sz="1250" noProof="1" b="1">
                <a:solidFill>
                  <a:srgbClr val="000000"/>
                </a:solidFill>
                <a:latin typeface="Liter"/>
                <a:ea typeface="MiSans"/>
              </a:rPr>
              <a:t>test that can fail</a:t>
            </a:r>
            <a:r>
              <a:rPr lang="en-US" sz="1250" noProof="1">
                <a:solidFill>
                  <a:srgbClr val="000000"/>
                </a:solidFill>
                <a:latin typeface="Liter"/>
                <a:ea typeface="MiSans"/>
              </a:rPr>
              <a:t> — inbound calls, a 911 test, a fax page, a load test. A migration plan without failure-capable gates is a schedule, not an engineering plan.</a:t>
            </a:r>
            <a:endParaRPr lang="en-US" sz="1250" noProof="1"/>
          </a:p>
        </p:txBody>
      </p:sp>
      <p:sp>
        <p:nvSpPr>
          <p:cNvPr id="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migration best practices and emergency-calling configuration guides, help.webex.com; severity ratings are editorial guidance</a:t>
            </a:r>
            <a:endParaRPr lang="en-US" sz="850" noProof="1"/>
          </a:p>
        </p:txBody>
      </p:sp>
      <p:sp>
        <p:nvSpPr>
          <p:cNvPr id="8" name="cml-footer-bar"/>
          <p:cNvSpPr/>
          <p:nvPr/>
        </p:nvSpPr>
        <p:spPr>
          <a:xfrm>
            <a:off x="0" y="6670000"/>
            <a:ext cx="12192000" cy="640000"/>
          </a:xfrm>
          <a:prstGeom prst="rect">
            <a:avLst/>
          </a:prstGeom>
          <a:solidFill>
            <a:srgbClr val="12161C"/>
          </a:solidFill>
          <a:ln>
            <a:noFill/>
          </a:ln>
        </p:spPr>
        <p:txBody>
          <a:bodyPr/>
          <a:lstStyle/>
          <a:p/>
        </p:txBody>
      </p:sp>
      <p:sp>
        <p:nvSpPr>
          <p:cNvPr id="9" name="cml-footer-rule"/>
          <p:cNvSpPr/>
          <p:nvPr/>
        </p:nvSpPr>
        <p:spPr>
          <a:xfrm>
            <a:off x="0" y="6670000"/>
            <a:ext cx="12192000" cy="19050"/>
          </a:xfrm>
          <a:prstGeom prst="rect">
            <a:avLst/>
          </a:prstGeom>
          <a:solidFill>
            <a:srgbClr val="2DD4BF"/>
          </a:solidFill>
          <a:ln>
            <a:noFill/>
          </a:ln>
        </p:spPr>
        <p:txBody>
          <a:bodyPr/>
          <a:lstStyle/>
          <a:p/>
        </p:txBody>
      </p:sp>
      <p:sp>
        <p:nvSpPr>
          <p:cNvPr id="1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3.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Number porting sets the migration calendar; emergency calling sets the safety floor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Ports move in carrier time — weeks, not days. Emergency-location rules are legal obligations, not product features.</a:t>
            </a:r>
            <a:endParaRPr lang="en-US" sz="1100" noProof="1"/>
          </a:p>
        </p:txBody>
      </p:sp>
      <p:sp>
        <p:nvSpPr>
          <p:cNvPr id="4" name="port-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porting path — six steps, one controlling date</a:t>
            </a:r>
            <a:endParaRPr lang="en-US" sz="1100" noProof="1"/>
          </a:p>
        </p:txBody>
      </p:sp>
      <p:sp>
        <p:nvSpPr>
          <p:cNvPr id="5" name="s1"/>
          <p:cNvSpPr/>
          <p:nvPr/>
        </p:nvSpPr>
        <p:spPr>
          <a:xfrm>
            <a:off x="609600" y="1447800"/>
            <a:ext cx="5588000" cy="609600"/>
          </a:xfrm>
          <a:prstGeom prst="rect">
            <a:avLst/>
          </a:prstGeom>
          <a:solidFill>
            <a:srgbClr val="F7F5F0"/>
          </a:solidFill>
          <a:ln w="10160">
            <a:solidFill>
              <a:srgbClr val="333333"/>
            </a:solidFill>
          </a:ln>
        </p:spPr>
      </p:sp>
      <p:sp>
        <p:nvSpPr>
          <p:cNvPr id="6" name="s1t"/>
          <p:cNvSpPr txBox="1"/>
          <p:nvPr/>
        </p:nvSpPr>
        <p:spPr>
          <a:xfrm>
            <a:off x="762000" y="14986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Inventory</a:t>
            </a:r>
            <a:r>
              <a:rPr lang="en-US" sz="950" noProof="1">
                <a:solidFill>
                  <a:srgbClr val="333333"/>
                </a:solidFill>
                <a:latin typeface="Liter"/>
                <a:ea typeface="MiSans"/>
              </a:rPr>
              <a:t> </a:t>
            </a:r>
            <a:r>
              <a:rPr lang="en-US" sz="850" noProof="1">
                <a:solidFill>
                  <a:srgbClr val="000000"/>
                </a:solidFill>
                <a:latin typeface="Liter"/>
                <a:ea typeface="MiSans"/>
              </a:rPr>
              <a:t>every DID, toll-free, fax and analog line, with verified ownership</a:t>
            </a:r>
            <a:endParaRPr lang="en-US" sz="950" noProof="1"/>
          </a:p>
        </p:txBody>
      </p:sp>
      <p:sp>
        <p:nvSpPr>
          <p:cNvPr id="7" name="sa1"/>
          <p:cNvSpPr/>
          <p:nvPr>
            <p:extLst>
              <p:ext uri="{F5677B7D-0D2A-4D9B-9A5C-6D8D7D0E5A5D}">
                <pptd:line encoding="base64url">eyJ2aWV3Qm94IjpbMSwxMF0sInBvaW50cyI6IjAsMCAwLDEwIn0</pptd:line>
              </p:ext>
            </p:extLst>
          </p:nvPr>
        </p:nvSpPr>
        <p:spPr>
          <a:xfrm>
            <a:off x="3403600" y="20574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8" name="s2"/>
          <p:cNvSpPr/>
          <p:nvPr/>
        </p:nvSpPr>
        <p:spPr>
          <a:xfrm>
            <a:off x="609600" y="2184400"/>
            <a:ext cx="5588000" cy="609600"/>
          </a:xfrm>
          <a:prstGeom prst="rect">
            <a:avLst/>
          </a:prstGeom>
          <a:solidFill>
            <a:srgbClr val="F7F5F0"/>
          </a:solidFill>
          <a:ln w="10160">
            <a:solidFill>
              <a:srgbClr val="333333"/>
            </a:solidFill>
          </a:ln>
        </p:spPr>
      </p:sp>
      <p:sp>
        <p:nvSpPr>
          <p:cNvPr id="9" name="s2t"/>
          <p:cNvSpPr txBox="1"/>
          <p:nvPr/>
        </p:nvSpPr>
        <p:spPr>
          <a:xfrm>
            <a:off x="762000" y="22352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LOA + CSR</a:t>
            </a:r>
            <a:r>
              <a:rPr lang="en-US" sz="950" noProof="1">
                <a:solidFill>
                  <a:srgbClr val="333333"/>
                </a:solidFill>
                <a:latin typeface="Liter"/>
                <a:ea typeface="MiSans"/>
              </a:rPr>
              <a:t> </a:t>
            </a:r>
            <a:r>
              <a:rPr lang="en-US" sz="850" noProof="1">
                <a:solidFill>
                  <a:srgbClr val="000000"/>
                </a:solidFill>
                <a:latin typeface="Liter"/>
                <a:ea typeface="MiSans"/>
              </a:rPr>
              <a:t>letter of agency and customer service record filed with the gaining carrier</a:t>
            </a:r>
            <a:endParaRPr lang="en-US" sz="950" noProof="1"/>
          </a:p>
        </p:txBody>
      </p:sp>
      <p:sp>
        <p:nvSpPr>
          <p:cNvPr id="10" name="sa2"/>
          <p:cNvSpPr/>
          <p:nvPr>
            <p:extLst>
              <p:ext uri="{F5677B7D-0D2A-4D9B-9A5C-6D8D7D0E5A5D}">
                <pptd:line encoding="base64url">eyJ2aWV3Qm94IjpbMSwxMF0sInBvaW50cyI6IjAsMCAwLDEwIn0</pptd:line>
              </p:ext>
            </p:extLst>
          </p:nvPr>
        </p:nvSpPr>
        <p:spPr>
          <a:xfrm>
            <a:off x="3403600" y="27940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1" name="s3"/>
          <p:cNvSpPr/>
          <p:nvPr/>
        </p:nvSpPr>
        <p:spPr>
          <a:xfrm>
            <a:off x="609600" y="2921000"/>
            <a:ext cx="5588000" cy="609600"/>
          </a:xfrm>
          <a:prstGeom prst="rect">
            <a:avLst/>
          </a:prstGeom>
          <a:solidFill>
            <a:srgbClr val="FBEEDD"/>
          </a:solidFill>
          <a:ln w="13970">
            <a:solidFill>
              <a:srgbClr val="E69138"/>
            </a:solidFill>
          </a:ln>
        </p:spPr>
      </p:sp>
      <p:sp>
        <p:nvSpPr>
          <p:cNvPr id="12" name="s3t"/>
          <p:cNvSpPr txBox="1"/>
          <p:nvPr/>
        </p:nvSpPr>
        <p:spPr>
          <a:xfrm>
            <a:off x="762000" y="29718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FOC date</a:t>
            </a:r>
            <a:r>
              <a:rPr lang="en-US" sz="950" noProof="1">
                <a:solidFill>
                  <a:srgbClr val="333333"/>
                </a:solidFill>
                <a:latin typeface="Liter"/>
                <a:ea typeface="MiSans"/>
              </a:rPr>
              <a:t> </a:t>
            </a:r>
            <a:r>
              <a:rPr lang="en-US" sz="850" noProof="1">
                <a:solidFill>
                  <a:srgbClr val="000000"/>
                </a:solidFill>
                <a:latin typeface="Liter"/>
                <a:ea typeface="MiSans"/>
              </a:rPr>
              <a:t>firm order commitment — the only date that matters; plan waves around it</a:t>
            </a:r>
            <a:endParaRPr lang="en-US" sz="950" noProof="1"/>
          </a:p>
        </p:txBody>
      </p:sp>
      <p:sp>
        <p:nvSpPr>
          <p:cNvPr id="13" name="sa3"/>
          <p:cNvSpPr/>
          <p:nvPr>
            <p:extLst>
              <p:ext uri="{F5677B7D-0D2A-4D9B-9A5C-6D8D7D0E5A5D}">
                <pptd:line encoding="base64url">eyJ2aWV3Qm94IjpbMSwxMF0sInBvaW50cyI6IjAsMCAwLDEwIn0</pptd:line>
              </p:ext>
            </p:extLst>
          </p:nvPr>
        </p:nvSpPr>
        <p:spPr>
          <a:xfrm>
            <a:off x="3403600" y="35306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4" name="s4"/>
          <p:cNvSpPr/>
          <p:nvPr/>
        </p:nvSpPr>
        <p:spPr>
          <a:xfrm>
            <a:off x="609600" y="3657600"/>
            <a:ext cx="5588000" cy="609600"/>
          </a:xfrm>
          <a:prstGeom prst="rect">
            <a:avLst/>
          </a:prstGeom>
          <a:solidFill>
            <a:srgbClr val="F7F5F0"/>
          </a:solidFill>
          <a:ln w="10160">
            <a:solidFill>
              <a:srgbClr val="333333"/>
            </a:solidFill>
          </a:ln>
        </p:spPr>
      </p:sp>
      <p:sp>
        <p:nvSpPr>
          <p:cNvPr id="15" name="s4t"/>
          <p:cNvSpPr txBox="1"/>
          <p:nvPr/>
        </p:nvSpPr>
        <p:spPr>
          <a:xfrm>
            <a:off x="762000" y="37084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Port window</a:t>
            </a:r>
            <a:r>
              <a:rPr lang="en-US" sz="950" noProof="1">
                <a:solidFill>
                  <a:srgbClr val="333333"/>
                </a:solidFill>
                <a:latin typeface="Liter"/>
                <a:ea typeface="MiSans"/>
              </a:rPr>
              <a:t> </a:t>
            </a:r>
            <a:r>
              <a:rPr lang="en-US" sz="850" noProof="1">
                <a:solidFill>
                  <a:srgbClr val="000000"/>
                </a:solidFill>
                <a:latin typeface="Liter"/>
                <a:ea typeface="MiSans"/>
              </a:rPr>
              <a:t>usually early morning; numbers cut in batches, with carrier escalation on standby</a:t>
            </a:r>
            <a:endParaRPr lang="en-US" sz="950" noProof="1"/>
          </a:p>
        </p:txBody>
      </p:sp>
      <p:sp>
        <p:nvSpPr>
          <p:cNvPr id="16" name="sa4"/>
          <p:cNvSpPr/>
          <p:nvPr>
            <p:extLst>
              <p:ext uri="{F5677B7D-0D2A-4D9B-9A5C-6D8D7D0E5A5D}">
                <pptd:line encoding="base64url">eyJ2aWV3Qm94IjpbMSwxMF0sInBvaW50cyI6IjAsMCAwLDEwIn0</pptd:line>
              </p:ext>
            </p:extLst>
          </p:nvPr>
        </p:nvSpPr>
        <p:spPr>
          <a:xfrm>
            <a:off x="3403600" y="42672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7" name="s5"/>
          <p:cNvSpPr/>
          <p:nvPr/>
        </p:nvSpPr>
        <p:spPr>
          <a:xfrm>
            <a:off x="609600" y="4394200"/>
            <a:ext cx="5588000" cy="609600"/>
          </a:xfrm>
          <a:prstGeom prst="rect">
            <a:avLst/>
          </a:prstGeom>
          <a:solidFill>
            <a:srgbClr val="F7F5F0"/>
          </a:solidFill>
          <a:ln w="10160">
            <a:solidFill>
              <a:srgbClr val="333333"/>
            </a:solidFill>
          </a:ln>
        </p:spPr>
      </p:sp>
      <p:sp>
        <p:nvSpPr>
          <p:cNvPr id="18" name="s5t"/>
          <p:cNvSpPr txBox="1"/>
          <p:nvPr/>
        </p:nvSpPr>
        <p:spPr>
          <a:xfrm>
            <a:off x="762000" y="44450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Verify</a:t>
            </a:r>
            <a:r>
              <a:rPr lang="en-US" sz="950" noProof="1">
                <a:solidFill>
                  <a:srgbClr val="333333"/>
                </a:solidFill>
                <a:latin typeface="Liter"/>
                <a:ea typeface="MiSans"/>
              </a:rPr>
              <a:t> </a:t>
            </a:r>
            <a:r>
              <a:rPr lang="en-US" sz="850" noProof="1">
                <a:solidFill>
                  <a:srgbClr val="000000"/>
                </a:solidFill>
                <a:latin typeface="Liter"/>
                <a:ea typeface="MiSans"/>
              </a:rPr>
              <a:t>inbound and outbound on every range, caller ID / CNAM, toll-free, fax</a:t>
            </a:r>
            <a:endParaRPr lang="en-US" sz="950" noProof="1"/>
          </a:p>
        </p:txBody>
      </p:sp>
      <p:sp>
        <p:nvSpPr>
          <p:cNvPr id="19" name="sa5"/>
          <p:cNvSpPr/>
          <p:nvPr>
            <p:extLst>
              <p:ext uri="{F5677B7D-0D2A-4D9B-9A5C-6D8D7D0E5A5D}">
                <pptd:line encoding="base64url">eyJ2aWV3Qm94IjpbMSwxMF0sInBvaW50cyI6IjAsMCAwLDEwIn0</pptd:line>
              </p:ext>
            </p:extLst>
          </p:nvPr>
        </p:nvSpPr>
        <p:spPr>
          <a:xfrm>
            <a:off x="3403600" y="50038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0" name="s6"/>
          <p:cNvSpPr/>
          <p:nvPr/>
        </p:nvSpPr>
        <p:spPr>
          <a:xfrm>
            <a:off x="609600" y="5130800"/>
            <a:ext cx="5588000" cy="609600"/>
          </a:xfrm>
          <a:prstGeom prst="rect">
            <a:avLst/>
          </a:prstGeom>
          <a:solidFill>
            <a:srgbClr val="F7F5F0"/>
          </a:solidFill>
          <a:ln w="10160">
            <a:solidFill>
              <a:srgbClr val="333333"/>
            </a:solidFill>
          </a:ln>
        </p:spPr>
      </p:sp>
      <p:sp>
        <p:nvSpPr>
          <p:cNvPr id="21" name="s6t"/>
          <p:cNvSpPr txBox="1"/>
          <p:nvPr/>
        </p:nvSpPr>
        <p:spPr>
          <a:xfrm>
            <a:off x="762000" y="5181600"/>
            <a:ext cx="5334000" cy="5080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6 · Disconnect old service</a:t>
            </a:r>
            <a:r>
              <a:rPr lang="en-US" sz="950" noProof="1">
                <a:solidFill>
                  <a:srgbClr val="333333"/>
                </a:solidFill>
                <a:latin typeface="Liter"/>
                <a:ea typeface="MiSans"/>
              </a:rPr>
              <a:t> </a:t>
            </a:r>
            <a:r>
              <a:rPr lang="en-US" sz="850" noProof="1">
                <a:solidFill>
                  <a:srgbClr val="000000"/>
                </a:solidFill>
                <a:latin typeface="Liter"/>
                <a:ea typeface="MiSans"/>
              </a:rPr>
              <a:t>only after the ported ranges prove stable for a full business cycle</a:t>
            </a:r>
            <a:endParaRPr lang="en-US" sz="950" noProof="1"/>
          </a:p>
        </p:txBody>
      </p:sp>
      <p:sp>
        <p:nvSpPr>
          <p:cNvPr id="22" name="e911-h"/>
          <p:cNvSpPr txBox="1"/>
          <p:nvPr/>
        </p:nvSpPr>
        <p:spPr>
          <a:xfrm>
            <a:off x="6731000" y="1143000"/>
            <a:ext cx="4851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Emergency calling — design duties per platform</a:t>
            </a:r>
            <a:endParaRPr lang="en-US" sz="1100" noProof="1"/>
          </a:p>
        </p:txBody>
      </p:sp>
      <p:sp>
        <p:nvSpPr>
          <p:cNvPr id="23" name="e911-t"/>
          <p:cNvSpPr txBox="1"/>
          <p:nvPr/>
        </p:nvSpPr>
        <p:spPr>
          <a:xfrm>
            <a:off x="6731000" y="1447800"/>
            <a:ext cx="4851400" cy="2133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On-premises:</a:t>
            </a:r>
            <a:r>
              <a:rPr lang="en-US" sz="1250" noProof="1">
                <a:solidFill>
                  <a:srgbClr val="000000"/>
                </a:solidFill>
                <a:latin typeface="Liter"/>
                <a:ea typeface="MiSans"/>
              </a:rPr>
              <a:t> map emergency response locations (ERL) to ELINs; update ALI records on every move so the PSAP receives a dispatchable address.</a:t>
            </a:r>
            <a:endParaRPr lang="en-US" sz="1250" noProof="1"/>
          </a:p>
          <a:p>
            <a:pPr>
              <a:lnSpc>
                <a:spcPct val="145000"/>
              </a:lnSpc>
              <a:spcBef>
                <a:spcPts val="800"/>
              </a:spcBef>
            </a:pPr>
            <a:r>
              <a:rPr lang="en-US" sz="1250" noProof="1" b="1">
                <a:solidFill>
                  <a:srgbClr val="000000"/>
                </a:solidFill>
                <a:latin typeface="Liter"/>
                <a:ea typeface="MiSans"/>
              </a:rPr>
              <a:t>Webex Calling:</a:t>
            </a:r>
            <a:r>
              <a:rPr lang="en-US" sz="1250" noProof="1">
                <a:solidFill>
                  <a:srgbClr val="000000"/>
                </a:solidFill>
                <a:latin typeface="Liter"/>
                <a:ea typeface="MiSans"/>
              </a:rPr>
              <a:t> locations carry emergency settings; soft-phone users resolve location dynamically (HELD-based). Administrators define workspace locations explicitly.</a:t>
            </a:r>
            <a:endParaRPr lang="en-US" sz="1250" noProof="1"/>
          </a:p>
          <a:p>
            <a:pPr>
              <a:lnSpc>
                <a:spcPct val="145000"/>
              </a:lnSpc>
              <a:spcBef>
                <a:spcPts val="800"/>
              </a:spcBef>
            </a:pPr>
            <a:r>
              <a:rPr lang="en-US" sz="1250" noProof="1" b="1">
                <a:solidFill>
                  <a:srgbClr val="000000"/>
                </a:solidFill>
                <a:latin typeface="Liter"/>
                <a:ea typeface="MiSans"/>
              </a:rPr>
              <a:t>Test with 933 (US)</a:t>
            </a:r>
            <a:r>
              <a:rPr lang="en-US" sz="1250" noProof="1">
                <a:solidFill>
                  <a:srgbClr val="000000"/>
                </a:solidFill>
                <a:latin typeface="Liter"/>
                <a:ea typeface="MiSans"/>
              </a:rPr>
              <a:t> after every location or ERL change — it reads back the address the PSAP would see, without dispatching responders.</a:t>
            </a:r>
            <a:endParaRPr lang="en-US" sz="1250" noProof="1"/>
          </a:p>
        </p:txBody>
      </p:sp>
      <p:sp>
        <p:nvSpPr>
          <p:cNvPr id="24" name="law-box"/>
          <p:cNvSpPr/>
          <p:nvPr/>
        </p:nvSpPr>
        <p:spPr>
          <a:xfrm>
            <a:off x="6731000" y="3759200"/>
            <a:ext cx="4851400" cy="1397000"/>
          </a:xfrm>
          <a:prstGeom prst="roundRect">
            <a:avLst>
              <a:gd name="adj" fmla="val 12000"/>
            </a:avLst>
          </a:prstGeom>
          <a:solidFill>
            <a:srgbClr val="F3F3F3"/>
          </a:solidFill>
          <a:ln>
            <a:noFill/>
          </a:ln>
        </p:spPr>
      </p:sp>
      <p:sp>
        <p:nvSpPr>
          <p:cNvPr id="25" name="law-box-t"/>
          <p:cNvSpPr txBox="1"/>
          <p:nvPr/>
        </p:nvSpPr>
        <p:spPr>
          <a:xfrm>
            <a:off x="6883400" y="3886200"/>
            <a:ext cx="4546600" cy="1168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legal floor (US)</a:t>
            </a:r>
            <a:endParaRPr lang="en-US" sz="1000" noProof="1"/>
          </a:p>
          <a:p>
            <a:pPr>
              <a:lnSpc>
                <a:spcPct val="135000"/>
              </a:lnSpc>
              <a:spcBef>
                <a:spcPts val="600"/>
              </a:spcBef>
            </a:pPr>
            <a:r>
              <a:rPr lang="en-US" sz="1000" noProof="1">
                <a:solidFill>
                  <a:srgbClr val="5A5A5A"/>
                </a:solidFill>
                <a:latin typeface="Liter"/>
                <a:ea typeface="MiSans"/>
              </a:rPr>
              <a:t>Kari's Law: direct 911 dialing — no prefix — plus on-site notification to a central point. RAY BAUM'S Act: a dispatchable location must accompany every 911 call, including from soft clients.</a:t>
            </a:r>
            <a:endParaRPr lang="en-US" sz="1000" noProof="1"/>
          </a:p>
          <a:p>
            <a:pPr>
              <a:lnSpc>
                <a:spcPct val="135000"/>
              </a:lnSpc>
              <a:spcBef>
                <a:spcPts val="600"/>
              </a:spcBef>
            </a:pPr>
            <a:r>
              <a:rPr lang="en-US" sz="1000" noProof="1">
                <a:solidFill>
                  <a:srgbClr val="5A5A5A"/>
                </a:solidFill>
                <a:latin typeface="Liter"/>
                <a:ea typeface="MiSans"/>
              </a:rPr>
              <a:t>Other jurisdictions impose equivalent duties — verify before every country wave.</a:t>
            </a:r>
            <a:endParaRPr lang="en-US" sz="1000" noProof="1"/>
          </a:p>
        </p:txBody>
      </p:sp>
      <p:sp>
        <p:nvSpPr>
          <p:cNvPr id="26" name="rej-note"/>
          <p:cNvSpPr txBox="1"/>
          <p:nvPr/>
        </p:nvSpPr>
        <p:spPr>
          <a:xfrm>
            <a:off x="6731000" y="5334000"/>
            <a:ext cx="4851400" cy="609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Why ports slip:</a:t>
            </a:r>
            <a:r>
              <a:rPr lang="en-US" sz="1000" noProof="1">
                <a:solidFill>
                  <a:srgbClr val="5A5A5A"/>
                </a:solidFill>
                <a:latin typeface="Liter"/>
                <a:ea typeface="MiSans"/>
              </a:rPr>
              <a:t> CSR mismatches, address mismatches, and pending orders on the losing account cause most rejections — audit the CSR against the invoice before filing the LOA.</a:t>
            </a:r>
            <a:endParaRPr lang="en-US" sz="100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carrier number-porting practice (LOA / FOC); Kari's Law and RAY BAUM'S Act; Webex emergency-calling documentation</a:t>
            </a:r>
            <a:endParaRPr lang="en-US" sz="850" noProof="1"/>
          </a:p>
        </p:txBody>
      </p:sp>
      <p:sp>
        <p:nvSpPr>
          <p:cNvPr id="29" name="cml-footer-bar"/>
          <p:cNvSpPr/>
          <p:nvPr/>
        </p:nvSpPr>
        <p:spPr>
          <a:xfrm>
            <a:off x="0" y="6670000"/>
            <a:ext cx="12192000" cy="640000"/>
          </a:xfrm>
          <a:prstGeom prst="rect">
            <a:avLst/>
          </a:prstGeom>
          <a:solidFill>
            <a:srgbClr val="12161C"/>
          </a:solidFill>
          <a:ln>
            <a:noFill/>
          </a:ln>
        </p:spPr>
        <p:txBody>
          <a:bodyPr/>
          <a:lstStyle/>
          <a:p/>
        </p:txBody>
      </p:sp>
      <p:sp>
        <p:nvSpPr>
          <p:cNvPr id="30" name="cml-footer-rule"/>
          <p:cNvSpPr/>
          <p:nvPr/>
        </p:nvSpPr>
        <p:spPr>
          <a:xfrm>
            <a:off x="0" y="6670000"/>
            <a:ext cx="12192000" cy="19050"/>
          </a:xfrm>
          <a:prstGeom prst="rect">
            <a:avLst/>
          </a:prstGeom>
          <a:solidFill>
            <a:srgbClr val="2DD4BF"/>
          </a:solidFill>
          <a:ln>
            <a:noFill/>
          </a:ln>
        </p:spPr>
        <p:txBody>
          <a:bodyPr/>
          <a:lstStyle/>
          <a:p/>
        </p:txBody>
      </p:sp>
      <p:sp>
        <p:nvSpPr>
          <p:cNvPr id="3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4.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Coexistence is the migration state: one directory, one dial plan, two call-control homes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Users move in waves; routing, voicemail, and directory must behave as if nothing changed.</a:t>
            </a:r>
            <a:endParaRPr lang="en-US" sz="1100" noProof="1"/>
          </a:p>
        </p:txBody>
      </p:sp>
      <p:sp>
        <p:nvSpPr>
          <p:cNvPr id="4" name="dial-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hybrid dial plan — four rules that keep calls short and cheap</a:t>
            </a:r>
            <a:endParaRPr lang="en-US" sz="1100" noProof="1"/>
          </a:p>
        </p:txBody>
      </p:sp>
      <p:sp>
        <p:nvSpPr>
          <p:cNvPr id="5" name="dial-t"/>
          <p:cNvSpPr txBox="1"/>
          <p:nvPr/>
        </p:nvSpPr>
        <p:spPr>
          <a:xfrm>
            <a:off x="609600" y="1447800"/>
            <a:ext cx="5461000" cy="248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1 · Normalize to +E.164 end to end</a:t>
            </a:r>
            <a:r>
              <a:rPr lang="en-US" sz="1250" noProof="1">
                <a:solidFill>
                  <a:srgbClr val="000000"/>
                </a:solidFill>
                <a:latin typeface="Liter"/>
                <a:ea typeface="MiSans"/>
              </a:rPr>
              <a:t> on both platforms, so any user is reachable by one canonical number regardless of home system.</a:t>
            </a:r>
            <a:endParaRPr lang="en-US" sz="1250" noProof="1"/>
          </a:p>
          <a:p>
            <a:pPr>
              <a:lnSpc>
                <a:spcPct val="145000"/>
              </a:lnSpc>
              <a:spcBef>
                <a:spcPts val="800"/>
              </a:spcBef>
            </a:pPr>
            <a:r>
              <a:rPr lang="en-US" sz="1250" noProof="1" b="1">
                <a:solidFill>
                  <a:srgbClr val="000000"/>
                </a:solidFill>
                <a:latin typeface="Liter"/>
                <a:ea typeface="MiSans"/>
              </a:rPr>
              <a:t>2 · Prefer a dedicated SIP trunk</a:t>
            </a:r>
            <a:r>
              <a:rPr lang="en-US" sz="1250" noProof="1">
                <a:solidFill>
                  <a:srgbClr val="000000"/>
                </a:solidFill>
                <a:latin typeface="Liter"/>
                <a:ea typeface="MiSans"/>
              </a:rPr>
              <a:t> between CUCM (via CUBE) and Webex Calling for inter-platform calls; the PSTN is the fallback, not the primary path.</a:t>
            </a:r>
            <a:endParaRPr lang="en-US" sz="1250" noProof="1"/>
          </a:p>
          <a:p>
            <a:pPr>
              <a:lnSpc>
                <a:spcPct val="145000"/>
              </a:lnSpc>
              <a:spcBef>
                <a:spcPts val="800"/>
              </a:spcBef>
            </a:pPr>
            <a:r>
              <a:rPr lang="en-US" sz="1250" noProof="1" b="1">
                <a:solidFill>
                  <a:srgbClr val="000000"/>
                </a:solidFill>
                <a:latin typeface="Liter"/>
                <a:ea typeface="MiSans"/>
              </a:rPr>
              <a:t>3 · Use steering digits or site codes</a:t>
            </a:r>
            <a:r>
              <a:rPr lang="en-US" sz="1250" noProof="1">
                <a:solidFill>
                  <a:srgbClr val="000000"/>
                </a:solidFill>
                <a:latin typeface="Liter"/>
                <a:ea typeface="MiSans"/>
              </a:rPr>
              <a:t> only where number ranges genuinely overlap; overlapping DIDs are a design smell to fix in the inventory phase.</a:t>
            </a:r>
            <a:endParaRPr lang="en-US" sz="1250" noProof="1"/>
          </a:p>
          <a:p>
            <a:pPr>
              <a:lnSpc>
                <a:spcPct val="145000"/>
              </a:lnSpc>
              <a:spcBef>
                <a:spcPts val="800"/>
              </a:spcBef>
            </a:pPr>
            <a:r>
              <a:rPr lang="en-US" sz="1250" noProof="1" b="1">
                <a:solidFill>
                  <a:srgbClr val="000000"/>
                </a:solidFill>
                <a:latin typeface="Liter"/>
                <a:ea typeface="MiSans"/>
              </a:rPr>
              <a:t>4 · Keep pilot users reachable</a:t>
            </a:r>
            <a:r>
              <a:rPr lang="en-US" sz="1250" noProof="1">
                <a:solidFill>
                  <a:srgbClr val="000000"/>
                </a:solidFill>
                <a:latin typeface="Liter"/>
                <a:ea typeface="MiSans"/>
              </a:rPr>
              <a:t> at their old number until the port completes.</a:t>
            </a:r>
            <a:endParaRPr lang="en-US" sz="1250" noProof="1"/>
          </a:p>
        </p:txBody>
      </p:sp>
      <p:sp>
        <p:nvSpPr>
          <p:cNvPr id="6" name="trunk-fig1"/>
          <p:cNvSpPr/>
          <p:nvPr/>
        </p:nvSpPr>
        <p:spPr>
          <a:xfrm>
            <a:off x="609600" y="4089400"/>
            <a:ext cx="1625600" cy="558800"/>
          </a:xfrm>
          <a:prstGeom prst="rect">
            <a:avLst/>
          </a:prstGeom>
          <a:solidFill>
            <a:srgbClr val="F7F5F0"/>
          </a:solidFill>
          <a:ln w="11430">
            <a:solidFill>
              <a:srgbClr val="333333"/>
            </a:solidFill>
          </a:ln>
        </p:spPr>
      </p:sp>
      <p:sp>
        <p:nvSpPr>
          <p:cNvPr id="7" name="trunk-fig1t"/>
          <p:cNvSpPr txBox="1"/>
          <p:nvPr/>
        </p:nvSpPr>
        <p:spPr>
          <a:xfrm>
            <a:off x="609600" y="4089400"/>
            <a:ext cx="16256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CUCM users</a:t>
            </a:r>
            <a:endParaRPr lang="en-US" sz="950" noProof="1"/>
          </a:p>
        </p:txBody>
      </p:sp>
      <p:sp>
        <p:nvSpPr>
          <p:cNvPr id="8" name="trunk-fig2"/>
          <p:cNvSpPr/>
          <p:nvPr/>
        </p:nvSpPr>
        <p:spPr>
          <a:xfrm>
            <a:off x="2590800" y="4089400"/>
            <a:ext cx="1320800" cy="558800"/>
          </a:xfrm>
          <a:prstGeom prst="rect">
            <a:avLst/>
          </a:prstGeom>
          <a:solidFill>
            <a:srgbClr val="F7F5F0"/>
          </a:solidFill>
          <a:ln w="11430">
            <a:solidFill>
              <a:srgbClr val="333333"/>
            </a:solidFill>
          </a:ln>
        </p:spPr>
      </p:sp>
      <p:sp>
        <p:nvSpPr>
          <p:cNvPr id="9" name="trunk-fig2t"/>
          <p:cNvSpPr txBox="1"/>
          <p:nvPr/>
        </p:nvSpPr>
        <p:spPr>
          <a:xfrm>
            <a:off x="2590800" y="4089400"/>
            <a:ext cx="13208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CUBE</a:t>
            </a:r>
            <a:endParaRPr lang="en-US" sz="950" noProof="1"/>
          </a:p>
        </p:txBody>
      </p:sp>
      <p:sp>
        <p:nvSpPr>
          <p:cNvPr id="10" name="trunk-fig3"/>
          <p:cNvSpPr/>
          <p:nvPr/>
        </p:nvSpPr>
        <p:spPr>
          <a:xfrm>
            <a:off x="4470400" y="4089400"/>
            <a:ext cx="1600200" cy="558800"/>
          </a:xfrm>
          <a:prstGeom prst="rect">
            <a:avLst/>
          </a:prstGeom>
          <a:solidFill>
            <a:srgbClr val="D2C7EB"/>
          </a:solidFill>
          <a:ln w="11430">
            <a:solidFill>
              <a:srgbClr val="333333"/>
            </a:solidFill>
          </a:ln>
        </p:spPr>
      </p:sp>
      <p:sp>
        <p:nvSpPr>
          <p:cNvPr id="11" name="trunk-fig3t"/>
          <p:cNvSpPr txBox="1"/>
          <p:nvPr/>
        </p:nvSpPr>
        <p:spPr>
          <a:xfrm>
            <a:off x="4470400" y="4089400"/>
            <a:ext cx="1600200" cy="558800"/>
          </a:xfrm>
          <a:prstGeom prst="rect">
            <a:avLst/>
          </a:prstGeom>
          <a:noFill/>
          <a:ln>
            <a:noFill/>
          </a:ln>
        </p:spPr>
        <p:txBody>
          <a:bodyPr lIns="0" rIns="0" tIns="0" bIns="0" wrap="square" rtlCol="0" anchor="ctr"/>
          <a:lstStyle/>
          <a:p>
            <a:pPr algn="ctr">
              <a:lnSpc>
                <a:spcPct val="120000"/>
              </a:lnSpc>
            </a:pPr>
            <a:r>
              <a:rPr lang="en-US" sz="950" noProof="1" b="1">
                <a:solidFill>
                  <a:srgbClr val="333333"/>
                </a:solidFill>
                <a:latin typeface="Liter"/>
                <a:ea typeface="MiSans"/>
              </a:rPr>
              <a:t>Webex Calling</a:t>
            </a:r>
            <a:endParaRPr lang="en-US" sz="950" noProof="1"/>
          </a:p>
        </p:txBody>
      </p:sp>
      <p:sp>
        <p:nvSpPr>
          <p:cNvPr id="12" name="trunk-a1"/>
          <p:cNvSpPr/>
          <p:nvPr>
            <p:extLst>
              <p:ext uri="{F5677B7D-0D2A-4D9B-9A5C-6D8D7D0E5A5D}">
                <pptd:line encoding="base64url">eyJ2aWV3Qm94IjpbMjgsMV0sInBvaW50cyI6IjAsMCAyOCwwIn0</pptd:line>
              </p:ext>
            </p:extLst>
          </p:nvPr>
        </p:nvSpPr>
        <p:spPr>
          <a:xfrm>
            <a:off x="2235200" y="4368800"/>
            <a:ext cx="355600" cy="12700"/>
          </a:xfrm>
          <a:custGeom>
            <a:avLst/>
            <a:gdLst/>
            <a:ahLst/>
            <a:cxnLst/>
            <a:rect l="l" t="t" r="r" b="b"/>
            <a:pathLst>
              <a:path w="28" h="1">
                <a:moveTo>
                  <a:pt x="0" y="0"/>
                </a:moveTo>
                <a:lnTo>
                  <a:pt x="28" y="0"/>
                </a:lnTo>
              </a:path>
            </a:pathLst>
          </a:custGeom>
          <a:noFill/>
          <a:ln w="15240" cap="rnd">
            <a:solidFill>
              <a:srgbClr val="E69138"/>
            </a:solidFill>
            <a:round/>
            <a:headEnd type="arrow"/>
            <a:tailEnd type="arrow"/>
          </a:ln>
        </p:spPr>
      </p:sp>
      <p:sp>
        <p:nvSpPr>
          <p:cNvPr id="13" name="trunk-a2"/>
          <p:cNvSpPr/>
          <p:nvPr>
            <p:extLst>
              <p:ext uri="{F5677B7D-0D2A-4D9B-9A5C-6D8D7D0E5A5D}">
                <pptd:line encoding="base64url">eyJ2aWV3Qm94IjpbNDQsMV0sInBvaW50cyI6IjAsMCA0NCwwIn0</pptd:line>
              </p:ext>
            </p:extLst>
          </p:nvPr>
        </p:nvSpPr>
        <p:spPr>
          <a:xfrm>
            <a:off x="3911600" y="4368800"/>
            <a:ext cx="558800" cy="12700"/>
          </a:xfrm>
          <a:custGeom>
            <a:avLst/>
            <a:gdLst/>
            <a:ahLst/>
            <a:cxnLst/>
            <a:rect l="l" t="t" r="r" b="b"/>
            <a:pathLst>
              <a:path w="44" h="1">
                <a:moveTo>
                  <a:pt x="0" y="0"/>
                </a:moveTo>
                <a:lnTo>
                  <a:pt x="44" y="0"/>
                </a:lnTo>
              </a:path>
            </a:pathLst>
          </a:custGeom>
          <a:noFill/>
          <a:ln w="15240" cap="rnd">
            <a:solidFill>
              <a:srgbClr val="E69138"/>
            </a:solidFill>
            <a:round/>
            <a:headEnd type="arrow"/>
            <a:tailEnd type="arrow"/>
          </a:ln>
        </p:spPr>
      </p:sp>
      <p:sp>
        <p:nvSpPr>
          <p:cNvPr id="14" name="trunk-a2t"/>
          <p:cNvSpPr txBox="1"/>
          <p:nvPr/>
        </p:nvSpPr>
        <p:spPr>
          <a:xfrm>
            <a:off x="3251200" y="4724400"/>
            <a:ext cx="2540000" cy="152400"/>
          </a:xfrm>
          <a:prstGeom prst="rect">
            <a:avLst/>
          </a:prstGeom>
          <a:noFill/>
          <a:ln>
            <a:noFill/>
          </a:ln>
        </p:spPr>
        <p:txBody>
          <a:bodyPr lIns="0" rIns="0" tIns="0" bIns="0" wrap="none" rtlCol="0"/>
          <a:lstStyle/>
          <a:p>
            <a:pPr>
              <a:lnSpc>
                <a:spcPct val="120000"/>
              </a:lnSpc>
            </a:pPr>
            <a:r>
              <a:rPr lang="en-US" sz="800" noProof="1">
                <a:solidFill>
                  <a:srgbClr val="5A5A5A"/>
                </a:solidFill>
                <a:latin typeface="JetBrains Mono"/>
                <a:ea typeface="MiSans"/>
              </a:rPr>
              <a:t>dedicated SIP trunk, TLS</a:t>
            </a:r>
            <a:endParaRPr lang="en-US" sz="800" noProof="1"/>
          </a:p>
        </p:txBody>
      </p:sp>
      <p:sp>
        <p:nvSpPr>
          <p:cNvPr id="15" name="dial-note"/>
          <p:cNvSpPr txBox="1"/>
          <p:nvPr/>
        </p:nvSpPr>
        <p:spPr>
          <a:xfrm>
            <a:off x="609600" y="5029200"/>
            <a:ext cx="5461000" cy="838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Route CUCM ↔ Webex calls over the direct trunk first; overflow to PSTN only on trunk failure — hair-pinning through the carrier adds cost and double media anchoring. Measure trunk utilization per wave: it saturates first as waves grow.</a:t>
            </a:r>
            <a:endParaRPr lang="en-US" sz="1000" noProof="1"/>
          </a:p>
        </p:txBody>
      </p:sp>
      <p:sp>
        <p:nvSpPr>
          <p:cNvPr id="16" name="svc-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Services that must not fork during coexistence</a:t>
            </a:r>
            <a:endParaRPr lang="en-US" sz="1100" noProof="1"/>
          </a:p>
        </p:txBody>
      </p:sp>
      <p:graphicFrame>
        <p:nvGraphicFramePr>
          <p:cNvPr id="17" name="svc-table"/>
          <p:cNvGraphicFramePr>
            <a:graphicFrameLocks noGrp="1"/>
          </p:cNvGraphicFramePr>
          <p:nvPr/>
        </p:nvGraphicFramePr>
        <p:xfrm>
          <a:off x="6604000" y="1447800"/>
          <a:ext cx="4978400" cy="2133600"/>
        </p:xfrm>
        <a:graphic>
          <a:graphicData uri="http://schemas.openxmlformats.org/drawingml/2006/table">
            <a:tbl>
              <a:tblPr/>
              <a:tblGrid>
                <a:gridCol w="1194816"/>
                <a:gridCol w="3783584"/>
              </a:tblGrid>
              <a:tr h="341376">
                <a:tc>
                  <a:txBody>
                    <a:bodyPr wrap="square" rtlCol="0" anchor="ctr"/>
                    <a:lstStyle/>
                    <a:p>
                      <a:pPr algn="l"/>
                      <a:r>
                        <a:rPr lang="en-US" sz="1050" noProof="1" b="1">
                          <a:solidFill>
                            <a:srgbClr val="000000"/>
                          </a:solidFill>
                          <a:latin typeface="Liter"/>
                          <a:ea typeface="MiSans"/>
                        </a:rPr>
                        <a:t>Service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Coexistence rule</a:t>
                      </a:r>
                    </a:p>
                  </a:txBody>
                  <a:tcPr marL="91440" marR="91440" marT="45720" marB="45720" anchor="ctr">
                    <a:lnL>
                      <a:noFill/>
                    </a:lnL>
                    <a:lnR>
                      <a:noFill/>
                    </a:lnR>
                    <a:lnT>
                      <a:noFill/>
                    </a:lnT>
                    <a:lnB w="15240">
                      <a:solidFill>
                        <a:srgbClr val="000000"/>
                      </a:solidFill>
                    </a:lnB>
                    <a:noFill/>
                  </a:tcPr>
                </a:tc>
              </a:tr>
              <a:tr h="597408">
                <a:tc>
                  <a:txBody>
                    <a:bodyPr wrap="square" rtlCol="0" anchor="ctr"/>
                    <a:lstStyle/>
                    <a:p>
                      <a:pPr algn="l"/>
                      <a:r>
                        <a:rPr lang="en-US" sz="1050" noProof="1">
                          <a:solidFill>
                            <a:srgbClr val="000000"/>
                          </a:solidFill>
                          <a:latin typeface="Liter"/>
                          <a:ea typeface="MiSans"/>
                        </a:rPr>
                        <a:t>Voicemail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Unity Connection serves CUCM users; cloud voicemail serves moved users — MWI follows the user's home system</a:t>
                      </a:r>
                    </a:p>
                  </a:txBody>
                  <a:tcPr marL="91440" marR="91440" marT="45720" marB="45720" anchor="ctr">
                    <a:lnL>
                      <a:noFill/>
                    </a:lnL>
                    <a:lnR>
                      <a:noFill/>
                    </a:lnR>
                    <a:lnT>
                      <a:noFill/>
                    </a:lnT>
                    <a:lnB w="7620">
                      <a:solidFill>
                        <a:srgbClr val="D9D9D9"/>
                      </a:solidFill>
                    </a:lnB>
                    <a:noFill/>
                  </a:tcPr>
                </a:tc>
              </a:tr>
              <a:tr h="597408">
                <a:tc>
                  <a:txBody>
                    <a:bodyPr wrap="square" rtlCol="0" anchor="ctr"/>
                    <a:lstStyle/>
                    <a:p>
                      <a:pPr algn="l"/>
                      <a:r>
                        <a:rPr lang="en-US" sz="1050" noProof="1">
                          <a:solidFill>
                            <a:srgbClr val="000000"/>
                          </a:solidFill>
                          <a:latin typeface="Liter"/>
                          <a:ea typeface="MiSans"/>
                        </a:rPr>
                        <a:t>Directory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 LDAP / AD source feeds both platforms; never maintain two directories</a:t>
                      </a:r>
                    </a:p>
                  </a:txBody>
                  <a:tcPr marL="91440" marR="91440" marT="45720" marB="45720" anchor="ctr">
                    <a:lnL>
                      <a:noFill/>
                    </a:lnL>
                    <a:lnR>
                      <a:noFill/>
                    </a:lnR>
                    <a:lnT>
                      <a:noFill/>
                    </a:lnT>
                    <a:lnB w="7620">
                      <a:solidFill>
                        <a:srgbClr val="D9D9D9"/>
                      </a:solidFill>
                    </a:lnB>
                    <a:noFill/>
                  </a:tcPr>
                </a:tc>
              </a:tr>
              <a:tr h="597408">
                <a:tc>
                  <a:txBody>
                    <a:bodyPr wrap="square" rtlCol="0" anchor="ctr"/>
                    <a:lstStyle/>
                    <a:p>
                      <a:pPr algn="l"/>
                      <a:r>
                        <a:rPr lang="en-US" sz="1050" noProof="1">
                          <a:solidFill>
                            <a:srgbClr val="000000"/>
                          </a:solidFill>
                          <a:latin typeface="Liter"/>
                          <a:ea typeface="MiSans"/>
                        </a:rPr>
                        <a:t>Meetings / IM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Webex app fronts both call-control homes; calling mode set per user</a:t>
                      </a:r>
                    </a:p>
                  </a:txBody>
                  <a:tcPr marL="91440" marR="91440" marT="45720" marB="45720" anchor="ctr">
                    <a:lnL>
                      <a:noFill/>
                    </a:lnL>
                    <a:lnR>
                      <a:noFill/>
                    </a:lnR>
                    <a:lnT>
                      <a:noFill/>
                    </a:lnT>
                    <a:lnB w="7620">
                      <a:solidFill>
                        <a:srgbClr val="D9D9D9"/>
                      </a:solidFill>
                    </a:lnB>
                    <a:noFill/>
                  </a:tcPr>
                </a:tc>
              </a:tr>
            </a:tbl>
          </a:graphicData>
        </a:graphic>
      </p:graphicFrame>
      <p:sp>
        <p:nvSpPr>
          <p:cNvPr id="18" name="move-box"/>
          <p:cNvSpPr/>
          <p:nvPr/>
        </p:nvSpPr>
        <p:spPr>
          <a:xfrm>
            <a:off x="6604000" y="3810000"/>
            <a:ext cx="4978400" cy="1371600"/>
          </a:xfrm>
          <a:prstGeom prst="roundRect">
            <a:avLst>
              <a:gd name="adj" fmla="val 12000"/>
            </a:avLst>
          </a:prstGeom>
          <a:solidFill>
            <a:srgbClr val="F3F3F3"/>
          </a:solidFill>
          <a:ln>
            <a:noFill/>
          </a:ln>
        </p:spPr>
      </p:sp>
      <p:sp>
        <p:nvSpPr>
          <p:cNvPr id="19" name="move-box-t"/>
          <p:cNvSpPr txBox="1"/>
          <p:nvPr/>
        </p:nvSpPr>
        <p:spPr>
          <a:xfrm>
            <a:off x="6756400" y="3937000"/>
            <a:ext cx="46736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Move users, not features</a:t>
            </a:r>
            <a:endParaRPr lang="en-US" sz="1000" noProof="1"/>
          </a:p>
          <a:p>
            <a:pPr>
              <a:lnSpc>
                <a:spcPct val="135000"/>
              </a:lnSpc>
              <a:spcBef>
                <a:spcPts val="600"/>
              </a:spcBef>
            </a:pPr>
            <a:r>
              <a:rPr lang="en-US" sz="1000" noProof="1">
                <a:solidFill>
                  <a:srgbClr val="5A5A5A"/>
                </a:solidFill>
                <a:latin typeface="Liter"/>
                <a:ea typeface="MiSans"/>
              </a:rPr>
              <a:t>Recreate only what is used: call-park slots, pickup groups, and hunt pilots with zero calls in 90 days do not migrate — document them as retired. Usage data from CDR / CMR decides, not recollection.</a:t>
            </a:r>
            <a:endParaRPr lang="en-US" sz="1000" noProof="1"/>
          </a:p>
        </p:txBody>
      </p:sp>
      <p:sp>
        <p:nvSpPr>
          <p:cNvPr id="20" name="svc-note"/>
          <p:cNvSpPr txBox="1"/>
          <p:nvPr/>
        </p:nvSpPr>
        <p:spPr>
          <a:xfrm>
            <a:off x="6604000" y="5384800"/>
            <a:ext cx="4978400" cy="558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Decommission rule:</a:t>
            </a:r>
            <a:r>
              <a:rPr lang="en-US" sz="1000" noProof="1">
                <a:solidFill>
                  <a:srgbClr val="5A5A5A"/>
                </a:solidFill>
                <a:latin typeface="Liter"/>
                <a:ea typeface="MiSans"/>
              </a:rPr>
              <a:t> retire a legacy component only when it has zero users and zero dependencies — verify with reports, not with silence.</a:t>
            </a:r>
            <a:endParaRPr lang="en-US" sz="1000" noProof="1"/>
          </a:p>
        </p:txBody>
      </p:sp>
      <p:sp>
        <p:nvSpPr>
          <p:cNvPr id="2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Webex Calling and CUCM hybrid deployment guidance; directory-sync and voicemail coexistence documentation</a:t>
            </a:r>
            <a:endParaRPr lang="en-US" sz="850" noProof="1"/>
          </a:p>
        </p:txBody>
      </p:sp>
      <p:sp>
        <p:nvSpPr>
          <p:cNvPr id="23" name="cml-footer-bar"/>
          <p:cNvSpPr/>
          <p:nvPr/>
        </p:nvSpPr>
        <p:spPr>
          <a:xfrm>
            <a:off x="0" y="6670000"/>
            <a:ext cx="12192000" cy="640000"/>
          </a:xfrm>
          <a:prstGeom prst="rect">
            <a:avLst/>
          </a:prstGeom>
          <a:solidFill>
            <a:srgbClr val="12161C"/>
          </a:solidFill>
          <a:ln>
            <a:noFill/>
          </a:ln>
        </p:spPr>
        <p:txBody>
          <a:bodyPr/>
          <a:lstStyle/>
          <a:p/>
        </p:txBody>
      </p:sp>
      <p:sp>
        <p:nvSpPr>
          <p:cNvPr id="24" name="cml-footer-rule"/>
          <p:cNvSpPr/>
          <p:nvPr/>
        </p:nvSpPr>
        <p:spPr>
          <a:xfrm>
            <a:off x="0" y="6670000"/>
            <a:ext cx="12192000" cy="19050"/>
          </a:xfrm>
          <a:prstGeom prst="rect">
            <a:avLst/>
          </a:prstGeom>
          <a:solidFill>
            <a:srgbClr val="2DD4BF"/>
          </a:solidFill>
          <a:ln>
            <a:noFill/>
          </a:ln>
        </p:spPr>
        <p:txBody>
          <a:bodyPr/>
          <a:lstStyle/>
          <a:p/>
        </p:txBody>
      </p:sp>
      <p:sp>
        <p:nvSpPr>
          <p:cNvPr id="2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5.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 6–12 month migration runs in five phases, each closed by a gate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schedule for a 3,000-user enterprise; compress or stretch to your change windows and porting FOC dates.</a:t>
            </a:r>
            <a:endParaRPr lang="en-US" sz="1100" noProof="1"/>
          </a:p>
        </p:txBody>
      </p:sp>
      <p:sp>
        <p:nvSpPr>
          <p:cNvPr id="4" name="ph1"/>
          <p:cNvSpPr/>
          <p:nvPr/>
        </p:nvSpPr>
        <p:spPr>
          <a:xfrm>
            <a:off x="609600" y="1270000"/>
            <a:ext cx="1981200" cy="939800"/>
          </a:xfrm>
          <a:prstGeom prst="rect">
            <a:avLst/>
          </a:prstGeom>
          <a:solidFill>
            <a:srgbClr val="F7F5F0"/>
          </a:solidFill>
          <a:ln w="11430">
            <a:solidFill>
              <a:srgbClr val="333333"/>
            </a:solidFill>
          </a:ln>
        </p:spPr>
      </p:sp>
      <p:sp>
        <p:nvSpPr>
          <p:cNvPr id="5" name="ph1t"/>
          <p:cNvSpPr txBox="1"/>
          <p:nvPr/>
        </p:nvSpPr>
        <p:spPr>
          <a:xfrm>
            <a:off x="7112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Assess</a:t>
            </a:r>
            <a:endParaRPr lang="en-US" sz="950" noProof="1"/>
          </a:p>
          <a:p>
            <a:pPr>
              <a:lnSpc>
                <a:spcPct val="128000"/>
              </a:lnSpc>
            </a:pPr>
            <a:r>
              <a:rPr lang="en-US" sz="800" noProof="1">
                <a:solidFill>
                  <a:srgbClr val="000000"/>
                </a:solidFill>
                <a:latin typeface="Liter"/>
                <a:ea typeface="MiSans"/>
              </a:rPr>
              <a:t>M0–M1</a:t>
            </a:r>
            <a:endParaRPr lang="en-US" sz="950" noProof="1"/>
          </a:p>
          <a:p>
            <a:pPr>
              <a:lnSpc>
                <a:spcPct val="128000"/>
              </a:lnSpc>
            </a:pPr>
            <a:r>
              <a:rPr lang="en-US" sz="850" noProof="1">
                <a:solidFill>
                  <a:srgbClr val="333333"/>
                </a:solidFill>
                <a:latin typeface="Liter"/>
                <a:ea typeface="MiSans"/>
              </a:rPr>
              <a:t>inventory, dependency map, network readiness</a:t>
            </a:r>
            <a:endParaRPr lang="en-US" sz="950" noProof="1"/>
          </a:p>
        </p:txBody>
      </p:sp>
      <p:sp>
        <p:nvSpPr>
          <p:cNvPr id="6" name="ph2"/>
          <p:cNvSpPr/>
          <p:nvPr/>
        </p:nvSpPr>
        <p:spPr>
          <a:xfrm>
            <a:off x="2844800" y="1270000"/>
            <a:ext cx="1981200" cy="939800"/>
          </a:xfrm>
          <a:prstGeom prst="rect">
            <a:avLst/>
          </a:prstGeom>
          <a:solidFill>
            <a:srgbClr val="F7F5F0"/>
          </a:solidFill>
          <a:ln w="11430">
            <a:solidFill>
              <a:srgbClr val="333333"/>
            </a:solidFill>
          </a:ln>
        </p:spPr>
      </p:sp>
      <p:sp>
        <p:nvSpPr>
          <p:cNvPr id="7" name="ph2t"/>
          <p:cNvSpPr txBox="1"/>
          <p:nvPr/>
        </p:nvSpPr>
        <p:spPr>
          <a:xfrm>
            <a:off x="29464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Design</a:t>
            </a:r>
            <a:endParaRPr lang="en-US" sz="950" noProof="1"/>
          </a:p>
          <a:p>
            <a:pPr>
              <a:lnSpc>
                <a:spcPct val="128000"/>
              </a:lnSpc>
            </a:pPr>
            <a:r>
              <a:rPr lang="en-US" sz="800" noProof="1">
                <a:solidFill>
                  <a:srgbClr val="000000"/>
                </a:solidFill>
                <a:latin typeface="Liter"/>
                <a:ea typeface="MiSans"/>
              </a:rPr>
              <a:t>M1–M3</a:t>
            </a:r>
            <a:endParaRPr lang="en-US" sz="950" noProof="1"/>
          </a:p>
          <a:p>
            <a:pPr>
              <a:lnSpc>
                <a:spcPct val="128000"/>
              </a:lnSpc>
            </a:pPr>
            <a:r>
              <a:rPr lang="en-US" sz="850" noProof="1">
                <a:solidFill>
                  <a:srgbClr val="333333"/>
                </a:solidFill>
                <a:latin typeface="Liter"/>
                <a:ea typeface="MiSans"/>
              </a:rPr>
              <a:t>locations, dial plan, security review, LOAs filed</a:t>
            </a:r>
            <a:endParaRPr lang="en-US" sz="950" noProof="1"/>
          </a:p>
        </p:txBody>
      </p:sp>
      <p:sp>
        <p:nvSpPr>
          <p:cNvPr id="8" name="ph3"/>
          <p:cNvSpPr/>
          <p:nvPr/>
        </p:nvSpPr>
        <p:spPr>
          <a:xfrm>
            <a:off x="5080000" y="1270000"/>
            <a:ext cx="1981200" cy="939800"/>
          </a:xfrm>
          <a:prstGeom prst="rect">
            <a:avLst/>
          </a:prstGeom>
          <a:solidFill>
            <a:srgbClr val="FBEEDD"/>
          </a:solidFill>
          <a:ln w="13970">
            <a:solidFill>
              <a:srgbClr val="E69138"/>
            </a:solidFill>
          </a:ln>
        </p:spPr>
      </p:sp>
      <p:sp>
        <p:nvSpPr>
          <p:cNvPr id="9" name="ph3t"/>
          <p:cNvSpPr txBox="1"/>
          <p:nvPr/>
        </p:nvSpPr>
        <p:spPr>
          <a:xfrm>
            <a:off x="51816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Pilot</a:t>
            </a:r>
            <a:endParaRPr lang="en-US" sz="950" noProof="1"/>
          </a:p>
          <a:p>
            <a:pPr>
              <a:lnSpc>
                <a:spcPct val="128000"/>
              </a:lnSpc>
            </a:pPr>
            <a:r>
              <a:rPr lang="en-US" sz="800" noProof="1">
                <a:solidFill>
                  <a:srgbClr val="000000"/>
                </a:solidFill>
                <a:latin typeface="Liter"/>
                <a:ea typeface="MiSans"/>
              </a:rPr>
              <a:t>M3–M5</a:t>
            </a:r>
            <a:endParaRPr lang="en-US" sz="950" noProof="1"/>
          </a:p>
          <a:p>
            <a:pPr>
              <a:lnSpc>
                <a:spcPct val="128000"/>
              </a:lnSpc>
            </a:pPr>
            <a:r>
              <a:rPr lang="en-US" sz="850" noProof="1">
                <a:solidFill>
                  <a:srgbClr val="333333"/>
                </a:solidFill>
                <a:latin typeface="Liter"/>
                <a:ea typeface="MiSans"/>
              </a:rPr>
              <a:t>5% of users — IT plus volunteers; measured exit</a:t>
            </a:r>
            <a:endParaRPr lang="en-US" sz="950" noProof="1"/>
          </a:p>
        </p:txBody>
      </p:sp>
      <p:sp>
        <p:nvSpPr>
          <p:cNvPr id="10" name="ph4"/>
          <p:cNvSpPr/>
          <p:nvPr/>
        </p:nvSpPr>
        <p:spPr>
          <a:xfrm>
            <a:off x="7315200" y="1270000"/>
            <a:ext cx="1981200" cy="939800"/>
          </a:xfrm>
          <a:prstGeom prst="rect">
            <a:avLst/>
          </a:prstGeom>
          <a:solidFill>
            <a:srgbClr val="F7F5F0"/>
          </a:solidFill>
          <a:ln w="11430">
            <a:solidFill>
              <a:srgbClr val="333333"/>
            </a:solidFill>
          </a:ln>
        </p:spPr>
      </p:sp>
      <p:sp>
        <p:nvSpPr>
          <p:cNvPr id="11" name="ph4t"/>
          <p:cNvSpPr txBox="1"/>
          <p:nvPr/>
        </p:nvSpPr>
        <p:spPr>
          <a:xfrm>
            <a:off x="7416800" y="1346200"/>
            <a:ext cx="17780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Waves</a:t>
            </a:r>
            <a:endParaRPr lang="en-US" sz="950" noProof="1"/>
          </a:p>
          <a:p>
            <a:pPr>
              <a:lnSpc>
                <a:spcPct val="128000"/>
              </a:lnSpc>
            </a:pPr>
            <a:r>
              <a:rPr lang="en-US" sz="800" noProof="1">
                <a:solidFill>
                  <a:srgbClr val="000000"/>
                </a:solidFill>
                <a:latin typeface="Liter"/>
                <a:ea typeface="MiSans"/>
              </a:rPr>
              <a:t>M5–M10</a:t>
            </a:r>
            <a:endParaRPr lang="en-US" sz="950" noProof="1"/>
          </a:p>
          <a:p>
            <a:pPr>
              <a:lnSpc>
                <a:spcPct val="128000"/>
              </a:lnSpc>
            </a:pPr>
            <a:r>
              <a:rPr lang="en-US" sz="850" noProof="1">
                <a:solidFill>
                  <a:srgbClr val="333333"/>
                </a:solidFill>
                <a:latin typeface="Liter"/>
                <a:ea typeface="MiSans"/>
              </a:rPr>
              <a:t>200–400 users per wave, ports per FOC date</a:t>
            </a:r>
            <a:endParaRPr lang="en-US" sz="950" noProof="1"/>
          </a:p>
        </p:txBody>
      </p:sp>
      <p:sp>
        <p:nvSpPr>
          <p:cNvPr id="12" name="ph5"/>
          <p:cNvSpPr/>
          <p:nvPr/>
        </p:nvSpPr>
        <p:spPr>
          <a:xfrm>
            <a:off x="9550400" y="1270000"/>
            <a:ext cx="2032000" cy="939800"/>
          </a:xfrm>
          <a:prstGeom prst="rect">
            <a:avLst/>
          </a:prstGeom>
          <a:solidFill>
            <a:srgbClr val="F7F5F0"/>
          </a:solidFill>
          <a:ln w="11430">
            <a:solidFill>
              <a:srgbClr val="333333"/>
            </a:solidFill>
          </a:ln>
        </p:spPr>
      </p:sp>
      <p:sp>
        <p:nvSpPr>
          <p:cNvPr id="13" name="ph5t"/>
          <p:cNvSpPr txBox="1"/>
          <p:nvPr/>
        </p:nvSpPr>
        <p:spPr>
          <a:xfrm>
            <a:off x="9652000" y="1346200"/>
            <a:ext cx="1828800" cy="7874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Decommission</a:t>
            </a:r>
            <a:endParaRPr lang="en-US" sz="950" noProof="1"/>
          </a:p>
          <a:p>
            <a:pPr>
              <a:lnSpc>
                <a:spcPct val="128000"/>
              </a:lnSpc>
            </a:pPr>
            <a:r>
              <a:rPr lang="en-US" sz="800" noProof="1">
                <a:solidFill>
                  <a:srgbClr val="000000"/>
                </a:solidFill>
                <a:latin typeface="Liter"/>
                <a:ea typeface="MiSans"/>
              </a:rPr>
              <a:t>M10–M12</a:t>
            </a:r>
            <a:endParaRPr lang="en-US" sz="950" noProof="1"/>
          </a:p>
          <a:p>
            <a:pPr>
              <a:lnSpc>
                <a:spcPct val="128000"/>
              </a:lnSpc>
            </a:pPr>
            <a:r>
              <a:rPr lang="en-US" sz="850" noProof="1">
                <a:solidFill>
                  <a:srgbClr val="333333"/>
                </a:solidFill>
                <a:latin typeface="Liter"/>
                <a:ea typeface="MiSans"/>
              </a:rPr>
              <a:t>trunks, gateways, servers, contracts</a:t>
            </a:r>
            <a:endParaRPr lang="en-US" sz="950" noProof="1"/>
          </a:p>
        </p:txBody>
      </p:sp>
      <p:sp>
        <p:nvSpPr>
          <p:cNvPr id="14" name="pa1"/>
          <p:cNvSpPr/>
          <p:nvPr>
            <p:extLst>
              <p:ext uri="{F5677B7D-0D2A-4D9B-9A5C-6D8D7D0E5A5D}">
                <pptd:line encoding="base64url">eyJ2aWV3Qm94IjpbMjAsMV0sInBvaW50cyI6IjAsMCAyMCwwIn0</pptd:line>
              </p:ext>
            </p:extLst>
          </p:nvPr>
        </p:nvSpPr>
        <p:spPr>
          <a:xfrm>
            <a:off x="25908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5" name="pa2"/>
          <p:cNvSpPr/>
          <p:nvPr>
            <p:extLst>
              <p:ext uri="{F5677B7D-0D2A-4D9B-9A5C-6D8D7D0E5A5D}">
                <pptd:line encoding="base64url">eyJ2aWV3Qm94IjpbMjAsMV0sInBvaW50cyI6IjAsMCAyMCwwIn0</pptd:line>
              </p:ext>
            </p:extLst>
          </p:nvPr>
        </p:nvSpPr>
        <p:spPr>
          <a:xfrm>
            <a:off x="48260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6" name="pa3"/>
          <p:cNvSpPr/>
          <p:nvPr>
            <p:extLst>
              <p:ext uri="{F5677B7D-0D2A-4D9B-9A5C-6D8D7D0E5A5D}">
                <pptd:line encoding="base64url">eyJ2aWV3Qm94IjpbMjAsMV0sInBvaW50cyI6IjAsMCAyMCwwIn0</pptd:line>
              </p:ext>
            </p:extLst>
          </p:nvPr>
        </p:nvSpPr>
        <p:spPr>
          <a:xfrm>
            <a:off x="70612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7" name="pa4"/>
          <p:cNvSpPr/>
          <p:nvPr>
            <p:extLst>
              <p:ext uri="{F5677B7D-0D2A-4D9B-9A5C-6D8D7D0E5A5D}">
                <pptd:line encoding="base64url">eyJ2aWV3Qm94IjpbMjAsMV0sInBvaW50cyI6IjAsMCAyMCwwIn0</pptd:line>
              </p:ext>
            </p:extLst>
          </p:nvPr>
        </p:nvSpPr>
        <p:spPr>
          <a:xfrm>
            <a:off x="9296400" y="1739900"/>
            <a:ext cx="254000" cy="12700"/>
          </a:xfrm>
          <a:custGeom>
            <a:avLst/>
            <a:gdLst/>
            <a:ahLst/>
            <a:cxnLst/>
            <a:rect l="l" t="t" r="r" b="b"/>
            <a:pathLst>
              <a:path w="20" h="1">
                <a:moveTo>
                  <a:pt x="0" y="0"/>
                </a:moveTo>
                <a:lnTo>
                  <a:pt x="20" y="0"/>
                </a:lnTo>
              </a:path>
            </a:pathLst>
          </a:custGeom>
          <a:noFill/>
          <a:ln w="15240" cap="rnd">
            <a:solidFill>
              <a:srgbClr val="E69138"/>
            </a:solidFill>
            <a:round/>
            <a:tailEnd type="arrow"/>
          </a:ln>
        </p:spPr>
      </p:sp>
      <p:sp>
        <p:nvSpPr>
          <p:cNvPr id="18" name="g-h"/>
          <p:cNvSpPr txBox="1"/>
          <p:nvPr/>
        </p:nvSpPr>
        <p:spPr>
          <a:xfrm>
            <a:off x="609600" y="2489200"/>
            <a:ext cx="10972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gates between phases — objective, signed, and reversible to a No-Go</a:t>
            </a:r>
            <a:endParaRPr lang="en-US" sz="1100" noProof="1"/>
          </a:p>
        </p:txBody>
      </p:sp>
      <p:sp>
        <p:nvSpPr>
          <p:cNvPr id="19" name="g1"/>
          <p:cNvSpPr/>
          <p:nvPr/>
        </p:nvSpPr>
        <p:spPr>
          <a:xfrm>
            <a:off x="609600" y="2794000"/>
            <a:ext cx="2540000" cy="1168400"/>
          </a:xfrm>
          <a:prstGeom prst="rect">
            <a:avLst/>
          </a:prstGeom>
          <a:solidFill>
            <a:srgbClr val="FFFFFF"/>
          </a:solidFill>
          <a:ln w="12700">
            <a:solidFill>
              <a:srgbClr val="E69138"/>
            </a:solidFill>
          </a:ln>
        </p:spPr>
      </p:sp>
      <p:sp>
        <p:nvSpPr>
          <p:cNvPr id="20" name="g1t"/>
          <p:cNvSpPr txBox="1"/>
          <p:nvPr/>
        </p:nvSpPr>
        <p:spPr>
          <a:xfrm>
            <a:off x="736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1 → Design</a:t>
            </a:r>
            <a:endParaRPr lang="en-US" sz="950" noProof="1"/>
          </a:p>
          <a:p>
            <a:pPr>
              <a:lnSpc>
                <a:spcPct val="130000"/>
              </a:lnSpc>
            </a:pPr>
            <a:r>
              <a:rPr lang="en-US" sz="850" noProof="1">
                <a:solidFill>
                  <a:srgbClr val="000000"/>
                </a:solidFill>
                <a:latin typeface="Liter"/>
                <a:ea typeface="MiSans"/>
              </a:rPr>
              <a:t>readiness report signed; QoS and bandwidth gaps funded and scheduled</a:t>
            </a:r>
            <a:endParaRPr lang="en-US" sz="950" noProof="1"/>
          </a:p>
        </p:txBody>
      </p:sp>
      <p:sp>
        <p:nvSpPr>
          <p:cNvPr id="21" name="g2"/>
          <p:cNvSpPr/>
          <p:nvPr/>
        </p:nvSpPr>
        <p:spPr>
          <a:xfrm>
            <a:off x="3403600" y="2794000"/>
            <a:ext cx="2540000" cy="1168400"/>
          </a:xfrm>
          <a:prstGeom prst="rect">
            <a:avLst/>
          </a:prstGeom>
          <a:solidFill>
            <a:srgbClr val="FFFFFF"/>
          </a:solidFill>
          <a:ln w="12700">
            <a:solidFill>
              <a:srgbClr val="E69138"/>
            </a:solidFill>
          </a:ln>
        </p:spPr>
      </p:sp>
      <p:sp>
        <p:nvSpPr>
          <p:cNvPr id="22" name="g2t"/>
          <p:cNvSpPr txBox="1"/>
          <p:nvPr/>
        </p:nvSpPr>
        <p:spPr>
          <a:xfrm>
            <a:off x="3530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2 → Pilot</a:t>
            </a:r>
            <a:endParaRPr lang="en-US" sz="950" noProof="1"/>
          </a:p>
          <a:p>
            <a:pPr>
              <a:lnSpc>
                <a:spcPct val="130000"/>
              </a:lnSpc>
            </a:pPr>
            <a:r>
              <a:rPr lang="en-US" sz="850" noProof="1">
                <a:solidFill>
                  <a:srgbClr val="000000"/>
                </a:solidFill>
                <a:latin typeface="Liter"/>
                <a:ea typeface="MiSans"/>
              </a:rPr>
              <a:t>design freeze; FOC dates in hand; pilot group and success metrics agreed</a:t>
            </a:r>
            <a:endParaRPr lang="en-US" sz="950" noProof="1"/>
          </a:p>
        </p:txBody>
      </p:sp>
      <p:sp>
        <p:nvSpPr>
          <p:cNvPr id="23" name="g3"/>
          <p:cNvSpPr/>
          <p:nvPr/>
        </p:nvSpPr>
        <p:spPr>
          <a:xfrm>
            <a:off x="6197600" y="2794000"/>
            <a:ext cx="2540000" cy="1168400"/>
          </a:xfrm>
          <a:prstGeom prst="rect">
            <a:avLst/>
          </a:prstGeom>
          <a:solidFill>
            <a:srgbClr val="FFFFFF"/>
          </a:solidFill>
          <a:ln w="12700">
            <a:solidFill>
              <a:srgbClr val="E69138"/>
            </a:solidFill>
          </a:ln>
        </p:spPr>
      </p:sp>
      <p:sp>
        <p:nvSpPr>
          <p:cNvPr id="24" name="g3t"/>
          <p:cNvSpPr txBox="1"/>
          <p:nvPr/>
        </p:nvSpPr>
        <p:spPr>
          <a:xfrm>
            <a:off x="6324600" y="2870200"/>
            <a:ext cx="22860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3 → Waves</a:t>
            </a:r>
            <a:endParaRPr lang="en-US" sz="950" noProof="1"/>
          </a:p>
          <a:p>
            <a:pPr>
              <a:lnSpc>
                <a:spcPct val="130000"/>
              </a:lnSpc>
            </a:pPr>
            <a:r>
              <a:rPr lang="en-US" sz="850" noProof="1">
                <a:solidFill>
                  <a:srgbClr val="000000"/>
                </a:solidFill>
                <a:latin typeface="Liter"/>
                <a:ea typeface="MiSans"/>
              </a:rPr>
              <a:t>pilot exit criteria met — MOS ≥ 4.0, no open Sev-1, support staffed</a:t>
            </a:r>
            <a:endParaRPr lang="en-US" sz="950" noProof="1"/>
          </a:p>
        </p:txBody>
      </p:sp>
      <p:sp>
        <p:nvSpPr>
          <p:cNvPr id="25" name="g4"/>
          <p:cNvSpPr/>
          <p:nvPr/>
        </p:nvSpPr>
        <p:spPr>
          <a:xfrm>
            <a:off x="8991600" y="2794000"/>
            <a:ext cx="2590800" cy="1168400"/>
          </a:xfrm>
          <a:prstGeom prst="rect">
            <a:avLst/>
          </a:prstGeom>
          <a:solidFill>
            <a:srgbClr val="FFFFFF"/>
          </a:solidFill>
          <a:ln w="12700">
            <a:solidFill>
              <a:srgbClr val="E69138"/>
            </a:solidFill>
          </a:ln>
        </p:spPr>
      </p:sp>
      <p:sp>
        <p:nvSpPr>
          <p:cNvPr id="26" name="g4t"/>
          <p:cNvSpPr txBox="1"/>
          <p:nvPr/>
        </p:nvSpPr>
        <p:spPr>
          <a:xfrm>
            <a:off x="9118600" y="2870200"/>
            <a:ext cx="2336800" cy="1016000"/>
          </a:xfrm>
          <a:prstGeom prst="rect">
            <a:avLst/>
          </a:prstGeom>
          <a:noFill/>
          <a:ln>
            <a:noFill/>
          </a:ln>
        </p:spPr>
        <p:txBody>
          <a:bodyPr lIns="0" rIns="0" tIns="0" bIns="0" wrap="square" rtlCol="0"/>
          <a:lstStyle/>
          <a:p>
            <a:pPr>
              <a:lnSpc>
                <a:spcPct val="130000"/>
              </a:lnSpc>
            </a:pPr>
            <a:r>
              <a:rPr lang="en-US" sz="950" noProof="1" b="1">
                <a:solidFill>
                  <a:srgbClr val="000000"/>
                </a:solidFill>
                <a:latin typeface="Liter"/>
                <a:ea typeface="MiSans"/>
              </a:rPr>
              <a:t>Gate 4 → Decommission</a:t>
            </a:r>
            <a:endParaRPr lang="en-US" sz="950" noProof="1"/>
          </a:p>
          <a:p>
            <a:pPr>
              <a:lnSpc>
                <a:spcPct val="130000"/>
              </a:lnSpc>
            </a:pPr>
            <a:r>
              <a:rPr lang="en-US" sz="850" noProof="1">
                <a:solidFill>
                  <a:srgbClr val="000000"/>
                </a:solidFill>
                <a:latin typeface="Liter"/>
                <a:ea typeface="MiSans"/>
              </a:rPr>
              <a:t>every wave stable two business cycles; rollback path exercised, not assumed</a:t>
            </a:r>
            <a:endParaRPr lang="en-US" sz="950" noProof="1"/>
          </a:p>
        </p:txBody>
      </p:sp>
      <p:sp>
        <p:nvSpPr>
          <p:cNvPr id="27" name="wave-note"/>
          <p:cNvSpPr txBox="1"/>
          <p:nvPr/>
        </p:nvSpPr>
        <p:spPr>
          <a:xfrm>
            <a:off x="609600" y="4241800"/>
            <a:ext cx="10972800" cy="76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Waves are sized by support capacity, not by ambition:</a:t>
            </a:r>
            <a:r>
              <a:rPr lang="en-US" sz="1250" noProof="1">
                <a:solidFill>
                  <a:srgbClr val="000000"/>
                </a:solidFill>
                <a:latin typeface="Liter"/>
                <a:ea typeface="MiSans"/>
              </a:rPr>
              <a:t> the help desk, floor walkers, and carrier-escalation coverage set the wave size. A wave that generates more tickets than the desk absorbs is too big — halve it and re-gate.</a:t>
            </a:r>
            <a:endParaRPr lang="en-US" sz="1250" noProof="1"/>
          </a:p>
        </p:txBody>
      </p:sp>
      <p:sp>
        <p:nvSpPr>
          <p:cNvPr id="28" name="rb-box"/>
          <p:cNvSpPr/>
          <p:nvPr/>
        </p:nvSpPr>
        <p:spPr>
          <a:xfrm>
            <a:off x="609600" y="5181600"/>
            <a:ext cx="10972800" cy="812800"/>
          </a:xfrm>
          <a:prstGeom prst="roundRect">
            <a:avLst>
              <a:gd name="adj" fmla="val 12000"/>
            </a:avLst>
          </a:prstGeom>
          <a:solidFill>
            <a:srgbClr val="F3F3F3"/>
          </a:solidFill>
          <a:ln>
            <a:noFill/>
          </a:ln>
        </p:spPr>
      </p:sp>
      <p:sp>
        <p:nvSpPr>
          <p:cNvPr id="29" name="rb-box-t"/>
          <p:cNvSpPr txBox="1"/>
          <p:nvPr/>
        </p:nvSpPr>
        <p:spPr>
          <a:xfrm>
            <a:off x="762000" y="5283200"/>
            <a:ext cx="10668000" cy="609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Run rollback as a routine, not an emergency:</a:t>
            </a:r>
            <a:r>
              <a:rPr lang="en-US" sz="1000" noProof="1">
                <a:solidFill>
                  <a:srgbClr val="5A5A5A"/>
                </a:solidFill>
                <a:latin typeface="Liter"/>
                <a:ea typeface="MiSans"/>
              </a:rPr>
              <a:t> every wave keeps its legacy configuration intact and its old numbers forwardable until the wave exits. The rollback drill — re-point a user, verify a call, restore voicemail — is rehearsed in the pilot so it takes minutes, not an incident bridge.</a:t>
            </a:r>
            <a:endParaRPr lang="en-US" sz="1000" noProof="1"/>
          </a:p>
        </p:txBody>
      </p:sp>
      <p:sp>
        <p:nvSpPr>
          <p:cNvPr id="30"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31"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schedule — phase durations and wave sizes are planning assumptions to be validated per organization</a:t>
            </a:r>
            <a:endParaRPr lang="en-US" sz="850" noProof="1"/>
          </a:p>
        </p:txBody>
      </p:sp>
      <p:sp>
        <p:nvSpPr>
          <p:cNvPr id="32" name="cml-footer-bar"/>
          <p:cNvSpPr/>
          <p:nvPr/>
        </p:nvSpPr>
        <p:spPr>
          <a:xfrm>
            <a:off x="0" y="6670000"/>
            <a:ext cx="12192000" cy="640000"/>
          </a:xfrm>
          <a:prstGeom prst="rect">
            <a:avLst/>
          </a:prstGeom>
          <a:solidFill>
            <a:srgbClr val="12161C"/>
          </a:solidFill>
          <a:ln>
            <a:noFill/>
          </a:ln>
        </p:spPr>
        <p:txBody>
          <a:bodyPr/>
          <a:lstStyle/>
          <a:p/>
        </p:txBody>
      </p:sp>
      <p:sp>
        <p:nvSpPr>
          <p:cNvPr id="33" name="cml-footer-rule"/>
          <p:cNvSpPr/>
          <p:nvPr/>
        </p:nvSpPr>
        <p:spPr>
          <a:xfrm>
            <a:off x="0" y="6670000"/>
            <a:ext cx="12192000" cy="19050"/>
          </a:xfrm>
          <a:prstGeom prst="rect">
            <a:avLst/>
          </a:prstGeom>
          <a:solidFill>
            <a:srgbClr val="2DD4BF"/>
          </a:solidFill>
          <a:ln>
            <a:noFill/>
          </a:ln>
        </p:spPr>
        <p:txBody>
          <a:bodyPr/>
          <a:lstStyle/>
          <a:p/>
        </p:txBody>
      </p:sp>
      <p:sp>
        <p:nvSpPr>
          <p:cNvPr id="34"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5"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6"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7"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8"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9"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40"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41"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42"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3"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4"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5"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6"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7"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honest platform comparison is five-year TCO, not sticker price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model for a 2,800-user estate, indexed so the structure is visible — replace every figure with your own quotes before deciding.</a:t>
            </a:r>
            <a:endParaRPr lang="en-US" sz="1100" noProof="1"/>
          </a:p>
        </p:txBody>
      </p:sp>
      <p:sp>
        <p:nvSpPr>
          <p:cNvPr id="4" name="tco-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Five-year cost structure (indexed, on-prem = 100 per line)</a:t>
            </a:r>
            <a:endParaRPr lang="en-US" sz="1100" noProof="1"/>
          </a:p>
        </p:txBody>
      </p:sp>
      <p:graphicFrame>
        <p:nvGraphicFramePr>
          <p:cNvPr id="5" name="tco-table"/>
          <p:cNvGraphicFramePr>
            <a:graphicFrameLocks noGrp="1"/>
          </p:cNvGraphicFramePr>
          <p:nvPr/>
        </p:nvGraphicFramePr>
        <p:xfrm>
          <a:off x="609600" y="1447800"/>
          <a:ext cx="5969000" cy="3200400"/>
        </p:xfrm>
        <a:graphic>
          <a:graphicData uri="http://schemas.openxmlformats.org/drawingml/2006/table">
            <a:tbl>
              <a:tblPr/>
              <a:tblGrid>
                <a:gridCol w="2029460"/>
                <a:gridCol w="1313180"/>
                <a:gridCol w="1313180"/>
                <a:gridCol w="1313180"/>
              </a:tblGrid>
              <a:tr h="320040">
                <a:tc>
                  <a:txBody>
                    <a:bodyPr wrap="square" rtlCol="0" anchor="ctr"/>
                    <a:lstStyle/>
                    <a:p>
                      <a:pPr algn="l"/>
                      <a:r>
                        <a:rPr lang="en-US" sz="1050" noProof="1" b="1">
                          <a:solidFill>
                            <a:srgbClr val="000000"/>
                          </a:solidFill>
                          <a:latin typeface="Liter"/>
                          <a:ea typeface="MiSans"/>
                        </a:rPr>
                        <a:t>Cost line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On-prem CUCM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UCM Cloud</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Webex Calling</a:t>
                      </a:r>
                    </a:p>
                  </a:txBody>
                  <a:tcPr marL="91440" marR="91440" marT="45720" marB="45720" anchor="ctr">
                    <a:lnL>
                      <a:noFill/>
                    </a:lnL>
                    <a:lnR>
                      <a:noFill/>
                    </a:lnR>
                    <a:lnT>
                      <a:noFill/>
                    </a:lnT>
                    <a:lnB w="15240">
                      <a:solidFill>
                        <a:srgbClr val="000000"/>
                      </a:solidFill>
                    </a:lnB>
                    <a:noFill/>
                  </a:tcPr>
                </a:tc>
              </a:tr>
              <a:tr h="480060">
                <a:tc>
                  <a:txBody>
                    <a:bodyPr wrap="square" rtlCol="0" anchor="ctr"/>
                    <a:lstStyle/>
                    <a:p>
                      <a:pPr algn="l"/>
                      <a:r>
                        <a:rPr lang="en-US" sz="1050" noProof="1">
                          <a:solidFill>
                            <a:srgbClr val="000000"/>
                          </a:solidFill>
                          <a:latin typeface="Liter"/>
                          <a:ea typeface="MiSans"/>
                        </a:rPr>
                        <a:t>Hardware + data center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(refresh yr 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Licenses / subscription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~110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~120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Upgrade and patch labor</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Admin staffing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(largest line)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~60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~40</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PSTN / trunks</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 (unchanged)</a:t>
                      </a:r>
                    </a:p>
                  </a:txBody>
                  <a:tcPr marL="91440" marR="91440" marT="45720" marB="45720" anchor="ctr">
                    <a:lnL>
                      <a:noFill/>
                    </a:lnL>
                    <a:lnR>
                      <a:noFill/>
                    </a:lnR>
                    <a:lnT>
                      <a:noFill/>
                    </a:lnT>
                    <a:lnB w="7620">
                      <a:solidFill>
                        <a:srgbClr val="D9D9D9"/>
                      </a:solidFill>
                    </a:lnB>
                    <a:noFill/>
                  </a:tcPr>
                </a:tc>
              </a:tr>
              <a:tr h="480060">
                <a:tc>
                  <a:txBody>
                    <a:bodyPr wrap="square" rtlCol="0" anchor="ctr"/>
                    <a:lstStyle/>
                    <a:p>
                      <a:pPr algn="l"/>
                      <a:r>
                        <a:rPr lang="en-US" sz="1050" noProof="1">
                          <a:solidFill>
                            <a:srgbClr val="000000"/>
                          </a:solidFill>
                          <a:latin typeface="Liter"/>
                          <a:ea typeface="MiSans"/>
                        </a:rPr>
                        <a:t>Analog edge (ATA / VG)</a:t>
                      </a:r>
                    </a:p>
                  </a:txBody>
                  <a:tcPr marL="91440" marR="91440" marT="45720" marB="45720" anchor="ctr">
                    <a:lnL>
                      <a:noFill/>
                    </a:lnL>
                    <a:lnR>
                      <a:noFill/>
                    </a:lnR>
                    <a:lnT>
                      <a:noFill/>
                    </a:lnT>
                    <a:lnB w="7620">
                      <a:solidFill>
                        <a:srgbClr val="D9D9D9"/>
                      </a:solidFill>
                    </a:lnB>
                    <a:noFill/>
                  </a:tcPr>
                </a:tc>
                <a:tc>
                  <a:txBody>
                    <a:bodyPr wrap="square" rtlCol="0" anchor="ctr"/>
                    <a:lstStyle/>
                    <a:p>
                      <a:pPr algn="l"/>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~100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~130 (more adapters)</a:t>
                      </a:r>
                    </a:p>
                  </a:txBody>
                  <a:tcPr marL="91440" marR="91440" marT="45720" marB="45720" anchor="ctr">
                    <a:lnL>
                      <a:noFill/>
                    </a:lnL>
                    <a:lnR>
                      <a:noFill/>
                    </a:lnR>
                    <a:lnT>
                      <a:noFill/>
                    </a:lnT>
                    <a:lnB w="7620">
                      <a:solidFill>
                        <a:srgbClr val="D9D9D9"/>
                      </a:solidFill>
                    </a:lnB>
                    <a:noFill/>
                  </a:tcPr>
                </a:tc>
              </a:tr>
            </a:tbl>
          </a:graphicData>
        </a:graphic>
      </p:graphicFrame>
      <p:sp>
        <p:nvSpPr>
          <p:cNvPr id="6" name="tco-note"/>
          <p:cNvSpPr txBox="1"/>
          <p:nvPr/>
        </p:nvSpPr>
        <p:spPr>
          <a:xfrm>
            <a:off x="609600" y="4826000"/>
            <a:ext cx="5969000" cy="1117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Indices are illustrative, not quotes.</a:t>
            </a:r>
            <a:r>
              <a:rPr lang="en-US" sz="1250" noProof="1">
                <a:solidFill>
                  <a:srgbClr val="000000"/>
                </a:solidFill>
                <a:latin typeface="Liter"/>
                <a:ea typeface="MiSans"/>
              </a:rPr>
              <a:t> The shape is the lesson: subscription platforms move spend from capex and labor into per-user opex, while PSTN cost barely moves in any model — anyone promising PSTN savings is selling a trunk consolidation, not a platform.</a:t>
            </a:r>
            <a:endParaRPr lang="en-US" sz="1250" noProof="1"/>
          </a:p>
        </p:txBody>
      </p:sp>
      <p:sp>
        <p:nvSpPr>
          <p:cNvPr id="7" name="win-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Where each model actually wins</a:t>
            </a:r>
            <a:endParaRPr lang="en-US" sz="1100" noProof="1"/>
          </a:p>
        </p:txBody>
      </p:sp>
      <p:sp>
        <p:nvSpPr>
          <p:cNvPr id="8" name="w1"/>
          <p:cNvSpPr/>
          <p:nvPr/>
        </p:nvSpPr>
        <p:spPr>
          <a:xfrm>
            <a:off x="7086600" y="1447800"/>
            <a:ext cx="4495800" cy="939800"/>
          </a:xfrm>
          <a:prstGeom prst="rect">
            <a:avLst/>
          </a:prstGeom>
          <a:solidFill>
            <a:srgbClr val="F7F5F0"/>
          </a:solidFill>
          <a:ln w="10160">
            <a:solidFill>
              <a:srgbClr val="333333"/>
            </a:solidFill>
          </a:ln>
        </p:spPr>
      </p:sp>
      <p:sp>
        <p:nvSpPr>
          <p:cNvPr id="9" name="w1t"/>
          <p:cNvSpPr txBox="1"/>
          <p:nvPr/>
        </p:nvSpPr>
        <p:spPr>
          <a:xfrm>
            <a:off x="7239000" y="15240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Cloud wins when</a:t>
            </a:r>
            <a:endParaRPr lang="en-US" sz="1000" noProof="1"/>
          </a:p>
          <a:p>
            <a:pPr>
              <a:lnSpc>
                <a:spcPct val="130000"/>
              </a:lnSpc>
            </a:pPr>
            <a:r>
              <a:rPr lang="en-US" sz="850" noProof="1">
                <a:solidFill>
                  <a:srgbClr val="000000"/>
                </a:solidFill>
                <a:latin typeface="Liter"/>
                <a:ea typeface="MiSans"/>
              </a:rPr>
              <a:t>growth is spiky, sites are many and small, IT staff is thin, and the dial plan is standard — labor dominates TCO and cloud deletes labor</a:t>
            </a:r>
            <a:endParaRPr lang="en-US" sz="1000" noProof="1"/>
          </a:p>
        </p:txBody>
      </p:sp>
      <p:sp>
        <p:nvSpPr>
          <p:cNvPr id="10" name="w2"/>
          <p:cNvSpPr/>
          <p:nvPr/>
        </p:nvSpPr>
        <p:spPr>
          <a:xfrm>
            <a:off x="7086600" y="2540000"/>
            <a:ext cx="4495800" cy="939800"/>
          </a:xfrm>
          <a:prstGeom prst="rect">
            <a:avLst/>
          </a:prstGeom>
          <a:solidFill>
            <a:srgbClr val="F7F5F0"/>
          </a:solidFill>
          <a:ln w="10160">
            <a:solidFill>
              <a:srgbClr val="333333"/>
            </a:solidFill>
          </a:ln>
        </p:spPr>
      </p:sp>
      <p:sp>
        <p:nvSpPr>
          <p:cNvPr id="11" name="w2t"/>
          <p:cNvSpPr txBox="1"/>
          <p:nvPr/>
        </p:nvSpPr>
        <p:spPr>
          <a:xfrm>
            <a:off x="7239000" y="26162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On-prem wins when</a:t>
            </a:r>
            <a:endParaRPr lang="en-US" sz="1000" noProof="1"/>
          </a:p>
          <a:p>
            <a:pPr>
              <a:lnSpc>
                <a:spcPct val="130000"/>
              </a:lnSpc>
            </a:pPr>
            <a:r>
              <a:rPr lang="en-US" sz="850" noProof="1">
                <a:solidFill>
                  <a:srgbClr val="000000"/>
                </a:solidFill>
                <a:latin typeface="Liter"/>
                <a:ea typeface="MiSans"/>
              </a:rPr>
              <a:t>analog density is heavy, data residency is strict, the data center is already amortized, or the dial plan is genuinely complex</a:t>
            </a:r>
            <a:endParaRPr lang="en-US" sz="1000" noProof="1"/>
          </a:p>
        </p:txBody>
      </p:sp>
      <p:sp>
        <p:nvSpPr>
          <p:cNvPr id="12" name="w3"/>
          <p:cNvSpPr/>
          <p:nvPr/>
        </p:nvSpPr>
        <p:spPr>
          <a:xfrm>
            <a:off x="7086600" y="3632200"/>
            <a:ext cx="4495800" cy="939800"/>
          </a:xfrm>
          <a:prstGeom prst="rect">
            <a:avLst/>
          </a:prstGeom>
          <a:solidFill>
            <a:srgbClr val="F7F5F0"/>
          </a:solidFill>
          <a:ln w="10160">
            <a:solidFill>
              <a:srgbClr val="333333"/>
            </a:solidFill>
          </a:ln>
        </p:spPr>
      </p:sp>
      <p:sp>
        <p:nvSpPr>
          <p:cNvPr id="13" name="w3t"/>
          <p:cNvSpPr txBox="1"/>
          <p:nvPr/>
        </p:nvSpPr>
        <p:spPr>
          <a:xfrm>
            <a:off x="7239000" y="3708400"/>
            <a:ext cx="4216400" cy="7874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The hidden lines</a:t>
            </a:r>
            <a:endParaRPr lang="en-US" sz="1000" noProof="1"/>
          </a:p>
          <a:p>
            <a:pPr>
              <a:lnSpc>
                <a:spcPct val="130000"/>
              </a:lnSpc>
            </a:pPr>
            <a:r>
              <a:rPr lang="en-US" sz="850" noProof="1">
                <a:solidFill>
                  <a:srgbClr val="000000"/>
                </a:solidFill>
                <a:latin typeface="Liter"/>
                <a:ea typeface="MiSans"/>
              </a:rPr>
              <a:t>admin staffing is the largest line and the most ignored; downtime risk needs a number — expected incident cost per year, not a feeling</a:t>
            </a:r>
            <a:endParaRPr lang="en-US" sz="1000" noProof="1"/>
          </a:p>
        </p:txBody>
      </p:sp>
      <p:sp>
        <p:nvSpPr>
          <p:cNvPr id="14" name="model-box"/>
          <p:cNvSpPr/>
          <p:nvPr/>
        </p:nvSpPr>
        <p:spPr>
          <a:xfrm>
            <a:off x="7086600" y="4775200"/>
            <a:ext cx="4495800" cy="1117600"/>
          </a:xfrm>
          <a:prstGeom prst="roundRect">
            <a:avLst>
              <a:gd name="adj" fmla="val 12000"/>
            </a:avLst>
          </a:prstGeom>
          <a:solidFill>
            <a:srgbClr val="F3F3F3"/>
          </a:solidFill>
          <a:ln>
            <a:noFill/>
          </a:ln>
        </p:spPr>
      </p:sp>
      <p:sp>
        <p:nvSpPr>
          <p:cNvPr id="15" name="model-box-t"/>
          <p:cNvSpPr txBox="1"/>
          <p:nvPr/>
        </p:nvSpPr>
        <p:spPr>
          <a:xfrm>
            <a:off x="7239000" y="4902200"/>
            <a:ext cx="4191000" cy="889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Model rule</a:t>
            </a:r>
            <a:endParaRPr lang="en-US" sz="1000" noProof="1"/>
          </a:p>
          <a:p>
            <a:pPr>
              <a:lnSpc>
                <a:spcPct val="135000"/>
              </a:lnSpc>
              <a:spcBef>
                <a:spcPts val="600"/>
              </a:spcBef>
            </a:pPr>
            <a:r>
              <a:rPr lang="en-US" sz="1000" noProof="1">
                <a:solidFill>
                  <a:srgbClr val="5A5A5A"/>
                </a:solidFill>
                <a:latin typeface="Liter"/>
                <a:ea typeface="MiSans"/>
              </a:rPr>
              <a:t>TCO = capex + 5 × opex + labor + risk. Anything you cannot price becomes an assumption line with a name and an owner — an unpriced assumption is how migration business cases fail audits.</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indices for structure only — not vendor pricing; model with your own quotes, staffing rates and PSTN contracts</a:t>
            </a:r>
            <a:endParaRPr lang="en-US" sz="850" noProof="1"/>
          </a:p>
        </p:txBody>
      </p:sp>
      <p:sp>
        <p:nvSpPr>
          <p:cNvPr id="18" name="cml-footer-bar"/>
          <p:cNvSpPr/>
          <p:nvPr/>
        </p:nvSpPr>
        <p:spPr>
          <a:xfrm>
            <a:off x="0" y="6670000"/>
            <a:ext cx="12192000" cy="640000"/>
          </a:xfrm>
          <a:prstGeom prst="rect">
            <a:avLst/>
          </a:prstGeom>
          <a:solidFill>
            <a:srgbClr val="12161C"/>
          </a:solidFill>
          <a:ln>
            <a:noFill/>
          </a:ln>
        </p:spPr>
        <p:txBody>
          <a:bodyPr/>
          <a:lstStyle/>
          <a:p/>
        </p:txBody>
      </p:sp>
      <p:sp>
        <p:nvSpPr>
          <p:cNvPr id="19" name="cml-footer-rule"/>
          <p:cNvSpPr/>
          <p:nvPr/>
        </p:nvSpPr>
        <p:spPr>
          <a:xfrm>
            <a:off x="0" y="6670000"/>
            <a:ext cx="12192000" cy="19050"/>
          </a:xfrm>
          <a:prstGeom prst="rect">
            <a:avLst/>
          </a:prstGeom>
          <a:solidFill>
            <a:srgbClr val="2DD4BF"/>
          </a:solidFill>
          <a:ln>
            <a:noFill/>
          </a:ln>
        </p:spPr>
        <p:txBody>
          <a:bodyPr/>
          <a:lstStyle/>
          <a:p/>
        </p:txBody>
      </p:sp>
      <p:sp>
        <p:nvSpPr>
          <p:cNvPr id="2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1524000" cy="7620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06</a:t>
            </a:r>
            <a:endParaRPr lang="en-US" sz="4400" noProof="1"/>
          </a:p>
        </p:txBody>
      </p:sp>
      <p:sp>
        <p:nvSpPr>
          <p:cNvPr id="3" name="ch-title"/>
          <p:cNvSpPr txBox="1"/>
          <p:nvPr/>
        </p:nvSpPr>
        <p:spPr>
          <a:xfrm>
            <a:off x="609600" y="2794000"/>
            <a:ext cx="10922000" cy="6604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Operations &amp; Troubleshooting</a:t>
            </a:r>
            <a:endParaRPr lang="en-US" sz="3400" noProof="1"/>
          </a:p>
        </p:txBody>
      </p:sp>
      <p:sp>
        <p:nvSpPr>
          <p:cNvPr id="4" name="ch-sub"/>
          <p:cNvSpPr txBox="1"/>
          <p:nvPr/>
        </p:nvSpPr>
        <p:spPr>
          <a:xfrm>
            <a:off x="609600" y="3632200"/>
            <a:ext cx="10160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Voice engineering never ends at cutover: the monitoring loop, signaling and media fault chains,</a:t>
            </a:r>
            <a:endParaRPr lang="en-US" sz="1300" noProof="1"/>
          </a:p>
          <a:p>
            <a:pPr>
              <a:lnSpc>
                <a:spcPct val="150000"/>
              </a:lnSpc>
            </a:pPr>
            <a:r>
              <a:rPr lang="en-US" sz="1300" noProof="1">
                <a:solidFill>
                  <a:srgbClr val="F2DADA"/>
                </a:solidFill>
                <a:latin typeface="Liter"/>
                <a:ea typeface="MiSans"/>
              </a:rPr>
              <a:t>and the disaster-recovery and upgrade discipline that keeps the platform boring.</a:t>
            </a:r>
            <a:endParaRPr lang="en-US" sz="1300" noProof="1"/>
          </a:p>
        </p:txBody>
      </p:sp>
      <p:sp>
        <p:nvSpPr>
          <p:cNvPr id="5" name="ch-foot"/>
          <p:cNvSpPr txBox="1"/>
          <p:nvPr/>
        </p:nvSpPr>
        <p:spPr>
          <a:xfrm>
            <a:off x="609600" y="6299200"/>
            <a:ext cx="6350000" cy="2032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06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8.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Expert practice is a loop: design, deploy, operate, optimize — with telemetry throughout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stage feeds the next; CDR/CMR and RTMT data collected in "operate" is the evidence base for the next design cycle.</a:t>
            </a:r>
            <a:endParaRPr lang="en-US" sz="1100" noProof="1"/>
          </a:p>
        </p:txBody>
      </p:sp>
      <p:sp>
        <p:nvSpPr>
          <p:cNvPr id="4" name="loop1"/>
          <p:cNvSpPr/>
          <p:nvPr/>
        </p:nvSpPr>
        <p:spPr>
          <a:xfrm>
            <a:off x="609600" y="1320800"/>
            <a:ext cx="2540000" cy="1498600"/>
          </a:xfrm>
          <a:prstGeom prst="rect">
            <a:avLst/>
          </a:prstGeom>
          <a:solidFill>
            <a:srgbClr val="FFFFFF"/>
          </a:solidFill>
          <a:ln w="16510">
            <a:solidFill>
              <a:srgbClr val="000000"/>
            </a:solidFill>
          </a:ln>
        </p:spPr>
      </p:sp>
      <p:sp>
        <p:nvSpPr>
          <p:cNvPr id="5" name="loop1t"/>
          <p:cNvSpPr txBox="1"/>
          <p:nvPr/>
        </p:nvSpPr>
        <p:spPr>
          <a:xfrm>
            <a:off x="762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1 · Design</a:t>
            </a:r>
            <a:endParaRPr lang="en-US" sz="950" noProof="1"/>
          </a:p>
          <a:p>
            <a:pPr>
              <a:lnSpc>
                <a:spcPct val="135000"/>
              </a:lnSpc>
              <a:spcBef>
                <a:spcPts val="400"/>
              </a:spcBef>
            </a:pPr>
            <a:r>
              <a:rPr lang="en-US" sz="850" noProof="1">
                <a:solidFill>
                  <a:srgbClr val="000000"/>
                </a:solidFill>
                <a:latin typeface="Liter"/>
                <a:ea typeface="MiSans"/>
              </a:rPr>
              <a:t>SRND-based sizing; cluster and site model; codec/CAC policy; numbering plan; security baseline</a:t>
            </a:r>
            <a:endParaRPr lang="en-US" sz="950" noProof="1"/>
          </a:p>
        </p:txBody>
      </p:sp>
      <p:sp>
        <p:nvSpPr>
          <p:cNvPr id="6" name="la1"/>
          <p:cNvSpPr/>
          <p:nvPr>
            <p:extLst>
              <p:ext uri="{F5677B7D-0D2A-4D9B-9A5C-6D8D7D0E5A5D}">
                <pptd:line encoding="base64url">eyJ2aWV3Qm94IjpbMjAsMV0sInBvaW50cyI6IjAsMCAyMCwwIn0</pptd:line>
              </p:ext>
            </p:extLst>
          </p:nvPr>
        </p:nvSpPr>
        <p:spPr>
          <a:xfrm>
            <a:off x="3149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7" name="loop2"/>
          <p:cNvSpPr/>
          <p:nvPr/>
        </p:nvSpPr>
        <p:spPr>
          <a:xfrm>
            <a:off x="3403600" y="1320800"/>
            <a:ext cx="2540000" cy="1498600"/>
          </a:xfrm>
          <a:prstGeom prst="rect">
            <a:avLst/>
          </a:prstGeom>
          <a:solidFill>
            <a:srgbClr val="F7F5F0"/>
          </a:solidFill>
          <a:ln w="11430">
            <a:solidFill>
              <a:srgbClr val="333333"/>
            </a:solidFill>
          </a:ln>
        </p:spPr>
      </p:sp>
      <p:sp>
        <p:nvSpPr>
          <p:cNvPr id="8" name="loop2t"/>
          <p:cNvSpPr txBox="1"/>
          <p:nvPr/>
        </p:nvSpPr>
        <p:spPr>
          <a:xfrm>
            <a:off x="3556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2 · Deploy</a:t>
            </a:r>
            <a:endParaRPr lang="en-US" sz="950" noProof="1"/>
          </a:p>
          <a:p>
            <a:pPr>
              <a:lnSpc>
                <a:spcPct val="135000"/>
              </a:lnSpc>
              <a:spcBef>
                <a:spcPts val="400"/>
              </a:spcBef>
            </a:pPr>
            <a:r>
              <a:rPr lang="en-US" sz="850" noProof="1">
                <a:solidFill>
                  <a:srgbClr val="000000"/>
                </a:solidFill>
                <a:latin typeface="Liter"/>
                <a:ea typeface="MiSans"/>
              </a:rPr>
              <a:t>BAT bulk provisioning; device-pool templates; staged gateway cutovers; registration verification</a:t>
            </a:r>
            <a:endParaRPr lang="en-US" sz="950" noProof="1"/>
          </a:p>
        </p:txBody>
      </p:sp>
      <p:sp>
        <p:nvSpPr>
          <p:cNvPr id="9" name="la2"/>
          <p:cNvSpPr/>
          <p:nvPr>
            <p:extLst>
              <p:ext uri="{F5677B7D-0D2A-4D9B-9A5C-6D8D7D0E5A5D}">
                <pptd:line encoding="base64url">eyJ2aWV3Qm94IjpbMjAsMV0sInBvaW50cyI6IjAsMCAyMCwwIn0</pptd:line>
              </p:ext>
            </p:extLst>
          </p:nvPr>
        </p:nvSpPr>
        <p:spPr>
          <a:xfrm>
            <a:off x="5943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10" name="loop3"/>
          <p:cNvSpPr/>
          <p:nvPr/>
        </p:nvSpPr>
        <p:spPr>
          <a:xfrm>
            <a:off x="6197600" y="1320800"/>
            <a:ext cx="2540000" cy="1498600"/>
          </a:xfrm>
          <a:prstGeom prst="rect">
            <a:avLst/>
          </a:prstGeom>
          <a:solidFill>
            <a:srgbClr val="F7F5F0"/>
          </a:solidFill>
          <a:ln w="11430">
            <a:solidFill>
              <a:srgbClr val="333333"/>
            </a:solidFill>
          </a:ln>
        </p:spPr>
      </p:sp>
      <p:sp>
        <p:nvSpPr>
          <p:cNvPr id="11" name="loop3t"/>
          <p:cNvSpPr txBox="1"/>
          <p:nvPr/>
        </p:nvSpPr>
        <p:spPr>
          <a:xfrm>
            <a:off x="6350000" y="1422400"/>
            <a:ext cx="22352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3 · Operate</a:t>
            </a:r>
            <a:endParaRPr lang="en-US" sz="950" noProof="1"/>
          </a:p>
          <a:p>
            <a:pPr>
              <a:lnSpc>
                <a:spcPct val="135000"/>
              </a:lnSpc>
              <a:spcBef>
                <a:spcPts val="400"/>
              </a:spcBef>
            </a:pPr>
            <a:r>
              <a:rPr lang="en-US" sz="850" noProof="1">
                <a:solidFill>
                  <a:srgbClr val="000000"/>
                </a:solidFill>
                <a:latin typeface="Liter"/>
                <a:ea typeface="MiSans"/>
              </a:rPr>
              <a:t>RTMT alarms; CDR/CMR quality review; backup (DRS); patching; capacity watch per subscriber</a:t>
            </a:r>
            <a:endParaRPr lang="en-US" sz="950" noProof="1"/>
          </a:p>
        </p:txBody>
      </p:sp>
      <p:sp>
        <p:nvSpPr>
          <p:cNvPr id="12" name="la3"/>
          <p:cNvSpPr/>
          <p:nvPr>
            <p:extLst>
              <p:ext uri="{F5677B7D-0D2A-4D9B-9A5C-6D8D7D0E5A5D}">
                <pptd:line encoding="base64url">eyJ2aWV3Qm94IjpbMjAsMV0sInBvaW50cyI6IjAsMCAyMCwwIn0</pptd:line>
              </p:ext>
            </p:extLst>
          </p:nvPr>
        </p:nvSpPr>
        <p:spPr>
          <a:xfrm>
            <a:off x="8737600" y="2057400"/>
            <a:ext cx="254000" cy="12700"/>
          </a:xfrm>
          <a:custGeom>
            <a:avLst/>
            <a:gdLst/>
            <a:ahLst/>
            <a:cxnLst/>
            <a:rect l="l" t="t" r="r" b="b"/>
            <a:pathLst>
              <a:path w="20" h="1">
                <a:moveTo>
                  <a:pt x="0" y="0"/>
                </a:moveTo>
                <a:lnTo>
                  <a:pt x="20" y="0"/>
                </a:lnTo>
              </a:path>
            </a:pathLst>
          </a:custGeom>
          <a:noFill/>
          <a:ln w="17780" cap="rnd">
            <a:solidFill>
              <a:srgbClr val="E69138"/>
            </a:solidFill>
            <a:round/>
            <a:tailEnd type="arrow"/>
          </a:ln>
        </p:spPr>
      </p:sp>
      <p:sp>
        <p:nvSpPr>
          <p:cNvPr id="13" name="loop4"/>
          <p:cNvSpPr/>
          <p:nvPr/>
        </p:nvSpPr>
        <p:spPr>
          <a:xfrm>
            <a:off x="8991600" y="1320800"/>
            <a:ext cx="2590800" cy="1498600"/>
          </a:xfrm>
          <a:prstGeom prst="rect">
            <a:avLst/>
          </a:prstGeom>
          <a:solidFill>
            <a:srgbClr val="F7F5F0"/>
          </a:solidFill>
          <a:ln w="11430">
            <a:solidFill>
              <a:srgbClr val="333333"/>
            </a:solidFill>
          </a:ln>
        </p:spPr>
      </p:sp>
      <p:sp>
        <p:nvSpPr>
          <p:cNvPr id="14" name="loop4t"/>
          <p:cNvSpPr txBox="1"/>
          <p:nvPr/>
        </p:nvSpPr>
        <p:spPr>
          <a:xfrm>
            <a:off x="9144000" y="1422400"/>
            <a:ext cx="2286000" cy="1295400"/>
          </a:xfrm>
          <a:prstGeom prst="rect">
            <a:avLst/>
          </a:prstGeom>
          <a:noFill/>
          <a:ln>
            <a:noFill/>
          </a:ln>
        </p:spPr>
        <p:txBody>
          <a:bodyPr lIns="0" rIns="0" tIns="0" bIns="0" wrap="square" rtlCol="0"/>
          <a:lstStyle/>
          <a:p>
            <a:pPr>
              <a:lnSpc>
                <a:spcPct val="135000"/>
              </a:lnSpc>
            </a:pPr>
            <a:r>
              <a:rPr lang="en-US" sz="950" noProof="1" b="1">
                <a:solidFill>
                  <a:srgbClr val="333333"/>
                </a:solidFill>
                <a:latin typeface="Liter"/>
                <a:ea typeface="MiSans"/>
              </a:rPr>
              <a:t>4 · Optimize</a:t>
            </a:r>
            <a:endParaRPr lang="en-US" sz="950" noProof="1"/>
          </a:p>
          <a:p>
            <a:pPr>
              <a:lnSpc>
                <a:spcPct val="135000"/>
              </a:lnSpc>
              <a:spcBef>
                <a:spcPts val="400"/>
              </a:spcBef>
            </a:pPr>
            <a:r>
              <a:rPr lang="en-US" sz="850" noProof="1">
                <a:solidFill>
                  <a:srgbClr val="000000"/>
                </a:solidFill>
                <a:latin typeface="Liter"/>
                <a:ea typeface="MiSans"/>
              </a:rPr>
              <a:t>codec &amp; QoS tuning from CMR data; dial-plan cleanup; upgrade windows; cloud-migration re-assessment</a:t>
            </a:r>
            <a:endParaRPr lang="en-US" sz="950" noProof="1"/>
          </a:p>
        </p:txBody>
      </p:sp>
      <p:sp>
        <p:nvSpPr>
          <p:cNvPr id="15" name="loop-back"/>
          <p:cNvSpPr/>
          <p:nvPr>
            <p:extLst>
              <p:ext uri="{F5677B7D-0D2A-4D9B-9A5C-6D8D7D0E5A5D}">
                <pptd:line encoding="base64url">eyJ2aWV3Qm94IjpbNjYyLDQwXSwicG9pbnRzIjoiNjYyLDAgNjYyLDQwIDAsNDAgMCwxMCIsImN1cnZlIjoic2hhcnAifQ</pptd:line>
              </p:ext>
            </p:extLst>
          </p:nvPr>
        </p:nvSpPr>
        <p:spPr>
          <a:xfrm>
            <a:off x="1879600" y="2819400"/>
            <a:ext cx="8407400" cy="508000"/>
          </a:xfrm>
          <a:custGeom>
            <a:avLst/>
            <a:gdLst/>
            <a:ahLst/>
            <a:cxnLst/>
            <a:rect l="l" t="t" r="r" b="b"/>
            <a:pathLst>
              <a:path w="662" h="40">
                <a:moveTo>
                  <a:pt x="662" y="0"/>
                </a:moveTo>
                <a:lnTo>
                  <a:pt x="662" y="40"/>
                </a:lnTo>
                <a:lnTo>
                  <a:pt x="0" y="40"/>
                </a:lnTo>
                <a:lnTo>
                  <a:pt x="0" y="10"/>
                </a:lnTo>
              </a:path>
            </a:pathLst>
          </a:custGeom>
          <a:noFill/>
          <a:ln w="12700">
            <a:solidFill>
              <a:srgbClr val="A9AAAC"/>
            </a:solidFill>
            <a:prstDash val="dash"/>
            <a:headEnd type="arrow"/>
            <a:tailEnd type="arrow"/>
          </a:ln>
        </p:spPr>
      </p:sp>
      <p:sp>
        <p:nvSpPr>
          <p:cNvPr id="16" name="loop-back-t"/>
          <p:cNvSpPr txBox="1"/>
          <p:nvPr/>
        </p:nvSpPr>
        <p:spPr>
          <a:xfrm>
            <a:off x="4191000" y="3124200"/>
            <a:ext cx="38100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Liter"/>
                <a:ea typeface="MiSans"/>
              </a:rPr>
              <a:t>telemetry and quality data feed the next design cycle</a:t>
            </a:r>
            <a:endParaRPr lang="en-US" sz="850" noProof="1"/>
          </a:p>
        </p:txBody>
      </p:sp>
      <p:sp>
        <p:nvSpPr>
          <p:cNvPr id="17" name="tool-h"/>
          <p:cNvSpPr txBox="1"/>
          <p:nvPr/>
        </p:nvSpPr>
        <p:spPr>
          <a:xfrm>
            <a:off x="609600" y="3683000"/>
            <a:ext cx="5334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troubleshooting toolbox</a:t>
            </a:r>
            <a:endParaRPr lang="en-US" sz="1100" noProof="1"/>
          </a:p>
        </p:txBody>
      </p:sp>
      <p:graphicFrame>
        <p:nvGraphicFramePr>
          <p:cNvPr id="18" name="tool-table"/>
          <p:cNvGraphicFramePr>
            <a:graphicFrameLocks noGrp="1"/>
          </p:cNvGraphicFramePr>
          <p:nvPr/>
        </p:nvGraphicFramePr>
        <p:xfrm>
          <a:off x="609600" y="3987800"/>
          <a:ext cx="5588000" cy="1905000"/>
        </p:xfrm>
        <a:graphic>
          <a:graphicData uri="http://schemas.openxmlformats.org/drawingml/2006/table">
            <a:tbl>
              <a:tblPr/>
              <a:tblGrid>
                <a:gridCol w="1899920"/>
                <a:gridCol w="3688080"/>
              </a:tblGrid>
              <a:tr h="304800">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Use it for</a:t>
                      </a:r>
                    </a:p>
                  </a:txBody>
                  <a:tcPr marL="91440" marR="91440" marT="45720" marB="45720" anchor="ctr">
                    <a:lnL>
                      <a:noFill/>
                    </a:lnL>
                    <a:lnR>
                      <a:noFill/>
                    </a:lnR>
                    <a:lnT>
                      <a:noFill/>
                    </a:lnT>
                    <a:lnB w="15240">
                      <a:solidFill>
                        <a:srgbClr val="000000"/>
                      </a:solidFill>
                    </a:lnB>
                    <a:noFill/>
                  </a:tcPr>
                </a:tc>
              </a:tr>
              <a:tr h="400050">
                <a:tc>
                  <a:txBody>
                    <a:bodyPr wrap="square" rtlCol="0" anchor="ctr"/>
                    <a:lstStyle/>
                    <a:p>
                      <a:pPr algn="l"/>
                      <a:r>
                        <a:rPr lang="en-US" sz="1050" noProof="1">
                          <a:solidFill>
                            <a:srgbClr val="000000"/>
                          </a:solidFill>
                          <a:latin typeface="Liter"/>
                          <a:ea typeface="MiSans"/>
                        </a:rPr>
                        <a:t>RTMT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alarms, perf counters, trace &amp; log collection</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SDL / SDI traces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call-setup logic failures inside CUCM</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Packet capture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one-way audio, NAT, QoS marking issues</a:t>
                      </a:r>
                    </a:p>
                  </a:txBody>
                  <a:tcPr marL="91440" marR="91440" marT="45720" marB="45720" anchor="ctr">
                    <a:lnL>
                      <a:noFill/>
                    </a:lnL>
                    <a:lnR>
                      <a:noFill/>
                    </a:lnR>
                    <a:lnT>
                      <a:noFill/>
                    </a:lnT>
                    <a:lnB w="7620">
                      <a:solidFill>
                        <a:srgbClr val="D9D9D9"/>
                      </a:solidFill>
                    </a:lnB>
                    <a:noFill/>
                  </a:tcPr>
                </a:tc>
              </a:tr>
              <a:tr h="400050">
                <a:tc>
                  <a:txBody>
                    <a:bodyPr wrap="square" rtlCol="0" anchor="ctr"/>
                    <a:lstStyle/>
                    <a:p>
                      <a:pPr algn="l"/>
                      <a:r>
                        <a:rPr lang="en-US" sz="1050" noProof="1">
                          <a:solidFill>
                            <a:srgbClr val="000000"/>
                          </a:solidFill>
                          <a:latin typeface="Liter"/>
                          <a:ea typeface="MiSans"/>
                        </a:rPr>
                        <a:t>CDR / CMR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MOS, jitter, loss per call; abuse and pattern audits</a:t>
                      </a:r>
                    </a:p>
                  </a:txBody>
                  <a:tcPr marL="91440" marR="91440" marT="45720" marB="45720" anchor="ctr">
                    <a:lnL>
                      <a:noFill/>
                    </a:lnL>
                    <a:lnR>
                      <a:noFill/>
                    </a:lnR>
                    <a:lnT>
                      <a:noFill/>
                    </a:lnT>
                    <a:lnB w="7620">
                      <a:solidFill>
                        <a:srgbClr val="D9D9D9"/>
                      </a:solidFill>
                    </a:lnB>
                    <a:noFill/>
                  </a:tcPr>
                </a:tc>
              </a:tr>
            </a:tbl>
          </a:graphicData>
        </a:graphic>
      </p:graphicFrame>
      <p:sp>
        <p:nvSpPr>
          <p:cNvPr id="19" name="cert-h"/>
          <p:cNvSpPr txBox="1"/>
          <p:nvPr/>
        </p:nvSpPr>
        <p:spPr>
          <a:xfrm>
            <a:off x="6731000" y="36830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Skill path that structures the expertise</a:t>
            </a:r>
            <a:endParaRPr lang="en-US" sz="1100" noProof="1"/>
          </a:p>
        </p:txBody>
      </p:sp>
      <p:sp>
        <p:nvSpPr>
          <p:cNvPr id="20" name="cert1"/>
          <p:cNvSpPr txBox="1"/>
          <p:nvPr/>
        </p:nvSpPr>
        <p:spPr>
          <a:xfrm>
            <a:off x="6731000" y="3987800"/>
            <a:ext cx="4851400" cy="1905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CCNA</a:t>
            </a:r>
            <a:r>
              <a:rPr lang="en-US" sz="1250" noProof="1">
                <a:solidFill>
                  <a:srgbClr val="000000"/>
                </a:solidFill>
                <a:latin typeface="Liter"/>
                <a:ea typeface="MiSans"/>
              </a:rPr>
              <a:t> — networking fundamentals every voice design assumes: VLANs, QoS, routing.</a:t>
            </a:r>
            <a:endParaRPr lang="en-US" sz="1250" noProof="1"/>
          </a:p>
          <a:p>
            <a:pPr>
              <a:lnSpc>
                <a:spcPct val="145000"/>
              </a:lnSpc>
              <a:spcBef>
                <a:spcPts val="800"/>
              </a:spcBef>
            </a:pPr>
            <a:r>
              <a:rPr lang="en-US" sz="1250" noProof="1" b="1">
                <a:solidFill>
                  <a:srgbClr val="000000"/>
                </a:solidFill>
                <a:latin typeface="Liter"/>
                <a:ea typeface="MiSans"/>
              </a:rPr>
              <a:t>CCNP Collaboration (CLCOR + concentration)</a:t>
            </a:r>
            <a:r>
              <a:rPr lang="en-US" sz="1250" noProof="1">
                <a:solidFill>
                  <a:srgbClr val="000000"/>
                </a:solidFill>
                <a:latin typeface="Liter"/>
                <a:ea typeface="MiSans"/>
              </a:rPr>
              <a:t> — CUCM, gateways, QoS, contact center or cloud specialty exams.</a:t>
            </a:r>
            <a:endParaRPr lang="en-US" sz="1250" noProof="1"/>
          </a:p>
          <a:p>
            <a:pPr>
              <a:lnSpc>
                <a:spcPct val="145000"/>
              </a:lnSpc>
              <a:spcBef>
                <a:spcPts val="800"/>
              </a:spcBef>
            </a:pPr>
            <a:r>
              <a:rPr lang="en-US" sz="1250" noProof="1" b="1">
                <a:solidFill>
                  <a:srgbClr val="000000"/>
                </a:solidFill>
                <a:latin typeface="Liter"/>
                <a:ea typeface="MiSans"/>
              </a:rPr>
              <a:t>CCIE Collaboration</a:t>
            </a:r>
            <a:r>
              <a:rPr lang="en-US" sz="1250" noProof="1">
                <a:solidFill>
                  <a:srgbClr val="000000"/>
                </a:solidFill>
                <a:latin typeface="Liter"/>
                <a:ea typeface="MiSans"/>
              </a:rPr>
              <a:t> — expert-level design and troubleshooting across the full stack covered in this deck.</a:t>
            </a:r>
            <a:endParaRPr lang="en-US" sz="1250" noProof="1"/>
          </a:p>
        </p:txBody>
      </p:sp>
      <p:sp>
        <p:nvSpPr>
          <p:cNvPr id="21"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2"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CUCM serviceability and RTMT documentation; Cisco certification portfolio, cisco.com, early 2026</a:t>
            </a:r>
            <a:endParaRPr lang="en-US" sz="850" noProof="1"/>
          </a:p>
        </p:txBody>
      </p:sp>
      <p:sp>
        <p:nvSpPr>
          <p:cNvPr id="23" name="cml-footer-bar"/>
          <p:cNvSpPr/>
          <p:nvPr/>
        </p:nvSpPr>
        <p:spPr>
          <a:xfrm>
            <a:off x="0" y="6670000"/>
            <a:ext cx="12192000" cy="640000"/>
          </a:xfrm>
          <a:prstGeom prst="rect">
            <a:avLst/>
          </a:prstGeom>
          <a:solidFill>
            <a:srgbClr val="12161C"/>
          </a:solidFill>
          <a:ln>
            <a:noFill/>
          </a:ln>
        </p:spPr>
        <p:txBody>
          <a:bodyPr/>
          <a:lstStyle/>
          <a:p/>
        </p:txBody>
      </p:sp>
      <p:sp>
        <p:nvSpPr>
          <p:cNvPr id="24" name="cml-footer-rule"/>
          <p:cNvSpPr/>
          <p:nvPr/>
        </p:nvSpPr>
        <p:spPr>
          <a:xfrm>
            <a:off x="0" y="6670000"/>
            <a:ext cx="12192000" cy="19050"/>
          </a:xfrm>
          <a:prstGeom prst="rect">
            <a:avLst/>
          </a:prstGeom>
          <a:solidFill>
            <a:srgbClr val="2DD4BF"/>
          </a:solidFill>
          <a:ln>
            <a:noFill/>
          </a:ln>
        </p:spPr>
        <p:txBody>
          <a:bodyPr/>
          <a:lstStyle/>
          <a:p/>
        </p:txBody>
      </p:sp>
      <p:sp>
        <p:nvSpPr>
          <p:cNvPr id="25"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6"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7"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8"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9"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0"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1"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2"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3"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4"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5"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6"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7"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8"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4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RTMT is the first pane of glass: alarms, counters, and traces in one loop</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The Real-Time Monitoring Tool ships with CUCM; the expertise is knowing which counter answers which question.</a:t>
            </a:r>
            <a:endParaRPr lang="en-US" sz="1100" noProof="1"/>
          </a:p>
        </p:txBody>
      </p:sp>
      <p:sp>
        <p:nvSpPr>
          <p:cNvPr id="4" name="q-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From question to counter — where to look first</a:t>
            </a:r>
            <a:endParaRPr lang="en-US" sz="1100" noProof="1"/>
          </a:p>
        </p:txBody>
      </p:sp>
      <p:graphicFrame>
        <p:nvGraphicFramePr>
          <p:cNvPr id="5" name="q-table"/>
          <p:cNvGraphicFramePr>
            <a:graphicFrameLocks noGrp="1"/>
          </p:cNvGraphicFramePr>
          <p:nvPr/>
        </p:nvGraphicFramePr>
        <p:xfrm>
          <a:off x="609600" y="1447800"/>
          <a:ext cx="5969000" cy="3124200"/>
        </p:xfrm>
        <a:graphic>
          <a:graphicData uri="http://schemas.openxmlformats.org/drawingml/2006/table">
            <a:tbl>
              <a:tblPr/>
              <a:tblGrid>
                <a:gridCol w="2268220"/>
                <a:gridCol w="3700780"/>
              </a:tblGrid>
              <a:tr h="312420">
                <a:tc>
                  <a:txBody>
                    <a:bodyPr wrap="square" rtlCol="0" anchor="ctr"/>
                    <a:lstStyle/>
                    <a:p>
                      <a:pPr algn="l"/>
                      <a:r>
                        <a:rPr lang="en-US" sz="1050" noProof="1" b="1">
                          <a:solidFill>
                            <a:srgbClr val="000000"/>
                          </a:solidFill>
                          <a:latin typeface="Liter"/>
                          <a:ea typeface="MiSans"/>
                        </a:rPr>
                        <a:t>Question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Where RTMT answers it</a:t>
                      </a:r>
                    </a:p>
                  </a:txBody>
                  <a:tcPr marL="91440" marR="91440" marT="45720" marB="45720" anchor="ctr">
                    <a:lnL>
                      <a:noFill/>
                    </a:lnL>
                    <a:lnR>
                      <a:noFill/>
                    </a:lnR>
                    <a:lnT>
                      <a:noFill/>
                    </a:lnT>
                    <a:lnB w="15240">
                      <a:solidFill>
                        <a:srgbClr val="000000"/>
                      </a:solidFill>
                    </a:lnB>
                    <a:noFill/>
                  </a:tcPr>
                </a:tc>
              </a:tr>
              <a:tr h="468630">
                <a:tc>
                  <a:txBody>
                    <a:bodyPr wrap="square" rtlCol="0" anchor="ctr"/>
                    <a:lstStyle/>
                    <a:p>
                      <a:pPr algn="l"/>
                      <a:r>
                        <a:rPr lang="en-US" sz="1050" noProof="1">
                          <a:solidFill>
                            <a:srgbClr val="000000"/>
                          </a:solidFill>
                          <a:latin typeface="Liter"/>
                          <a:ea typeface="MiSans"/>
                        </a:rPr>
                        <a:t>Is the cluster healthy?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service activation per node; DB replication state (utils dbreplication runtimestate)</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Are devices registering?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registered-device counters per node; registration-rejected alarms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Are calls completing?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calls attempted vs completed; CDR cause codes for failures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a trunk saturating?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active calls per trunk; busy-out events; gateway CPU / DSP</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media suffering?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per call — jitter, latency, loss, MOS</a:t>
                      </a:r>
                    </a:p>
                  </a:txBody>
                  <a:tcPr marL="91440" marR="91440" marT="45720" marB="45720" anchor="ctr">
                    <a:lnL>
                      <a:noFill/>
                    </a:lnL>
                    <a:lnR>
                      <a:noFill/>
                    </a:lnR>
                    <a:lnT>
                      <a:noFill/>
                    </a:lnT>
                    <a:lnB w="7620">
                      <a:solidFill>
                        <a:srgbClr val="D9D9D9"/>
                      </a:solidFill>
                    </a:lnB>
                    <a:noFill/>
                  </a:tcPr>
                </a:tc>
              </a:tr>
              <a:tr h="468630">
                <a:tc>
                  <a:txBody>
                    <a:bodyPr wrap="square" rtlCol="0" anchor="ctr"/>
                    <a:lstStyle/>
                    <a:p>
                      <a:pPr algn="l"/>
                      <a:r>
                        <a:rPr lang="en-US" sz="1050" noProof="1">
                          <a:solidFill>
                            <a:srgbClr val="000000"/>
                          </a:solidFill>
                          <a:latin typeface="Liter"/>
                          <a:ea typeface="MiSans"/>
                        </a:rPr>
                        <a:t>Is voicemail / IM&amp;P lagging?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companion-node service states; queue depth counters</a:t>
                      </a:r>
                    </a:p>
                  </a:txBody>
                  <a:tcPr marL="91440" marR="91440" marT="45720" marB="45720" anchor="ctr">
                    <a:lnL>
                      <a:noFill/>
                    </a:lnL>
                    <a:lnR>
                      <a:noFill/>
                    </a:lnR>
                    <a:lnT>
                      <a:noFill/>
                    </a:lnT>
                    <a:lnB w="7620">
                      <a:solidFill>
                        <a:srgbClr val="D9D9D9"/>
                      </a:solidFill>
                    </a:lnB>
                    <a:noFill/>
                  </a:tcPr>
                </a:tc>
              </a:tr>
            </a:tbl>
          </a:graphicData>
        </a:graphic>
      </p:graphicFrame>
      <p:sp>
        <p:nvSpPr>
          <p:cNvPr id="6" name="q-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Collect by device, not by cluster:</a:t>
            </a:r>
            <a:r>
              <a:rPr lang="en-US" sz="1250" noProof="1">
                <a:solidFill>
                  <a:srgbClr val="000000"/>
                </a:solidFill>
                <a:latin typeface="Liter"/>
                <a:ea typeface="MiSans"/>
              </a:rPr>
              <a:t> SDL traces from every node at debug level will drown the signal and load the publisher. Trace the smallest scope — one phone, one trunk — that reproduces the fault.</a:t>
            </a:r>
            <a:endParaRPr lang="en-US" sz="1250" noProof="1"/>
          </a:p>
        </p:txBody>
      </p:sp>
      <p:sp>
        <p:nvSpPr>
          <p:cNvPr id="7" name="wf-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alarm-to-evidence loop</a:t>
            </a:r>
            <a:endParaRPr lang="en-US" sz="1100" noProof="1"/>
          </a:p>
        </p:txBody>
      </p:sp>
      <p:sp>
        <p:nvSpPr>
          <p:cNvPr id="8" name="w1"/>
          <p:cNvSpPr/>
          <p:nvPr/>
        </p:nvSpPr>
        <p:spPr>
          <a:xfrm>
            <a:off x="7086600" y="1447800"/>
            <a:ext cx="4495800" cy="685800"/>
          </a:xfrm>
          <a:prstGeom prst="rect">
            <a:avLst/>
          </a:prstGeom>
          <a:solidFill>
            <a:srgbClr val="F7F5F0"/>
          </a:solidFill>
          <a:ln w="10160">
            <a:solidFill>
              <a:srgbClr val="333333"/>
            </a:solidFill>
          </a:ln>
        </p:spPr>
      </p:sp>
      <p:sp>
        <p:nvSpPr>
          <p:cNvPr id="9" name="w1t"/>
          <p:cNvSpPr txBox="1"/>
          <p:nvPr/>
        </p:nvSpPr>
        <p:spPr>
          <a:xfrm>
            <a:off x="7239000" y="15113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1 · Alert rule fires</a:t>
            </a:r>
            <a:endParaRPr lang="en-US" sz="1000" noProof="1"/>
          </a:p>
          <a:p>
            <a:pPr>
              <a:lnSpc>
                <a:spcPct val="130000"/>
              </a:lnSpc>
            </a:pPr>
            <a:r>
              <a:rPr lang="en-US" sz="850" noProof="1">
                <a:solidFill>
                  <a:srgbClr val="000000"/>
                </a:solidFill>
                <a:latin typeface="Liter"/>
                <a:ea typeface="MiSans"/>
              </a:rPr>
              <a:t>thresholds on counters → email / syslog to the NOC</a:t>
            </a:r>
            <a:endParaRPr lang="en-US" sz="1000" noProof="1"/>
          </a:p>
        </p:txBody>
      </p:sp>
      <p:sp>
        <p:nvSpPr>
          <p:cNvPr id="10" name="wa1"/>
          <p:cNvSpPr/>
          <p:nvPr>
            <p:extLst>
              <p:ext uri="{F5677B7D-0D2A-4D9B-9A5C-6D8D7D0E5A5D}">
                <pptd:line encoding="base64url">eyJ2aWV3Qm94IjpbMSwxMl0sInBvaW50cyI6IjAsMCAwLDEyIn0</pptd:line>
              </p:ext>
            </p:extLst>
          </p:nvPr>
        </p:nvSpPr>
        <p:spPr>
          <a:xfrm>
            <a:off x="9334500" y="21336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w2"/>
          <p:cNvSpPr/>
          <p:nvPr/>
        </p:nvSpPr>
        <p:spPr>
          <a:xfrm>
            <a:off x="7086600" y="2286000"/>
            <a:ext cx="4495800" cy="685800"/>
          </a:xfrm>
          <a:prstGeom prst="rect">
            <a:avLst/>
          </a:prstGeom>
          <a:solidFill>
            <a:srgbClr val="F7F5F0"/>
          </a:solidFill>
          <a:ln w="10160">
            <a:solidFill>
              <a:srgbClr val="333333"/>
            </a:solidFill>
          </a:ln>
        </p:spPr>
      </p:sp>
      <p:sp>
        <p:nvSpPr>
          <p:cNvPr id="12" name="w2t"/>
          <p:cNvSpPr txBox="1"/>
          <p:nvPr/>
        </p:nvSpPr>
        <p:spPr>
          <a:xfrm>
            <a:off x="7239000" y="23495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2 · Collect traces</a:t>
            </a:r>
            <a:endParaRPr lang="en-US" sz="1000" noProof="1"/>
          </a:p>
          <a:p>
            <a:pPr>
              <a:lnSpc>
                <a:spcPct val="130000"/>
              </a:lnSpc>
            </a:pPr>
            <a:r>
              <a:rPr lang="en-US" sz="850" noProof="1">
                <a:solidFill>
                  <a:srgbClr val="000000"/>
                </a:solidFill>
                <a:latin typeface="Liter"/>
                <a:ea typeface="MiSans"/>
              </a:rPr>
              <a:t>Trace &amp; Log Central pulls SDL / CCM traces for the window</a:t>
            </a:r>
            <a:endParaRPr lang="en-US" sz="1000" noProof="1"/>
          </a:p>
        </p:txBody>
      </p:sp>
      <p:sp>
        <p:nvSpPr>
          <p:cNvPr id="13" name="wa2"/>
          <p:cNvSpPr/>
          <p:nvPr>
            <p:extLst>
              <p:ext uri="{F5677B7D-0D2A-4D9B-9A5C-6D8D7D0E5A5D}">
                <pptd:line encoding="base64url">eyJ2aWV3Qm94IjpbMSwxMl0sInBvaW50cyI6IjAsMCAwLDEyIn0</pptd:line>
              </p:ext>
            </p:extLst>
          </p:nvPr>
        </p:nvSpPr>
        <p:spPr>
          <a:xfrm>
            <a:off x="9334500" y="29718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4" name="w3"/>
          <p:cNvSpPr/>
          <p:nvPr/>
        </p:nvSpPr>
        <p:spPr>
          <a:xfrm>
            <a:off x="7086600" y="3124200"/>
            <a:ext cx="4495800" cy="685800"/>
          </a:xfrm>
          <a:prstGeom prst="rect">
            <a:avLst/>
          </a:prstGeom>
          <a:solidFill>
            <a:srgbClr val="F7F5F0"/>
          </a:solidFill>
          <a:ln w="10160">
            <a:solidFill>
              <a:srgbClr val="333333"/>
            </a:solidFill>
          </a:ln>
        </p:spPr>
      </p:sp>
      <p:sp>
        <p:nvSpPr>
          <p:cNvPr id="15" name="w3t"/>
          <p:cNvSpPr txBox="1"/>
          <p:nvPr/>
        </p:nvSpPr>
        <p:spPr>
          <a:xfrm>
            <a:off x="7239000" y="3187700"/>
            <a:ext cx="4216400" cy="5588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3 · Correlate</a:t>
            </a:r>
            <a:endParaRPr lang="en-US" sz="1000" noProof="1"/>
          </a:p>
          <a:p>
            <a:pPr>
              <a:lnSpc>
                <a:spcPct val="130000"/>
              </a:lnSpc>
            </a:pPr>
            <a:r>
              <a:rPr lang="en-US" sz="850" noProof="1">
                <a:solidFill>
                  <a:srgbClr val="000000"/>
                </a:solidFill>
                <a:latin typeface="Liter"/>
                <a:ea typeface="MiSans"/>
              </a:rPr>
              <a:t>timestamp + calling number + device name joins alarm, trace, and CDR into one story</a:t>
            </a:r>
            <a:endParaRPr lang="en-US" sz="1000" noProof="1"/>
          </a:p>
        </p:txBody>
      </p:sp>
      <p:sp>
        <p:nvSpPr>
          <p:cNvPr id="16" name="base-box"/>
          <p:cNvSpPr/>
          <p:nvPr/>
        </p:nvSpPr>
        <p:spPr>
          <a:xfrm>
            <a:off x="7086600" y="4064000"/>
            <a:ext cx="4495800" cy="1371600"/>
          </a:xfrm>
          <a:prstGeom prst="roundRect">
            <a:avLst>
              <a:gd name="adj" fmla="val 12000"/>
            </a:avLst>
          </a:prstGeom>
          <a:solidFill>
            <a:srgbClr val="F3F3F3"/>
          </a:solidFill>
          <a:ln>
            <a:noFill/>
          </a:ln>
        </p:spPr>
      </p:sp>
      <p:sp>
        <p:nvSpPr>
          <p:cNvPr id="17" name="base-box-t"/>
          <p:cNvSpPr txBox="1"/>
          <p:nvPr/>
        </p:nvSpPr>
        <p:spPr>
          <a:xfrm>
            <a:off x="7239000" y="4191000"/>
            <a:ext cx="4191000" cy="1143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Baseline before incidents</a:t>
            </a:r>
            <a:endParaRPr lang="en-US" sz="1000" noProof="1"/>
          </a:p>
          <a:p>
            <a:pPr>
              <a:lnSpc>
                <a:spcPct val="135000"/>
              </a:lnSpc>
              <a:spcBef>
                <a:spcPts val="600"/>
              </a:spcBef>
            </a:pPr>
            <a:r>
              <a:rPr lang="en-US" sz="1000" noProof="1">
                <a:solidFill>
                  <a:srgbClr val="5A5A5A"/>
                </a:solidFill>
                <a:latin typeface="Liter"/>
                <a:ea typeface="MiSans"/>
              </a:rPr>
              <a:t>Capture a normal week of perfmon counters — registrations, call rates, trunk occupancy, CPU. Every threshold alarm is meaningless until you know what ordinary looks like on your cluster.</a:t>
            </a:r>
            <a:endParaRPr lang="en-US" sz="1000" noProof="1"/>
          </a:p>
        </p:txBody>
      </p:sp>
      <p:sp>
        <p:nvSpPr>
          <p:cNvPr id="18" name="wf-note"/>
          <p:cNvSpPr txBox="1"/>
          <p:nvPr/>
        </p:nvSpPr>
        <p:spPr>
          <a:xfrm>
            <a:off x="7086600" y="5588000"/>
            <a:ext cx="4495800" cy="4318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Centralized syslog plus CDR analytics close the loop for long-term trend and charge-back reporting.</a:t>
            </a:r>
            <a:endParaRPr lang="en-US" sz="1000" noProof="1"/>
          </a:p>
        </p:txBody>
      </p:sp>
      <p:sp>
        <p:nvSpPr>
          <p:cNvPr id="1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RTMT and CUCM serviceability documentation; counters and alarm workflow per SRND operations guidance</a:t>
            </a:r>
            <a:endParaRPr lang="en-US" sz="850" noProof="1"/>
          </a:p>
        </p:txBody>
      </p:sp>
      <p:sp>
        <p:nvSpPr>
          <p:cNvPr id="21" name="cml-footer-bar"/>
          <p:cNvSpPr/>
          <p:nvPr/>
        </p:nvSpPr>
        <p:spPr>
          <a:xfrm>
            <a:off x="0" y="6670000"/>
            <a:ext cx="12192000" cy="640000"/>
          </a:xfrm>
          <a:prstGeom prst="rect">
            <a:avLst/>
          </a:prstGeom>
          <a:solidFill>
            <a:srgbClr val="12161C"/>
          </a:solidFill>
          <a:ln>
            <a:noFill/>
          </a:ln>
        </p:spPr>
        <p:txBody>
          <a:bodyPr/>
          <a:lstStyle/>
          <a:p/>
        </p:txBody>
      </p:sp>
      <p:sp>
        <p:nvSpPr>
          <p:cNvPr id="22" name="cml-footer-rule"/>
          <p:cNvSpPr/>
          <p:nvPr/>
        </p:nvSpPr>
        <p:spPr>
          <a:xfrm>
            <a:off x="0" y="6670000"/>
            <a:ext cx="12192000" cy="19050"/>
          </a:xfrm>
          <a:prstGeom prst="rect">
            <a:avLst/>
          </a:prstGeom>
          <a:solidFill>
            <a:srgbClr val="2DD4BF"/>
          </a:solidFill>
          <a:ln>
            <a:noFill/>
          </a:ln>
        </p:spPr>
        <p:txBody>
          <a:bodyPr/>
          <a:lstStyle/>
          <a:p/>
        </p:txBody>
      </p:sp>
      <p:sp>
        <p:nvSpPr>
          <p:cNvPr id="2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Signaling faults follow a decision chain: register, route, ring — in that order</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Work the chain upstream-first; most call failures originate earlier than where the symptom appears.</a:t>
            </a:r>
            <a:endParaRPr lang="en-US" sz="1100" noProof="1"/>
          </a:p>
        </p:txBody>
      </p:sp>
      <p:sp>
        <p:nvSpPr>
          <p:cNvPr id="4" name="ch-h"/>
          <p:cNvSpPr txBox="1"/>
          <p:nvPr/>
        </p:nvSpPr>
        <p:spPr>
          <a:xfrm>
            <a:off x="609600" y="1143000"/>
            <a:ext cx="5588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three links of the signaling chain</a:t>
            </a:r>
            <a:endParaRPr lang="en-US" sz="1100" noProof="1"/>
          </a:p>
        </p:txBody>
      </p:sp>
      <p:sp>
        <p:nvSpPr>
          <p:cNvPr id="5" name="c1"/>
          <p:cNvSpPr/>
          <p:nvPr/>
        </p:nvSpPr>
        <p:spPr>
          <a:xfrm>
            <a:off x="609600" y="1447800"/>
            <a:ext cx="5588000" cy="990600"/>
          </a:xfrm>
          <a:prstGeom prst="rect">
            <a:avLst/>
          </a:prstGeom>
          <a:solidFill>
            <a:srgbClr val="F7F5F0"/>
          </a:solidFill>
          <a:ln w="10160">
            <a:solidFill>
              <a:srgbClr val="333333"/>
            </a:solidFill>
          </a:ln>
        </p:spPr>
      </p:sp>
      <p:sp>
        <p:nvSpPr>
          <p:cNvPr id="6" name="c1t"/>
          <p:cNvSpPr txBox="1"/>
          <p:nvPr/>
        </p:nvSpPr>
        <p:spPr>
          <a:xfrm>
            <a:off x="762000" y="1524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1 · Registration</a:t>
            </a:r>
            <a:endParaRPr lang="en-US" sz="1000" noProof="1"/>
          </a:p>
          <a:p>
            <a:pPr>
              <a:lnSpc>
                <a:spcPct val="132000"/>
              </a:lnSpc>
            </a:pPr>
            <a:r>
              <a:rPr lang="en-US" sz="900" noProof="1">
                <a:solidFill>
                  <a:srgbClr val="333333"/>
                </a:solidFill>
                <a:latin typeface="Liter"/>
                <a:ea typeface="MiSans"/>
              </a:rPr>
              <a:t>power and voice VLAN → DHCP </a:t>
            </a:r>
            <a:r>
              <a:rPr lang="en-US" sz="900" noProof="1" b="1">
                <a:solidFill>
                  <a:srgbClr val="000000"/>
                </a:solidFill>
                <a:latin typeface="Liter"/>
                <a:ea typeface="MiSans"/>
              </a:rPr>
              <a:t>option 150</a:t>
            </a:r>
            <a:r>
              <a:rPr lang="en-US" sz="900" noProof="1">
                <a:solidFill>
                  <a:srgbClr val="333333"/>
                </a:solidFill>
                <a:latin typeface="Liter"/>
                <a:ea typeface="MiSans"/>
              </a:rPr>
              <a:t> → TFTP config → registered to the right node? Verify on CUCM, not on the phone display.</a:t>
            </a:r>
            <a:endParaRPr lang="en-US" sz="1000" noProof="1"/>
          </a:p>
        </p:txBody>
      </p:sp>
      <p:sp>
        <p:nvSpPr>
          <p:cNvPr id="7" name="ca1"/>
          <p:cNvSpPr/>
          <p:nvPr>
            <p:extLst>
              <p:ext uri="{F5677B7D-0D2A-4D9B-9A5C-6D8D7D0E5A5D}">
                <pptd:line encoding="base64url">eyJ2aWV3Qm94IjpbMSwxMl0sInBvaW50cyI6IjAsMCAwLDEyIn0</pptd:line>
              </p:ext>
            </p:extLst>
          </p:nvPr>
        </p:nvSpPr>
        <p:spPr>
          <a:xfrm>
            <a:off x="3403600" y="2438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8" name="c2"/>
          <p:cNvSpPr/>
          <p:nvPr/>
        </p:nvSpPr>
        <p:spPr>
          <a:xfrm>
            <a:off x="609600" y="2590800"/>
            <a:ext cx="5588000" cy="990600"/>
          </a:xfrm>
          <a:prstGeom prst="rect">
            <a:avLst/>
          </a:prstGeom>
          <a:solidFill>
            <a:srgbClr val="F7F5F0"/>
          </a:solidFill>
          <a:ln w="10160">
            <a:solidFill>
              <a:srgbClr val="333333"/>
            </a:solidFill>
          </a:ln>
        </p:spPr>
      </p:sp>
      <p:sp>
        <p:nvSpPr>
          <p:cNvPr id="9" name="c2t"/>
          <p:cNvSpPr txBox="1"/>
          <p:nvPr/>
        </p:nvSpPr>
        <p:spPr>
          <a:xfrm>
            <a:off x="762000" y="2667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2 · Routing</a:t>
            </a:r>
            <a:endParaRPr lang="en-US" sz="1000" noProof="1"/>
          </a:p>
          <a:p>
            <a:pPr>
              <a:lnSpc>
                <a:spcPct val="132000"/>
              </a:lnSpc>
            </a:pPr>
            <a:r>
              <a:rPr lang="en-US" sz="900" noProof="1">
                <a:solidFill>
                  <a:srgbClr val="333333"/>
                </a:solidFill>
                <a:latin typeface="Liter"/>
                <a:ea typeface="MiSans"/>
              </a:rPr>
              <a:t>dialed digits → </a:t>
            </a:r>
            <a:r>
              <a:rPr lang="en-US" sz="900" noProof="1" b="1">
                <a:solidFill>
                  <a:srgbClr val="000000"/>
                </a:solidFill>
                <a:latin typeface="Liter"/>
                <a:ea typeface="MiSans"/>
              </a:rPr>
              <a:t>CSS / partition</a:t>
            </a:r>
            <a:r>
              <a:rPr lang="en-US" sz="900" noProof="1">
                <a:solidFill>
                  <a:srgbClr val="333333"/>
                </a:solidFill>
                <a:latin typeface="Liter"/>
                <a:ea typeface="MiSans"/>
              </a:rPr>
              <a:t> permits? → route pattern → route list → gateway or trunk member up and selected?</a:t>
            </a:r>
            <a:endParaRPr lang="en-US" sz="1000" noProof="1"/>
          </a:p>
        </p:txBody>
      </p:sp>
      <p:sp>
        <p:nvSpPr>
          <p:cNvPr id="10" name="ca2"/>
          <p:cNvSpPr/>
          <p:nvPr>
            <p:extLst>
              <p:ext uri="{F5677B7D-0D2A-4D9B-9A5C-6D8D7D0E5A5D}">
                <pptd:line encoding="base64url">eyJ2aWV3Qm94IjpbMSwxMl0sInBvaW50cyI6IjAsMCAwLDEyIn0</pptd:line>
              </p:ext>
            </p:extLst>
          </p:nvPr>
        </p:nvSpPr>
        <p:spPr>
          <a:xfrm>
            <a:off x="3403600" y="3581400"/>
            <a:ext cx="12700" cy="152400"/>
          </a:xfrm>
          <a:custGeom>
            <a:avLst/>
            <a:gdLst/>
            <a:ahLst/>
            <a:cxnLst/>
            <a:rect l="l" t="t" r="r" b="b"/>
            <a:pathLst>
              <a:path w="1" h="12">
                <a:moveTo>
                  <a:pt x="0" y="0"/>
                </a:moveTo>
                <a:lnTo>
                  <a:pt x="0" y="12"/>
                </a:lnTo>
              </a:path>
            </a:pathLst>
          </a:custGeom>
          <a:noFill/>
          <a:ln w="15240" cap="rnd">
            <a:solidFill>
              <a:srgbClr val="E69138"/>
            </a:solidFill>
            <a:round/>
            <a:tailEnd type="arrow"/>
          </a:ln>
        </p:spPr>
      </p:sp>
      <p:sp>
        <p:nvSpPr>
          <p:cNvPr id="11" name="c3"/>
          <p:cNvSpPr/>
          <p:nvPr/>
        </p:nvSpPr>
        <p:spPr>
          <a:xfrm>
            <a:off x="609600" y="3733800"/>
            <a:ext cx="5588000" cy="990600"/>
          </a:xfrm>
          <a:prstGeom prst="rect">
            <a:avLst/>
          </a:prstGeom>
          <a:solidFill>
            <a:srgbClr val="F7F5F0"/>
          </a:solidFill>
          <a:ln w="10160">
            <a:solidFill>
              <a:srgbClr val="333333"/>
            </a:solidFill>
          </a:ln>
        </p:spPr>
      </p:sp>
      <p:sp>
        <p:nvSpPr>
          <p:cNvPr id="12" name="c3t"/>
          <p:cNvSpPr txBox="1"/>
          <p:nvPr/>
        </p:nvSpPr>
        <p:spPr>
          <a:xfrm>
            <a:off x="762000" y="3810000"/>
            <a:ext cx="5308600" cy="838200"/>
          </a:xfrm>
          <a:prstGeom prst="rect">
            <a:avLst/>
          </a:prstGeom>
          <a:noFill/>
          <a:ln>
            <a:noFill/>
          </a:ln>
        </p:spPr>
        <p:txBody>
          <a:bodyPr lIns="0" rIns="0" tIns="0" bIns="0" wrap="square" rtlCol="0"/>
          <a:lstStyle/>
          <a:p>
            <a:pPr>
              <a:lnSpc>
                <a:spcPct val="132000"/>
              </a:lnSpc>
            </a:pPr>
            <a:r>
              <a:rPr lang="en-US" sz="1000" noProof="1" b="1">
                <a:solidFill>
                  <a:srgbClr val="333333"/>
                </a:solidFill>
                <a:latin typeface="Liter"/>
                <a:ea typeface="MiSans"/>
              </a:rPr>
              <a:t>3 · Media negotiation</a:t>
            </a:r>
            <a:endParaRPr lang="en-US" sz="1000" noProof="1"/>
          </a:p>
          <a:p>
            <a:pPr>
              <a:lnSpc>
                <a:spcPct val="132000"/>
              </a:lnSpc>
            </a:pPr>
            <a:r>
              <a:rPr lang="en-US" sz="900" noProof="1">
                <a:solidFill>
                  <a:srgbClr val="333333"/>
                </a:solidFill>
                <a:latin typeface="Liter"/>
                <a:ea typeface="MiSans"/>
              </a:rPr>
              <a:t>regions agree on codec? → MTP / transcoder available if needed? → SRTP capability matches on both ends?</a:t>
            </a:r>
            <a:endParaRPr lang="en-US" sz="1000" noProof="1"/>
          </a:p>
        </p:txBody>
      </p:sp>
      <p:sp>
        <p:nvSpPr>
          <p:cNvPr id="13" name="ch-note"/>
          <p:cNvSpPr txBox="1"/>
          <p:nvPr/>
        </p:nvSpPr>
        <p:spPr>
          <a:xfrm>
            <a:off x="609600" y="4927600"/>
            <a:ext cx="5588000" cy="1066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DNA is the shortcut:</a:t>
            </a:r>
            <a:r>
              <a:rPr lang="en-US" sz="1000" noProof="1">
                <a:solidFill>
                  <a:srgbClr val="5A5A5A"/>
                </a:solidFill>
                <a:latin typeface="Liter"/>
                <a:ea typeface="MiSans"/>
              </a:rPr>
              <a:t> Dialed Number Analyzer simulates a call from any device to any digit string and returns the exact routing decision — CSS hit, pattern matched, gateway chosen — without placing a call. Use it before touching the gateway.</a:t>
            </a:r>
            <a:endParaRPr lang="en-US" sz="1000" noProof="1"/>
          </a:p>
        </p:txBody>
      </p:sp>
      <p:sp>
        <p:nvSpPr>
          <p:cNvPr id="14" name="sym-h"/>
          <p:cNvSpPr txBox="1"/>
          <p:nvPr/>
        </p:nvSpPr>
        <p:spPr>
          <a:xfrm>
            <a:off x="6731000" y="1143000"/>
            <a:ext cx="4851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Symptom → likely cause → first check</a:t>
            </a:r>
            <a:endParaRPr lang="en-US" sz="1100" noProof="1"/>
          </a:p>
        </p:txBody>
      </p:sp>
      <p:graphicFrame>
        <p:nvGraphicFramePr>
          <p:cNvPr id="15" name="sym-table"/>
          <p:cNvGraphicFramePr>
            <a:graphicFrameLocks noGrp="1"/>
          </p:cNvGraphicFramePr>
          <p:nvPr/>
        </p:nvGraphicFramePr>
        <p:xfrm>
          <a:off x="6731000" y="1447800"/>
          <a:ext cx="4851400" cy="3606800"/>
        </p:xfrm>
        <a:graphic>
          <a:graphicData uri="http://schemas.openxmlformats.org/drawingml/2006/table">
            <a:tbl>
              <a:tblPr/>
              <a:tblGrid>
                <a:gridCol w="1649476"/>
                <a:gridCol w="1649476"/>
                <a:gridCol w="1552448"/>
              </a:tblGrid>
              <a:tr h="360680">
                <a:tc>
                  <a:txBody>
                    <a:bodyPr wrap="square" rtlCol="0" anchor="ctr"/>
                    <a:lstStyle/>
                    <a:p>
                      <a:pPr algn="l"/>
                      <a:r>
                        <a:rPr lang="en-US" sz="1050" noProof="1" b="1">
                          <a:solidFill>
                            <a:srgbClr val="000000"/>
                          </a:solidFill>
                          <a:latin typeface="Liter"/>
                          <a:ea typeface="MiSans"/>
                        </a:rPr>
                        <a:t>Symptom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Likely cause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First check</a:t>
                      </a:r>
                    </a:p>
                  </a:txBody>
                  <a:tcPr marL="91440" marR="91440" marT="45720" marB="45720" anchor="ctr">
                    <a:lnL>
                      <a:noFill/>
                    </a:lnL>
                    <a:lnR>
                      <a:noFill/>
                    </a:lnR>
                    <a:lnT>
                      <a:noFill/>
                    </a:lnT>
                    <a:lnB w="15240">
                      <a:solidFill>
                        <a:srgbClr val="000000"/>
                      </a:solidFill>
                    </a:lnB>
                    <a:noFill/>
                  </a:tcPr>
                </a:tc>
              </a:tr>
              <a:tr h="649224">
                <a:tc>
                  <a:txBody>
                    <a:bodyPr wrap="square" rtlCol="0" anchor="ctr"/>
                    <a:lstStyle/>
                    <a:p>
                      <a:pPr algn="l"/>
                      <a:r>
                        <a:rPr lang="en-US" sz="1050" noProof="1">
                          <a:solidFill>
                            <a:srgbClr val="000000"/>
                          </a:solidFill>
                          <a:latin typeface="Liter"/>
                          <a:ea typeface="MiSans"/>
                        </a:rPr>
                        <a:t>reorder tone after dialing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CSS / partition blocks the pattern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DNA with the device's CSS</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call drops at connect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codec / DTMF mismatch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regions; MTP allocation</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rings once, then fails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dial-peer mismatch</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debug voip ccapi inout</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registration rejected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CTL / security, wrong CUCM group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phone status messages</a:t>
                      </a:r>
                    </a:p>
                  </a:txBody>
                  <a:tcPr marL="91440" marR="91440" marT="45720" marB="45720" anchor="ctr">
                    <a:lnL>
                      <a:noFill/>
                    </a:lnL>
                    <a:lnR>
                      <a:noFill/>
                    </a:lnR>
                    <a:lnT>
                      <a:noFill/>
                    </a:lnT>
                    <a:lnB w="7620">
                      <a:solidFill>
                        <a:srgbClr val="D9D9D9"/>
                      </a:solidFill>
                    </a:lnB>
                    <a:noFill/>
                  </a:tcPr>
                </a:tc>
              </a:tr>
              <a:tr h="649224">
                <a:tc>
                  <a:txBody>
                    <a:bodyPr wrap="square" rtlCol="0" anchor="ctr"/>
                    <a:lstStyle/>
                    <a:p>
                      <a:pPr algn="l"/>
                      <a:r>
                        <a:rPr lang="en-US" sz="1050" noProof="1">
                          <a:solidFill>
                            <a:srgbClr val="000000"/>
                          </a:solidFill>
                          <a:latin typeface="Liter"/>
                          <a:ea typeface="MiSans"/>
                        </a:rPr>
                        <a:t>inbound PSTN fails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trunk CSS, called-party transform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gateway inbound dial-peer</a:t>
                      </a:r>
                    </a:p>
                  </a:txBody>
                  <a:tcPr marL="91440" marR="91440" marT="45720" marB="45720" anchor="ctr">
                    <a:lnL>
                      <a:noFill/>
                    </a:lnL>
                    <a:lnR>
                      <a:noFill/>
                    </a:lnR>
                    <a:lnT>
                      <a:noFill/>
                    </a:lnT>
                    <a:lnB w="7620">
                      <a:solidFill>
                        <a:srgbClr val="D9D9D9"/>
                      </a:solidFill>
                    </a:lnB>
                    <a:noFill/>
                  </a:tcPr>
                </a:tc>
              </a:tr>
            </a:tbl>
          </a:graphicData>
        </a:graphic>
      </p:graphicFrame>
      <p:sp>
        <p:nvSpPr>
          <p:cNvPr id="16" name="sym-note"/>
          <p:cNvSpPr txBox="1"/>
          <p:nvPr/>
        </p:nvSpPr>
        <p:spPr>
          <a:xfrm>
            <a:off x="6731000" y="5232400"/>
            <a:ext cx="4851400" cy="762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Read CDR cause codes before debugging:</a:t>
            </a:r>
            <a:r>
              <a:rPr lang="en-US" sz="1000" noProof="1">
                <a:solidFill>
                  <a:srgbClr val="5A5A5A"/>
                </a:solidFill>
                <a:latin typeface="Liter"/>
                <a:ea typeface="MiSans"/>
              </a:rPr>
              <a:t> cause 1 = unallocated number, 17 = user busy, 21 = call rejected, 38 = network out of order — the code usually names the link of the chain that broke.</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DNA and SDL troubleshooting guides; ISDN Q.850 cause codes; IOS voice debug command references</a:t>
            </a:r>
            <a:endParaRPr lang="en-US" sz="850" noProof="1"/>
          </a:p>
        </p:txBody>
      </p:sp>
      <p:sp>
        <p:nvSpPr>
          <p:cNvPr id="19" name="cml-footer-bar"/>
          <p:cNvSpPr/>
          <p:nvPr/>
        </p:nvSpPr>
        <p:spPr>
          <a:xfrm>
            <a:off x="0" y="6670000"/>
            <a:ext cx="12192000" cy="640000"/>
          </a:xfrm>
          <a:prstGeom prst="rect">
            <a:avLst/>
          </a:prstGeom>
          <a:solidFill>
            <a:srgbClr val="12161C"/>
          </a:solidFill>
          <a:ln>
            <a:noFill/>
          </a:ln>
        </p:spPr>
        <p:txBody>
          <a:bodyPr/>
          <a:lstStyle/>
          <a:p/>
        </p:txBody>
      </p:sp>
      <p:sp>
        <p:nvSpPr>
          <p:cNvPr id="20" name="cml-footer-rule"/>
          <p:cNvSpPr/>
          <p:nvPr/>
        </p:nvSpPr>
        <p:spPr>
          <a:xfrm>
            <a:off x="0" y="6670000"/>
            <a:ext cx="12192000" cy="19050"/>
          </a:xfrm>
          <a:prstGeom prst="rect">
            <a:avLst/>
          </a:prstGeom>
          <a:solidFill>
            <a:srgbClr val="2DD4BF"/>
          </a:solidFill>
          <a:ln>
            <a:noFill/>
          </a:ln>
        </p:spPr>
        <p:txBody>
          <a:bodyPr/>
          <a:lstStyle/>
          <a:p/>
        </p:txBody>
      </p:sp>
      <p:sp>
        <p:nvSpPr>
          <p:cNvPr id="2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1.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Media faults announce themselves: one-way audio, choppiness, echo — each has a fingerprint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Read the CMR before touching the network — per-call jitter, loss, and latency numbers name the culprit.</a:t>
            </a:r>
            <a:endParaRPr lang="en-US" sz="1100" noProof="1"/>
          </a:p>
        </p:txBody>
      </p:sp>
      <p:sp>
        <p:nvSpPr>
          <p:cNvPr id="4" name="sym-h"/>
          <p:cNvSpPr txBox="1"/>
          <p:nvPr/>
        </p:nvSpPr>
        <p:spPr>
          <a:xfrm>
            <a:off x="609600" y="1143000"/>
            <a:ext cx="10972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fingerprints, confirmed and fixed</a:t>
            </a:r>
            <a:endParaRPr lang="en-US" sz="1100" noProof="1"/>
          </a:p>
        </p:txBody>
      </p:sp>
      <p:graphicFrame>
        <p:nvGraphicFramePr>
          <p:cNvPr id="5" name="med-table"/>
          <p:cNvGraphicFramePr>
            <a:graphicFrameLocks noGrp="1"/>
          </p:cNvGraphicFramePr>
          <p:nvPr/>
        </p:nvGraphicFramePr>
        <p:xfrm>
          <a:off x="609600" y="1447800"/>
          <a:ext cx="10972800" cy="3352800"/>
        </p:xfrm>
        <a:graphic>
          <a:graphicData uri="http://schemas.openxmlformats.org/drawingml/2006/table">
            <a:tbl>
              <a:tblPr/>
              <a:tblGrid>
                <a:gridCol w="1865376"/>
                <a:gridCol w="3072384"/>
                <a:gridCol w="2962656"/>
                <a:gridCol w="3072384"/>
              </a:tblGrid>
              <a:tr h="335280">
                <a:tc>
                  <a:txBody>
                    <a:bodyPr wrap="square" rtlCol="0" anchor="ctr"/>
                    <a:lstStyle/>
                    <a:p>
                      <a:pPr algn="l"/>
                      <a:r>
                        <a:rPr lang="en-US" sz="1050" noProof="1" b="1">
                          <a:solidFill>
                            <a:srgbClr val="000000"/>
                          </a:solidFill>
                          <a:latin typeface="Liter"/>
                          <a:ea typeface="MiSans"/>
                        </a:rPr>
                        <a:t>Symptom</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Most likely cause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Confirm with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Fix</a:t>
                      </a:r>
                    </a:p>
                  </a:txBody>
                  <a:tcPr marL="91440" marR="91440" marT="45720" marB="45720" anchor="ctr">
                    <a:lnL>
                      <a:noFill/>
                    </a:lnL>
                    <a:lnR>
                      <a:noFill/>
                    </a:lnR>
                    <a:lnT>
                      <a:noFill/>
                    </a:lnT>
                    <a:lnB w="15240">
                      <a:solidFill>
                        <a:srgbClr val="000000"/>
                      </a:solidFill>
                    </a:lnB>
                    <a:noFill/>
                  </a:tcPr>
                </a:tc>
              </a:tr>
              <a:tr h="603504">
                <a:tc>
                  <a:txBody>
                    <a:bodyPr wrap="square" rtlCol="0" anchor="ctr"/>
                    <a:lstStyle/>
                    <a:p>
                      <a:pPr algn="l"/>
                      <a:r>
                        <a:rPr lang="en-US" sz="1050" noProof="1">
                          <a:solidFill>
                            <a:srgbClr val="000000"/>
                          </a:solidFill>
                          <a:latin typeface="Liter"/>
                          <a:ea typeface="MiSans"/>
                        </a:rPr>
                        <a:t>one-way audio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routing asymmetry, ACL or NAT blocks one RTP direction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shows packets in one direction only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fix route / ACL; verify media anchoring on CUBE</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choppy, robotic voice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jitter or loss on a congested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jitter  30 ms or loss  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LLQ for EF; fix congestion; check duplex mismatches</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echo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acoustic coupling or tail-circuit echo on PSTN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user report; gateway echo-canceller stats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tune echo-canceller coverage; reduce gain levels</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delay, talk-over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one-way latency beyond 150 ms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round-trip; path trace both directions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shorter path; remove double media anchoring</a:t>
                      </a:r>
                    </a:p>
                  </a:txBody>
                  <a:tcPr marL="91440" marR="91440" marT="45720" marB="45720" anchor="ctr">
                    <a:lnL>
                      <a:noFill/>
                    </a:lnL>
                    <a:lnR>
                      <a:noFill/>
                    </a:lnR>
                    <a:lnT>
                      <a:noFill/>
                    </a:lnT>
                    <a:lnB w="7620">
                      <a:solidFill>
                        <a:srgbClr val="D9D9D9"/>
                      </a:solidFill>
                    </a:lnB>
                    <a:noFill/>
                  </a:tcPr>
                </a:tc>
              </a:tr>
              <a:tr h="603504">
                <a:tc>
                  <a:txBody>
                    <a:bodyPr wrap="square" rtlCol="0" anchor="ctr"/>
                    <a:lstStyle/>
                    <a:p>
                      <a:pPr algn="l"/>
                      <a:r>
                        <a:rPr lang="en-US" sz="1050" noProof="1">
                          <a:solidFill>
                            <a:srgbClr val="000000"/>
                          </a:solidFill>
                          <a:latin typeface="Liter"/>
                          <a:ea typeface="MiSans"/>
                        </a:rPr>
                        <a:t>DTMF digits lost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interworking mismatch — RFC 2833 vs in-band vs KPML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fails on IVR but voice is fine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align dtmf-relay on both dial-peer legs</a:t>
                      </a:r>
                    </a:p>
                  </a:txBody>
                  <a:tcPr marL="91440" marR="91440" marT="45720" marB="45720" anchor="ctr">
                    <a:lnL>
                      <a:noFill/>
                    </a:lnL>
                    <a:lnR>
                      <a:noFill/>
                    </a:lnR>
                    <a:lnT>
                      <a:noFill/>
                    </a:lnT>
                    <a:lnB w="7620">
                      <a:solidFill>
                        <a:srgbClr val="D9D9D9"/>
                      </a:solidFill>
                    </a:lnB>
                    <a:noFill/>
                  </a:tcPr>
                </a:tc>
              </a:tr>
            </a:tbl>
          </a:graphicData>
        </a:graphic>
      </p:graphicFrame>
      <p:sp>
        <p:nvSpPr>
          <p:cNvPr id="6" name="cmr-box"/>
          <p:cNvSpPr/>
          <p:nvPr/>
        </p:nvSpPr>
        <p:spPr>
          <a:xfrm>
            <a:off x="609600" y="5029200"/>
            <a:ext cx="5969000" cy="965200"/>
          </a:xfrm>
          <a:prstGeom prst="roundRect">
            <a:avLst>
              <a:gd name="adj" fmla="val 12000"/>
            </a:avLst>
          </a:prstGeom>
          <a:solidFill>
            <a:srgbClr val="F3F3F3"/>
          </a:solidFill>
          <a:ln>
            <a:noFill/>
          </a:ln>
        </p:spPr>
      </p:sp>
      <p:sp>
        <p:nvSpPr>
          <p:cNvPr id="7" name="cmr-box-t"/>
          <p:cNvSpPr txBox="1"/>
          <p:nvPr/>
        </p:nvSpPr>
        <p:spPr>
          <a:xfrm>
            <a:off x="762000" y="5130800"/>
            <a:ext cx="5664200" cy="7620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CMR is the per-call X-ray:</a:t>
            </a:r>
            <a:r>
              <a:rPr lang="en-US" sz="1000" noProof="1">
                <a:solidFill>
                  <a:srgbClr val="5A5A5A"/>
                </a:solidFill>
                <a:latin typeface="Liter"/>
                <a:ea typeface="MiSans"/>
              </a:rPr>
              <a:t> every call writes Call Management Records with jitter, latency, loss, and a computed MOS. </a:t>
            </a:r>
            <a:r>
              <a:rPr lang="en-US" sz="1000" noProof="1" b="1">
                <a:solidFill>
                  <a:srgbClr val="5A5A5A"/>
                </a:solidFill>
                <a:latin typeface="Liter"/>
                <a:ea typeface="MiSans"/>
              </a:rPr>
              <a:t>MOS ≥ 4.0</a:t>
            </a:r>
            <a:r>
              <a:rPr lang="en-US" sz="1000" noProof="1">
                <a:solidFill>
                  <a:srgbClr val="5A5A5A"/>
                </a:solidFill>
                <a:latin typeface="Liter"/>
                <a:ea typeface="MiSans"/>
              </a:rPr>
              <a:t> is toll quality; below 3.5 users will complain — investigate before they do.</a:t>
            </a:r>
            <a:endParaRPr lang="en-US" sz="1000" noProof="1"/>
          </a:p>
        </p:txBody>
      </p:sp>
      <p:sp>
        <p:nvSpPr>
          <p:cNvPr id="8" name="owa-note"/>
          <p:cNvSpPr txBox="1"/>
          <p:nvPr/>
        </p:nvSpPr>
        <p:spPr>
          <a:xfrm>
            <a:off x="6985000" y="5029200"/>
            <a:ext cx="4597400" cy="9652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Why one-way audio dominates:</a:t>
            </a:r>
            <a:r>
              <a:rPr lang="en-US" sz="1000" noProof="1">
                <a:solidFill>
                  <a:srgbClr val="5A5A5A"/>
                </a:solidFill>
                <a:latin typeface="Liter"/>
                <a:ea typeface="MiSans"/>
              </a:rPr>
              <a:t> media flows end-to-end and ignores the signaling path. Any stateful device — firewall, NAT, asymmetric route — between the RTP endpoints can silently drop one direction while signaling stays healthy.</a:t>
            </a:r>
            <a:endParaRPr lang="en-US" sz="100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CMR field definitions and MOS thresholds; ITU-T G.114 budgets; IOS DTMF interworking documentation</a:t>
            </a:r>
            <a:endParaRPr lang="en-US" sz="850" noProof="1"/>
          </a:p>
        </p:txBody>
      </p:sp>
      <p:sp>
        <p:nvSpPr>
          <p:cNvPr id="11" name="cml-footer-bar"/>
          <p:cNvSpPr/>
          <p:nvPr/>
        </p:nvSpPr>
        <p:spPr>
          <a:xfrm>
            <a:off x="0" y="6670000"/>
            <a:ext cx="12192000" cy="640000"/>
          </a:xfrm>
          <a:prstGeom prst="rect">
            <a:avLst/>
          </a:prstGeom>
          <a:solidFill>
            <a:srgbClr val="12161C"/>
          </a:solidFill>
          <a:ln>
            <a:noFill/>
          </a:ln>
        </p:spPr>
        <p:txBody>
          <a:bodyPr/>
          <a:lstStyle/>
          <a:p/>
        </p:txBody>
      </p:sp>
      <p:sp>
        <p:nvSpPr>
          <p:cNvPr id="12" name="cml-footer-rule"/>
          <p:cNvSpPr/>
          <p:nvPr/>
        </p:nvSpPr>
        <p:spPr>
          <a:xfrm>
            <a:off x="0" y="6670000"/>
            <a:ext cx="12192000" cy="19050"/>
          </a:xfrm>
          <a:prstGeom prst="rect">
            <a:avLst/>
          </a:prstGeom>
          <a:solidFill>
            <a:srgbClr val="2DD4BF"/>
          </a:solidFill>
          <a:ln>
            <a:noFill/>
          </a:ln>
        </p:spPr>
        <p:txBody>
          <a:bodyPr/>
          <a:lstStyle/>
          <a:p/>
        </p:txBody>
      </p:sp>
      <p:sp>
        <p:nvSpPr>
          <p:cNvPr id="1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Disaster recovery and upgrades are rehearsed procedures, not events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DRS backups, a strict upgrade order, and a tested rollback separate professional operations from incident reports.</a:t>
            </a:r>
            <a:endParaRPr lang="en-US" sz="1100" noProof="1"/>
          </a:p>
        </p:txBody>
      </p:sp>
      <p:sp>
        <p:nvSpPr>
          <p:cNvPr id="4" name="dr-h"/>
          <p:cNvSpPr txBox="1"/>
          <p:nvPr/>
        </p:nvSpPr>
        <p:spPr>
          <a:xfrm>
            <a:off x="609600" y="1143000"/>
            <a:ext cx="5461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DRS — the backup discipline</a:t>
            </a:r>
            <a:endParaRPr lang="en-US" sz="1100" noProof="1"/>
          </a:p>
        </p:txBody>
      </p:sp>
      <p:sp>
        <p:nvSpPr>
          <p:cNvPr id="5" name="dr-t"/>
          <p:cNvSpPr txBox="1"/>
          <p:nvPr/>
        </p:nvSpPr>
        <p:spPr>
          <a:xfrm>
            <a:off x="609600" y="1447800"/>
            <a:ext cx="5461000" cy="20066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Schedule nightly backups</a:t>
            </a:r>
            <a:r>
              <a:rPr lang="en-US" sz="1250" noProof="1">
                <a:solidFill>
                  <a:srgbClr val="000000"/>
                </a:solidFill>
                <a:latin typeface="Liter"/>
                <a:ea typeface="MiSans"/>
              </a:rPr>
              <a:t> to an off-box SFTP target — full cluster configuration; CDR / CMR optional by size. Keep multiple generations.</a:t>
            </a:r>
            <a:endParaRPr lang="en-US" sz="1250" noProof="1"/>
          </a:p>
          <a:p>
            <a:pPr>
              <a:lnSpc>
                <a:spcPct val="145000"/>
              </a:lnSpc>
              <a:spcBef>
                <a:spcPts val="800"/>
              </a:spcBef>
            </a:pPr>
            <a:r>
              <a:rPr lang="en-US" sz="1250" noProof="1" b="1">
                <a:solidFill>
                  <a:srgbClr val="000000"/>
                </a:solidFill>
                <a:latin typeface="Liter"/>
                <a:ea typeface="MiSans"/>
              </a:rPr>
              <a:t>Restore the publisher first,</a:t>
            </a:r>
            <a:r>
              <a:rPr lang="en-US" sz="1250" noProof="1">
                <a:solidFill>
                  <a:srgbClr val="000000"/>
                </a:solidFill>
                <a:latin typeface="Liter"/>
                <a:ea typeface="MiSans"/>
              </a:rPr>
              <a:t> then subscribers rejoin and re-sync. A cluster restore is a planned maintenance activity, not improvisation.</a:t>
            </a:r>
            <a:endParaRPr lang="en-US" sz="1250" noProof="1"/>
          </a:p>
          <a:p>
            <a:pPr>
              <a:lnSpc>
                <a:spcPct val="145000"/>
              </a:lnSpc>
              <a:spcBef>
                <a:spcPts val="800"/>
              </a:spcBef>
            </a:pPr>
            <a:r>
              <a:rPr lang="en-US" sz="1250" noProof="1" b="1">
                <a:solidFill>
                  <a:srgbClr val="000000"/>
                </a:solidFill>
                <a:latin typeface="Liter"/>
                <a:ea typeface="MiSans"/>
              </a:rPr>
              <a:t>Test restores quarterly.</a:t>
            </a:r>
            <a:r>
              <a:rPr lang="en-US" sz="1250" noProof="1">
                <a:solidFill>
                  <a:srgbClr val="000000"/>
                </a:solidFill>
                <a:latin typeface="Liter"/>
                <a:ea typeface="MiSans"/>
              </a:rPr>
              <a:t> A backup that has never been restored is a rumor, not a recovery plan — prove it in a lab or on a staging publisher.</a:t>
            </a:r>
            <a:endParaRPr lang="en-US" sz="1250" noProof="1"/>
          </a:p>
          <a:p>
            <a:pPr>
              <a:lnSpc>
                <a:spcPct val="145000"/>
              </a:lnSpc>
              <a:spcBef>
                <a:spcPts val="800"/>
              </a:spcBef>
            </a:pPr>
            <a:r>
              <a:rPr lang="en-US" sz="1250" noProof="1" b="1">
                <a:solidFill>
                  <a:srgbClr val="000000"/>
                </a:solidFill>
                <a:latin typeface="Liter"/>
                <a:ea typeface="MiSans"/>
              </a:rPr>
              <a:t>Store credentials and license files</a:t>
            </a:r>
            <a:r>
              <a:rPr lang="en-US" sz="1250" noProof="1">
                <a:solidFill>
                  <a:srgbClr val="000000"/>
                </a:solidFill>
                <a:latin typeface="Liter"/>
                <a:ea typeface="MiSans"/>
              </a:rPr>
              <a:t> with the backup set; a restore without licenses is half a recovery.</a:t>
            </a:r>
            <a:endParaRPr lang="en-US" sz="1250" noProof="1"/>
          </a:p>
        </p:txBody>
      </p:sp>
      <p:sp>
        <p:nvSpPr>
          <p:cNvPr id="6" name="dr-box"/>
          <p:cNvSpPr/>
          <p:nvPr/>
        </p:nvSpPr>
        <p:spPr>
          <a:xfrm>
            <a:off x="609600" y="3708400"/>
            <a:ext cx="5461000" cy="1168400"/>
          </a:xfrm>
          <a:prstGeom prst="roundRect">
            <a:avLst>
              <a:gd name="adj" fmla="val 12000"/>
            </a:avLst>
          </a:prstGeom>
          <a:solidFill>
            <a:srgbClr val="F3F3F3"/>
          </a:solidFill>
          <a:ln>
            <a:noFill/>
          </a:ln>
        </p:spPr>
      </p:sp>
      <p:sp>
        <p:nvSpPr>
          <p:cNvPr id="7" name="dr-box-t"/>
          <p:cNvSpPr txBox="1"/>
          <p:nvPr/>
        </p:nvSpPr>
        <p:spPr>
          <a:xfrm>
            <a:off x="762000" y="3835400"/>
            <a:ext cx="51562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Recovery time is a design input:</a:t>
            </a:r>
            <a:r>
              <a:rPr lang="en-US" sz="1000" noProof="1">
                <a:solidFill>
                  <a:srgbClr val="5A5A5A"/>
                </a:solidFill>
                <a:latin typeface="Liter"/>
                <a:ea typeface="MiSans"/>
              </a:rPr>
              <a:t> with a warm standby publisher and verified backups, cluster recovery is measured in hours; without them it is measured in days. Write the RTO into the DR plan and rehearse against it.</a:t>
            </a:r>
            <a:endParaRPr lang="en-US" sz="1000" noProof="1"/>
          </a:p>
        </p:txBody>
      </p:sp>
      <p:sp>
        <p:nvSpPr>
          <p:cNvPr id="8" name="dr-note"/>
          <p:cNvSpPr txBox="1"/>
          <p:nvPr/>
        </p:nvSpPr>
        <p:spPr>
          <a:xfrm>
            <a:off x="609600" y="5080000"/>
            <a:ext cx="5461000" cy="9144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DRS covers CUCM, IM&amp;P, and Unity Connection. Contact center platforms and IOS gateways keep their own backup paths — UCCX backup schedules and gateway config archives belong in the same runbook.</a:t>
            </a:r>
            <a:endParaRPr lang="en-US" sz="1000" noProof="1"/>
          </a:p>
        </p:txBody>
      </p:sp>
      <p:sp>
        <p:nvSpPr>
          <p:cNvPr id="9" name="up-h"/>
          <p:cNvSpPr txBox="1"/>
          <p:nvPr/>
        </p:nvSpPr>
        <p:spPr>
          <a:xfrm>
            <a:off x="6604000" y="1143000"/>
            <a:ext cx="49784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upgrade order — six steps, no improvisation</a:t>
            </a:r>
            <a:endParaRPr lang="en-US" sz="1100" noProof="1"/>
          </a:p>
        </p:txBody>
      </p:sp>
      <p:sp>
        <p:nvSpPr>
          <p:cNvPr id="10" name="u1"/>
          <p:cNvSpPr/>
          <p:nvPr/>
        </p:nvSpPr>
        <p:spPr>
          <a:xfrm>
            <a:off x="6604000" y="1447800"/>
            <a:ext cx="4978400" cy="660400"/>
          </a:xfrm>
          <a:prstGeom prst="rect">
            <a:avLst/>
          </a:prstGeom>
          <a:solidFill>
            <a:srgbClr val="F7F5F0"/>
          </a:solidFill>
          <a:ln w="10160">
            <a:solidFill>
              <a:srgbClr val="333333"/>
            </a:solidFill>
          </a:ln>
        </p:spPr>
      </p:sp>
      <p:sp>
        <p:nvSpPr>
          <p:cNvPr id="11" name="u1t"/>
          <p:cNvSpPr txBox="1"/>
          <p:nvPr/>
        </p:nvSpPr>
        <p:spPr>
          <a:xfrm>
            <a:off x="6756400" y="14986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1 · Read the compatibility matrix</a:t>
            </a:r>
            <a:r>
              <a:rPr lang="en-US" sz="950" noProof="1">
                <a:solidFill>
                  <a:srgbClr val="333333"/>
                </a:solidFill>
                <a:latin typeface="Liter"/>
                <a:ea typeface="MiSans"/>
              </a:rPr>
              <a:t> </a:t>
            </a:r>
            <a:r>
              <a:rPr lang="en-US" sz="850" noProof="1">
                <a:solidFill>
                  <a:srgbClr val="000000"/>
                </a:solidFill>
                <a:latin typeface="Liter"/>
                <a:ea typeface="MiSans"/>
              </a:rPr>
              <a:t>UCCX, CUC, IM&amp;P, Expressway, and CUBE versions interlock — plan one window</a:t>
            </a:r>
            <a:endParaRPr lang="en-US" sz="950" noProof="1"/>
          </a:p>
        </p:txBody>
      </p:sp>
      <p:sp>
        <p:nvSpPr>
          <p:cNvPr id="12" name="ua1"/>
          <p:cNvSpPr/>
          <p:nvPr>
            <p:extLst>
              <p:ext uri="{F5677B7D-0D2A-4D9B-9A5C-6D8D7D0E5A5D}">
                <pptd:line encoding="base64url">eyJ2aWV3Qm94IjpbMSwxMF0sInBvaW50cyI6IjAsMCAwLDEwIn0</pptd:line>
              </p:ext>
            </p:extLst>
          </p:nvPr>
        </p:nvSpPr>
        <p:spPr>
          <a:xfrm>
            <a:off x="9093200" y="21082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3" name="u2"/>
          <p:cNvSpPr/>
          <p:nvPr/>
        </p:nvSpPr>
        <p:spPr>
          <a:xfrm>
            <a:off x="6604000" y="2235200"/>
            <a:ext cx="4978400" cy="660400"/>
          </a:xfrm>
          <a:prstGeom prst="rect">
            <a:avLst/>
          </a:prstGeom>
          <a:solidFill>
            <a:srgbClr val="F7F5F0"/>
          </a:solidFill>
          <a:ln w="10160">
            <a:solidFill>
              <a:srgbClr val="333333"/>
            </a:solidFill>
          </a:ln>
        </p:spPr>
      </p:sp>
      <p:sp>
        <p:nvSpPr>
          <p:cNvPr id="14" name="u2t"/>
          <p:cNvSpPr txBox="1"/>
          <p:nvPr/>
        </p:nvSpPr>
        <p:spPr>
          <a:xfrm>
            <a:off x="6756400" y="22860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2 · Backup and snapshot</a:t>
            </a:r>
            <a:r>
              <a:rPr lang="en-US" sz="950" noProof="1">
                <a:solidFill>
                  <a:srgbClr val="333333"/>
                </a:solidFill>
                <a:latin typeface="Liter"/>
                <a:ea typeface="MiSans"/>
              </a:rPr>
              <a:t> </a:t>
            </a:r>
            <a:r>
              <a:rPr lang="en-US" sz="850" noProof="1">
                <a:solidFill>
                  <a:srgbClr val="000000"/>
                </a:solidFill>
                <a:latin typeface="Liter"/>
                <a:ea typeface="MiSans"/>
              </a:rPr>
              <a:t>fresh DRS backup plus VM snapshot before any package is staged</a:t>
            </a:r>
            <a:endParaRPr lang="en-US" sz="950" noProof="1"/>
          </a:p>
        </p:txBody>
      </p:sp>
      <p:sp>
        <p:nvSpPr>
          <p:cNvPr id="15" name="ua2"/>
          <p:cNvSpPr/>
          <p:nvPr>
            <p:extLst>
              <p:ext uri="{F5677B7D-0D2A-4D9B-9A5C-6D8D7D0E5A5D}">
                <pptd:line encoding="base64url">eyJ2aWV3Qm94IjpbMSwxMF0sInBvaW50cyI6IjAsMCAwLDEwIn0</pptd:line>
              </p:ext>
            </p:extLst>
          </p:nvPr>
        </p:nvSpPr>
        <p:spPr>
          <a:xfrm>
            <a:off x="9093200" y="28956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6" name="u3"/>
          <p:cNvSpPr/>
          <p:nvPr/>
        </p:nvSpPr>
        <p:spPr>
          <a:xfrm>
            <a:off x="6604000" y="3022600"/>
            <a:ext cx="4978400" cy="660400"/>
          </a:xfrm>
          <a:prstGeom prst="rect">
            <a:avLst/>
          </a:prstGeom>
          <a:solidFill>
            <a:srgbClr val="F7F5F0"/>
          </a:solidFill>
          <a:ln w="10160">
            <a:solidFill>
              <a:srgbClr val="333333"/>
            </a:solidFill>
          </a:ln>
        </p:spPr>
      </p:sp>
      <p:sp>
        <p:nvSpPr>
          <p:cNvPr id="17" name="u3t"/>
          <p:cNvSpPr txBox="1"/>
          <p:nvPr/>
        </p:nvSpPr>
        <p:spPr>
          <a:xfrm>
            <a:off x="6756400" y="30734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3 · Publisher first, then subscribers</a:t>
            </a:r>
            <a:r>
              <a:rPr lang="en-US" sz="950" noProof="1">
                <a:solidFill>
                  <a:srgbClr val="333333"/>
                </a:solidFill>
                <a:latin typeface="Liter"/>
                <a:ea typeface="MiSans"/>
              </a:rPr>
              <a:t> </a:t>
            </a:r>
            <a:r>
              <a:rPr lang="en-US" sz="850" noProof="1">
                <a:solidFill>
                  <a:srgbClr val="000000"/>
                </a:solidFill>
                <a:latin typeface="Liter"/>
                <a:ea typeface="MiSans"/>
              </a:rPr>
              <a:t>one at a time; verify replication before moving on</a:t>
            </a:r>
            <a:endParaRPr lang="en-US" sz="950" noProof="1"/>
          </a:p>
        </p:txBody>
      </p:sp>
      <p:sp>
        <p:nvSpPr>
          <p:cNvPr id="18" name="ua3"/>
          <p:cNvSpPr/>
          <p:nvPr>
            <p:extLst>
              <p:ext uri="{F5677B7D-0D2A-4D9B-9A5C-6D8D7D0E5A5D}">
                <pptd:line encoding="base64url">eyJ2aWV3Qm94IjpbMSwxMF0sInBvaW50cyI6IjAsMCAwLDEwIn0</pptd:line>
              </p:ext>
            </p:extLst>
          </p:nvPr>
        </p:nvSpPr>
        <p:spPr>
          <a:xfrm>
            <a:off x="9093200" y="36830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19" name="u4"/>
          <p:cNvSpPr/>
          <p:nvPr/>
        </p:nvSpPr>
        <p:spPr>
          <a:xfrm>
            <a:off x="6604000" y="3810000"/>
            <a:ext cx="4978400" cy="660400"/>
          </a:xfrm>
          <a:prstGeom prst="rect">
            <a:avLst/>
          </a:prstGeom>
          <a:solidFill>
            <a:srgbClr val="F7F5F0"/>
          </a:solidFill>
          <a:ln w="10160">
            <a:solidFill>
              <a:srgbClr val="333333"/>
            </a:solidFill>
          </a:ln>
        </p:spPr>
      </p:sp>
      <p:sp>
        <p:nvSpPr>
          <p:cNvPr id="20" name="u4t"/>
          <p:cNvSpPr txBox="1"/>
          <p:nvPr/>
        </p:nvSpPr>
        <p:spPr>
          <a:xfrm>
            <a:off x="6756400" y="38608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4 · Switch version in the window</a:t>
            </a:r>
            <a:r>
              <a:rPr lang="en-US" sz="950" noProof="1">
                <a:solidFill>
                  <a:srgbClr val="333333"/>
                </a:solidFill>
                <a:latin typeface="Liter"/>
                <a:ea typeface="MiSans"/>
              </a:rPr>
              <a:t> </a:t>
            </a:r>
            <a:r>
              <a:rPr lang="en-US" sz="850" noProof="1">
                <a:solidFill>
                  <a:srgbClr val="000000"/>
                </a:solidFill>
                <a:latin typeface="Liter"/>
                <a:ea typeface="MiSans"/>
              </a:rPr>
              <a:t>phones re-register — stagger device pools to control the registration storm</a:t>
            </a:r>
            <a:endParaRPr lang="en-US" sz="950" noProof="1"/>
          </a:p>
        </p:txBody>
      </p:sp>
      <p:sp>
        <p:nvSpPr>
          <p:cNvPr id="21" name="ua4"/>
          <p:cNvSpPr/>
          <p:nvPr>
            <p:extLst>
              <p:ext uri="{F5677B7D-0D2A-4D9B-9A5C-6D8D7D0E5A5D}">
                <pptd:line encoding="base64url">eyJ2aWV3Qm94IjpbMSwxMF0sInBvaW50cyI6IjAsMCAwLDEwIn0</pptd:line>
              </p:ext>
            </p:extLst>
          </p:nvPr>
        </p:nvSpPr>
        <p:spPr>
          <a:xfrm>
            <a:off x="9093200" y="44704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2" name="u5"/>
          <p:cNvSpPr/>
          <p:nvPr/>
        </p:nvSpPr>
        <p:spPr>
          <a:xfrm>
            <a:off x="6604000" y="4597400"/>
            <a:ext cx="4978400" cy="660400"/>
          </a:xfrm>
          <a:prstGeom prst="rect">
            <a:avLst/>
          </a:prstGeom>
          <a:solidFill>
            <a:srgbClr val="F7F5F0"/>
          </a:solidFill>
          <a:ln w="10160">
            <a:solidFill>
              <a:srgbClr val="333333"/>
            </a:solidFill>
          </a:ln>
        </p:spPr>
      </p:sp>
      <p:sp>
        <p:nvSpPr>
          <p:cNvPr id="23" name="u5t"/>
          <p:cNvSpPr txBox="1"/>
          <p:nvPr/>
        </p:nvSpPr>
        <p:spPr>
          <a:xfrm>
            <a:off x="6756400" y="46482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5 · Verify per site</a:t>
            </a:r>
            <a:r>
              <a:rPr lang="en-US" sz="950" noProof="1">
                <a:solidFill>
                  <a:srgbClr val="333333"/>
                </a:solidFill>
                <a:latin typeface="Liter"/>
                <a:ea typeface="MiSans"/>
              </a:rPr>
              <a:t> </a:t>
            </a:r>
            <a:r>
              <a:rPr lang="en-US" sz="850" noProof="1">
                <a:solidFill>
                  <a:srgbClr val="000000"/>
                </a:solidFill>
                <a:latin typeface="Liter"/>
                <a:ea typeface="MiSans"/>
              </a:rPr>
              <a:t>dbreplication, registered devices, test calls inbound and outbound</a:t>
            </a:r>
            <a:endParaRPr lang="en-US" sz="950" noProof="1"/>
          </a:p>
        </p:txBody>
      </p:sp>
      <p:sp>
        <p:nvSpPr>
          <p:cNvPr id="24" name="ua5"/>
          <p:cNvSpPr/>
          <p:nvPr>
            <p:extLst>
              <p:ext uri="{F5677B7D-0D2A-4D9B-9A5C-6D8D7D0E5A5D}">
                <pptd:line encoding="base64url">eyJ2aWV3Qm94IjpbMSwxMF0sInBvaW50cyI6IjAsMCAwLDEwIn0</pptd:line>
              </p:ext>
            </p:extLst>
          </p:nvPr>
        </p:nvSpPr>
        <p:spPr>
          <a:xfrm>
            <a:off x="9093200" y="5257800"/>
            <a:ext cx="12700" cy="127000"/>
          </a:xfrm>
          <a:custGeom>
            <a:avLst/>
            <a:gdLst/>
            <a:ahLst/>
            <a:cxnLst/>
            <a:rect l="l" t="t" r="r" b="b"/>
            <a:pathLst>
              <a:path w="1" h="10">
                <a:moveTo>
                  <a:pt x="0" y="0"/>
                </a:moveTo>
                <a:lnTo>
                  <a:pt x="0" y="10"/>
                </a:lnTo>
              </a:path>
            </a:pathLst>
          </a:custGeom>
          <a:noFill/>
          <a:ln w="15240" cap="rnd">
            <a:solidFill>
              <a:srgbClr val="E69138"/>
            </a:solidFill>
            <a:round/>
            <a:tailEnd type="arrow"/>
          </a:ln>
        </p:spPr>
      </p:sp>
      <p:sp>
        <p:nvSpPr>
          <p:cNvPr id="25" name="u6"/>
          <p:cNvSpPr/>
          <p:nvPr/>
        </p:nvSpPr>
        <p:spPr>
          <a:xfrm>
            <a:off x="6604000" y="5384800"/>
            <a:ext cx="4978400" cy="660400"/>
          </a:xfrm>
          <a:prstGeom prst="rect">
            <a:avLst/>
          </a:prstGeom>
          <a:solidFill>
            <a:srgbClr val="FBEEDD"/>
          </a:solidFill>
          <a:ln w="13970">
            <a:solidFill>
              <a:srgbClr val="E69138"/>
            </a:solidFill>
          </a:ln>
        </p:spPr>
      </p:sp>
      <p:sp>
        <p:nvSpPr>
          <p:cNvPr id="26" name="u6t"/>
          <p:cNvSpPr txBox="1"/>
          <p:nvPr/>
        </p:nvSpPr>
        <p:spPr>
          <a:xfrm>
            <a:off x="6756400" y="5435600"/>
            <a:ext cx="4699000" cy="558800"/>
          </a:xfrm>
          <a:prstGeom prst="rect">
            <a:avLst/>
          </a:prstGeom>
          <a:noFill/>
          <a:ln>
            <a:noFill/>
          </a:ln>
        </p:spPr>
        <p:txBody>
          <a:bodyPr lIns="0" rIns="0" tIns="0" bIns="0" wrap="square" rtlCol="0"/>
          <a:lstStyle/>
          <a:p>
            <a:pPr>
              <a:lnSpc>
                <a:spcPct val="128000"/>
              </a:lnSpc>
            </a:pPr>
            <a:r>
              <a:rPr lang="en-US" sz="950" noProof="1" b="1">
                <a:solidFill>
                  <a:srgbClr val="333333"/>
                </a:solidFill>
                <a:latin typeface="Liter"/>
                <a:ea typeface="MiSans"/>
              </a:rPr>
              <a:t>6 · Keep the inactive partition as rollback</a:t>
            </a:r>
            <a:r>
              <a:rPr lang="en-US" sz="950" noProof="1">
                <a:solidFill>
                  <a:srgbClr val="333333"/>
                </a:solidFill>
                <a:latin typeface="Liter"/>
                <a:ea typeface="MiSans"/>
              </a:rPr>
              <a:t> </a:t>
            </a:r>
            <a:r>
              <a:rPr lang="en-US" sz="850" noProof="1">
                <a:solidFill>
                  <a:srgbClr val="000000"/>
                </a:solidFill>
                <a:latin typeface="Liter"/>
                <a:ea typeface="MiSans"/>
              </a:rPr>
              <a:t>switching back takes minutes; do not delete the old version until the soak period ends</a:t>
            </a:r>
            <a:endParaRPr lang="en-US" sz="950" noProof="1"/>
          </a:p>
        </p:txBody>
      </p:sp>
      <p:sp>
        <p:nvSpPr>
          <p:cNvPr id="2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2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DRS administration and upgrade guides; Cisco compatibility matrix for UC applications</a:t>
            </a:r>
            <a:endParaRPr lang="en-US" sz="850" noProof="1"/>
          </a:p>
        </p:txBody>
      </p:sp>
      <p:sp>
        <p:nvSpPr>
          <p:cNvPr id="29" name="cml-footer-bar"/>
          <p:cNvSpPr/>
          <p:nvPr/>
        </p:nvSpPr>
        <p:spPr>
          <a:xfrm>
            <a:off x="0" y="6670000"/>
            <a:ext cx="12192000" cy="640000"/>
          </a:xfrm>
          <a:prstGeom prst="rect">
            <a:avLst/>
          </a:prstGeom>
          <a:solidFill>
            <a:srgbClr val="12161C"/>
          </a:solidFill>
          <a:ln>
            <a:noFill/>
          </a:ln>
        </p:spPr>
        <p:txBody>
          <a:bodyPr/>
          <a:lstStyle/>
          <a:p/>
        </p:txBody>
      </p:sp>
      <p:sp>
        <p:nvSpPr>
          <p:cNvPr id="30" name="cml-footer-rule"/>
          <p:cNvSpPr/>
          <p:nvPr/>
        </p:nvSpPr>
        <p:spPr>
          <a:xfrm>
            <a:off x="0" y="6670000"/>
            <a:ext cx="12192000" cy="19050"/>
          </a:xfrm>
          <a:prstGeom prst="rect">
            <a:avLst/>
          </a:prstGeom>
          <a:solidFill>
            <a:srgbClr val="2DD4BF"/>
          </a:solidFill>
          <a:ln>
            <a:noFill/>
          </a:ln>
        </p:spPr>
        <p:txBody>
          <a:bodyPr/>
          <a:lstStyle/>
          <a:p/>
        </p:txBody>
      </p:sp>
      <p:sp>
        <p:nvSpPr>
          <p:cNvPr id="3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3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3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3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3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3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3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3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4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4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4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4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4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3.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Working with Cisco TAC is a skill: the evidence package decides the clock</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 well-built service request converges in days; a vague one loops for weeks — the difference is the first upload.</a:t>
            </a:r>
            <a:endParaRPr lang="en-US" sz="1100" noProof="1"/>
          </a:p>
        </p:txBody>
      </p:sp>
      <p:sp>
        <p:nvSpPr>
          <p:cNvPr id="4" name="sev-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Severity and evidence — the two things you control</a:t>
            </a:r>
            <a:endParaRPr lang="en-US" sz="1100" noProof="1"/>
          </a:p>
        </p:txBody>
      </p:sp>
      <p:graphicFrame>
        <p:nvGraphicFramePr>
          <p:cNvPr id="5" name="sev-table"/>
          <p:cNvGraphicFramePr>
            <a:graphicFrameLocks noGrp="1"/>
          </p:cNvGraphicFramePr>
          <p:nvPr/>
        </p:nvGraphicFramePr>
        <p:xfrm>
          <a:off x="609600" y="1447800"/>
          <a:ext cx="5969000" cy="1905000"/>
        </p:xfrm>
        <a:graphic>
          <a:graphicData uri="http://schemas.openxmlformats.org/drawingml/2006/table">
            <a:tbl>
              <a:tblPr/>
              <a:tblGrid>
                <a:gridCol w="955040"/>
                <a:gridCol w="2626360"/>
                <a:gridCol w="2387600"/>
              </a:tblGrid>
              <a:tr h="285750">
                <a:tc>
                  <a:txBody>
                    <a:bodyPr wrap="square" rtlCol="0" anchor="ctr"/>
                    <a:lstStyle/>
                    <a:p>
                      <a:pPr algn="l"/>
                      <a:r>
                        <a:rPr lang="en-US" sz="1050" noProof="1" b="1">
                          <a:solidFill>
                            <a:srgbClr val="000000"/>
                          </a:solidFill>
                          <a:latin typeface="Liter"/>
                          <a:ea typeface="MiSans"/>
                        </a:rPr>
                        <a:t>Severity</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Meaning</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Use when</a:t>
                      </a:r>
                    </a:p>
                  </a:txBody>
                  <a:tcPr marL="91440" marR="91440" marT="45720" marB="45720" anchor="ctr">
                    <a:lnL>
                      <a:noFill/>
                    </a:lnL>
                    <a:lnR>
                      <a:noFill/>
                    </a:lnR>
                    <a:lnT>
                      <a:noFill/>
                    </a:lnT>
                    <a:lnB w="15240">
                      <a:solidFill>
                        <a:srgbClr val="000000"/>
                      </a:solidFill>
                    </a:lnB>
                    <a:noFill/>
                  </a:tcPr>
                </a:tc>
              </a:tr>
              <a:tr h="539687">
                <a:tc>
                  <a:txBody>
                    <a:bodyPr wrap="square" rtlCol="0" anchor="ctr"/>
                    <a:lstStyle/>
                    <a:p>
                      <a:pPr algn="l"/>
                      <a:r>
                        <a:rPr lang="en-US" sz="1050" noProof="1">
                          <a:solidFill>
                            <a:srgbClr val="000000"/>
                          </a:solidFill>
                          <a:latin typeface="Liter"/>
                          <a:ea typeface="MiSans"/>
                        </a:rPr>
                        <a:t>P1 / P2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network down / severe degradation — phone, not email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cluster down, trunk down, site offline; be ready to work the case continuously</a:t>
                      </a:r>
                    </a:p>
                  </a:txBody>
                  <a:tcPr marL="91440" marR="91440" marT="45720" marB="45720" anchor="ctr">
                    <a:lnL>
                      <a:noFill/>
                    </a:lnL>
                    <a:lnR>
                      <a:noFill/>
                    </a:lnR>
                    <a:lnT>
                      <a:noFill/>
                    </a:lnT>
                    <a:lnB w="7620">
                      <a:solidFill>
                        <a:srgbClr val="D9D9D9"/>
                      </a:solidFill>
                    </a:lnB>
                    <a:noFill/>
                  </a:tcPr>
                </a:tc>
              </a:tr>
              <a:tr h="539687">
                <a:tc>
                  <a:txBody>
                    <a:bodyPr wrap="square" rtlCol="0" anchor="ctr"/>
                    <a:lstStyle/>
                    <a:p>
                      <a:pPr algn="l"/>
                      <a:r>
                        <a:rPr lang="en-US" sz="1050" noProof="1">
                          <a:solidFill>
                            <a:srgbClr val="000000"/>
                          </a:solidFill>
                          <a:latin typeface="Liter"/>
                          <a:ea typeface="MiSans"/>
                        </a:rPr>
                        <a:t>P3</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impaired but working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degraded features, workarounds exist, single-site anomalies</a:t>
                      </a:r>
                    </a:p>
                  </a:txBody>
                  <a:tcPr marL="91440" marR="91440" marT="45720" marB="45720" anchor="ctr">
                    <a:lnL>
                      <a:noFill/>
                    </a:lnL>
                    <a:lnR>
                      <a:noFill/>
                    </a:lnR>
                    <a:lnT>
                      <a:noFill/>
                    </a:lnT>
                    <a:lnB w="7620">
                      <a:solidFill>
                        <a:srgbClr val="D9D9D9"/>
                      </a:solidFill>
                    </a:lnB>
                    <a:noFill/>
                  </a:tcPr>
                </a:tc>
              </a:tr>
              <a:tr h="539877">
                <a:tc>
                  <a:txBody>
                    <a:bodyPr wrap="square" rtlCol="0" anchor="ctr"/>
                    <a:lstStyle/>
                    <a:p>
                      <a:pPr algn="l"/>
                      <a:r>
                        <a:rPr lang="en-US" sz="1050" noProof="1">
                          <a:solidFill>
                            <a:srgbClr val="000000"/>
                          </a:solidFill>
                          <a:latin typeface="Liter"/>
                          <a:ea typeface="MiSans"/>
                        </a:rPr>
                        <a:t>P4</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questions, cosmetic, documentation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behavior clarification, config review requests</a:t>
                      </a:r>
                    </a:p>
                  </a:txBody>
                  <a:tcPr marL="91440" marR="91440" marT="45720" marB="45720" anchor="ctr">
                    <a:lnL>
                      <a:noFill/>
                    </a:lnL>
                    <a:lnR>
                      <a:noFill/>
                    </a:lnR>
                    <a:lnT>
                      <a:noFill/>
                    </a:lnT>
                    <a:lnB w="7620">
                      <a:solidFill>
                        <a:srgbClr val="D9D9D9"/>
                      </a:solidFill>
                    </a:lnB>
                    <a:noFill/>
                  </a:tcPr>
                </a:tc>
              </a:tr>
            </a:tbl>
          </a:graphicData>
        </a:graphic>
      </p:graphicFrame>
      <p:sp>
        <p:nvSpPr>
          <p:cNvPr id="6" name="sev-note"/>
          <p:cNvSpPr txBox="1"/>
          <p:nvPr/>
        </p:nvSpPr>
        <p:spPr>
          <a:xfrm>
            <a:off x="609600" y="3530600"/>
            <a:ext cx="5969000" cy="762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Honest severity gets honest response:</a:t>
            </a:r>
            <a:r>
              <a:rPr lang="en-US" sz="1250" noProof="1">
                <a:solidFill>
                  <a:srgbClr val="000000"/>
                </a:solidFill>
                <a:latin typeface="Liter"/>
                <a:ea typeface="MiSans"/>
              </a:rPr>
              <a:t> inflating a P3 into a P1 buys one fast pickup and a slower case — TAC re-queues what the evidence does not support, and your next real P1 inherits the doubt.</a:t>
            </a:r>
            <a:endParaRPr lang="en-US" sz="1250" noProof="1"/>
          </a:p>
        </p:txBody>
      </p:sp>
      <p:sp>
        <p:nvSpPr>
          <p:cNvPr id="7" name="pkg-h"/>
          <p:cNvSpPr txBox="1"/>
          <p:nvPr/>
        </p:nvSpPr>
        <p:spPr>
          <a:xfrm>
            <a:off x="609600" y="44196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first-upload evidence package</a:t>
            </a:r>
            <a:endParaRPr lang="en-US" sz="1100" noProof="1"/>
          </a:p>
        </p:txBody>
      </p:sp>
      <p:sp>
        <p:nvSpPr>
          <p:cNvPr id="8" name="pkg-list"/>
          <p:cNvSpPr txBox="1"/>
          <p:nvPr/>
        </p:nvSpPr>
        <p:spPr>
          <a:xfrm>
            <a:off x="609600" y="4724400"/>
            <a:ext cx="5969000" cy="1244600"/>
          </a:xfrm>
          <a:prstGeom prst="rect">
            <a:avLst/>
          </a:prstGeom>
          <a:noFill/>
          <a:ln>
            <a:noFill/>
          </a:ln>
        </p:spPr>
        <p:txBody>
          <a:bodyPr lIns="0" rIns="0" tIns="0" bIns="0" wrap="square" rtlCol="0"/>
          <a:lstStyle/>
          <a:p>
            <a:pPr>
              <a:lnSpc>
                <a:spcPct val="150000"/>
              </a:lnSpc>
            </a:pPr>
            <a:r>
              <a:rPr lang="en-US" sz="1000" noProof="1">
                <a:solidFill>
                  <a:srgbClr val="333333"/>
                </a:solidFill>
                <a:latin typeface="Liter"/>
                <a:ea typeface="MiSans"/>
              </a:rPr>
              <a:t>□ Problem statement with exact timeline and scope — users, sites, since when, what changed</a:t>
            </a:r>
            <a:endParaRPr lang="en-US" sz="1000" noProof="1"/>
          </a:p>
          <a:p>
            <a:pPr>
              <a:lnSpc>
                <a:spcPct val="150000"/>
              </a:lnSpc>
            </a:pPr>
            <a:r>
              <a:rPr lang="en-US" sz="1000" noProof="1">
                <a:solidFill>
                  <a:srgbClr val="333333"/>
                </a:solidFill>
                <a:latin typeface="Liter"/>
                <a:ea typeface="MiSans"/>
              </a:rPr>
              <a:t>□ RTMT logs for the incident window, per affected node</a:t>
            </a:r>
            <a:endParaRPr lang="en-US" sz="1000" noProof="1"/>
          </a:p>
          <a:p>
            <a:pPr>
              <a:lnSpc>
                <a:spcPct val="150000"/>
              </a:lnSpc>
            </a:pPr>
            <a:r>
              <a:rPr lang="en-US" sz="1000" noProof="1">
                <a:solidFill>
                  <a:srgbClr val="333333"/>
                </a:solidFill>
                <a:latin typeface="Liter"/>
                <a:ea typeface="MiSans"/>
              </a:rPr>
              <a:t>□ SDL traces scoped to one failing call, with its Call-ID</a:t>
            </a:r>
            <a:endParaRPr lang="en-US" sz="1000" noProof="1"/>
          </a:p>
          <a:p>
            <a:pPr>
              <a:lnSpc>
                <a:spcPct val="150000"/>
              </a:lnSpc>
            </a:pPr>
            <a:r>
              <a:rPr lang="en-US" sz="1000" noProof="1">
                <a:solidFill>
                  <a:srgbClr val="333333"/>
                </a:solidFill>
                <a:latin typeface="Liter"/>
                <a:ea typeface="MiSans"/>
              </a:rPr>
              <a:t>□ Packet capture at the failing boundary, if media or trunk related</a:t>
            </a:r>
            <a:endParaRPr lang="en-US" sz="1000" noProof="1"/>
          </a:p>
          <a:p>
            <a:pPr>
              <a:lnSpc>
                <a:spcPct val="150000"/>
              </a:lnSpc>
            </a:pPr>
            <a:r>
              <a:rPr lang="en-US" sz="1000" noProof="1">
                <a:solidFill>
                  <a:srgbClr val="333333"/>
                </a:solidFill>
                <a:latin typeface="Liter"/>
                <a:ea typeface="MiSans"/>
              </a:rPr>
              <a:t>□ Sanitized configs and a one-page topology diagram</a:t>
            </a:r>
            <a:endParaRPr lang="en-US" sz="1000" noProof="1"/>
          </a:p>
        </p:txBody>
      </p:sp>
      <p:sp>
        <p:nvSpPr>
          <p:cNvPr id="9" name="esc-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Escalation paths that actually move a case</a:t>
            </a:r>
            <a:endParaRPr lang="en-US" sz="1100" noProof="1"/>
          </a:p>
        </p:txBody>
      </p:sp>
      <p:graphicFrame>
        <p:nvGraphicFramePr>
          <p:cNvPr id="10" name="esc-table"/>
          <p:cNvGraphicFramePr>
            <a:graphicFrameLocks noGrp="1"/>
          </p:cNvGraphicFramePr>
          <p:nvPr/>
        </p:nvGraphicFramePr>
        <p:xfrm>
          <a:off x="7086600" y="1447800"/>
          <a:ext cx="4495800" cy="2235200"/>
        </p:xfrm>
        <a:graphic>
          <a:graphicData uri="http://schemas.openxmlformats.org/drawingml/2006/table">
            <a:tbl>
              <a:tblPr/>
              <a:tblGrid>
                <a:gridCol w="1528572"/>
                <a:gridCol w="2967228"/>
              </a:tblGrid>
              <a:tr h="290576">
                <a:tc>
                  <a:txBody>
                    <a:bodyPr wrap="square" rtlCol="0" anchor="ctr"/>
                    <a:lstStyle/>
                    <a:p>
                      <a:pPr algn="l"/>
                      <a:r>
                        <a:rPr lang="en-US" sz="1050" noProof="1" b="1">
                          <a:solidFill>
                            <a:srgbClr val="000000"/>
                          </a:solidFill>
                          <a:latin typeface="Liter"/>
                          <a:ea typeface="MiSans"/>
                        </a:rPr>
                        <a:t>Path</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When and how</a:t>
                      </a:r>
                    </a:p>
                  </a:txBody>
                  <a:tcPr marL="91440" marR="91440" marT="45720" marB="45720" anchor="ctr">
                    <a:lnL>
                      <a:noFill/>
                    </a:lnL>
                    <a:lnR>
                      <a:noFill/>
                    </a:lnR>
                    <a:lnT>
                      <a:noFill/>
                    </a:lnT>
                    <a:lnB w="15240">
                      <a:solidFill>
                        <a:srgbClr val="000000"/>
                      </a:solidFill>
                    </a:lnB>
                    <a:noFill/>
                  </a:tcPr>
                </a:tc>
              </a:tr>
              <a:tr h="486156">
                <a:tc>
                  <a:txBody>
                    <a:bodyPr wrap="square" rtlCol="0" anchor="ctr"/>
                    <a:lstStyle/>
                    <a:p>
                      <a:pPr algn="l"/>
                      <a:r>
                        <a:rPr lang="en-US" sz="1050" noProof="1">
                          <a:solidFill>
                            <a:srgbClr val="000000"/>
                          </a:solidFill>
                          <a:latin typeface="Liter"/>
                          <a:ea typeface="MiSans"/>
                        </a:rPr>
                        <a:t>Bug Search first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check for a known defect before opening — a published bug ID with a workaround beats a new case</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Duty manager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stalled cases, unresponsive queues, missed callbacks — request through the case notes or hotline</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Account team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chronic issues, TAM / SE engagement, enhancement requests — TAC fixes defects, account teams move roadmaps</a:t>
                      </a:r>
                    </a:p>
                  </a:txBody>
                  <a:tcPr marL="91440" marR="91440" marT="45720" marB="45720" anchor="ctr">
                    <a:lnL>
                      <a:noFill/>
                    </a:lnL>
                    <a:lnR>
                      <a:noFill/>
                    </a:lnR>
                    <a:lnT>
                      <a:noFill/>
                    </a:lnT>
                    <a:lnB w="7620">
                      <a:solidFill>
                        <a:srgbClr val="D9D9D9"/>
                      </a:solidFill>
                    </a:lnB>
                    <a:noFill/>
                  </a:tcPr>
                </a:tc>
              </a:tr>
              <a:tr h="486156">
                <a:tc>
                  <a:txBody>
                    <a:bodyPr wrap="square" rtlCol="0" anchor="ctr"/>
                    <a:lstStyle/>
                    <a:p>
                      <a:pPr algn="l"/>
                      <a:r>
                        <a:rPr lang="en-US" sz="1050" noProof="1">
                          <a:solidFill>
                            <a:srgbClr val="000000"/>
                          </a:solidFill>
                          <a:latin typeface="Liter"/>
                          <a:ea typeface="MiSans"/>
                        </a:rPr>
                        <a:t>Bug ID literacy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read CSCxx12345 for affected and fixed-in versions before any upgrade — it is the cheapest regression test</a:t>
                      </a:r>
                    </a:p>
                  </a:txBody>
                  <a:tcPr marL="91440" marR="91440" marT="45720" marB="45720" anchor="ctr">
                    <a:lnL>
                      <a:noFill/>
                    </a:lnL>
                    <a:lnR>
                      <a:noFill/>
                    </a:lnR>
                    <a:lnT>
                      <a:noFill/>
                    </a:lnT>
                    <a:lnB w="7620">
                      <a:solidFill>
                        <a:srgbClr val="D9D9D9"/>
                      </a:solidFill>
                    </a:lnB>
                    <a:noFill/>
                  </a:tcPr>
                </a:tc>
              </a:tr>
            </a:tbl>
          </a:graphicData>
        </a:graphic>
      </p:graphicFrame>
      <p:sp>
        <p:nvSpPr>
          <p:cNvPr id="11" name="lab-box"/>
          <p:cNvSpPr/>
          <p:nvPr/>
        </p:nvSpPr>
        <p:spPr>
          <a:xfrm>
            <a:off x="7086600" y="3886200"/>
            <a:ext cx="4495800" cy="1270000"/>
          </a:xfrm>
          <a:prstGeom prst="roundRect">
            <a:avLst>
              <a:gd name="adj" fmla="val 12000"/>
            </a:avLst>
          </a:prstGeom>
          <a:solidFill>
            <a:srgbClr val="F3F3F3"/>
          </a:solidFill>
          <a:ln>
            <a:noFill/>
          </a:ln>
        </p:spPr>
      </p:sp>
      <p:sp>
        <p:nvSpPr>
          <p:cNvPr id="12" name="lab-box-t"/>
          <p:cNvSpPr txBox="1"/>
          <p:nvPr/>
        </p:nvSpPr>
        <p:spPr>
          <a:xfrm>
            <a:off x="7239000" y="40132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reproduction rule</a:t>
            </a:r>
            <a:endParaRPr lang="en-US" sz="1000" noProof="1"/>
          </a:p>
          <a:p>
            <a:pPr>
              <a:lnSpc>
                <a:spcPct val="135000"/>
              </a:lnSpc>
              <a:spcBef>
                <a:spcPts val="600"/>
              </a:spcBef>
            </a:pPr>
            <a:r>
              <a:rPr lang="en-US" sz="1000" noProof="1">
                <a:solidFill>
                  <a:srgbClr val="5A5A5A"/>
                </a:solidFill>
                <a:latin typeface="Liter"/>
                <a:ea typeface="MiSans"/>
              </a:rPr>
              <a:t>TAC moves fastest when you can reproduce the fault on demand. Invest in the smallest lab that reproduces it (Section 07) — a reproducible defect is a defect with a countdown clock.</a:t>
            </a:r>
            <a:endParaRPr lang="en-US" sz="1000" noProof="1"/>
          </a:p>
        </p:txBody>
      </p:sp>
      <p:sp>
        <p:nvSpPr>
          <p:cNvPr id="13" name="esc-note"/>
          <p:cNvSpPr txBox="1"/>
          <p:nvPr/>
        </p:nvSpPr>
        <p:spPr>
          <a:xfrm>
            <a:off x="7086600" y="5334000"/>
            <a:ext cx="4495800" cy="660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Expectation hygiene:</a:t>
            </a:r>
            <a:r>
              <a:rPr lang="en-US" sz="1000" noProof="1">
                <a:solidFill>
                  <a:srgbClr val="5A5A5A"/>
                </a:solidFill>
                <a:latin typeface="Liter"/>
                <a:ea typeface="MiSans"/>
              </a:rPr>
              <a:t> TAC restores documented behavior; it does not redesign your dial plan, and it cannot see your network. The more of Section 06's telemetry you bring, the more the case is diagnosis instead of archaeology.</a:t>
            </a:r>
            <a:endParaRPr lang="en-US" sz="1000" noProof="1"/>
          </a:p>
        </p:txBody>
      </p:sp>
      <p:sp>
        <p:nvSpPr>
          <p:cNvPr id="14"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5"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TAC service-request handling and severity definitions; Bug Search Tool usage — operational practice, not an official SLA</a:t>
            </a:r>
            <a:endParaRPr lang="en-US" sz="850" noProof="1"/>
          </a:p>
        </p:txBody>
      </p:sp>
      <p:sp>
        <p:nvSpPr>
          <p:cNvPr id="16" name="cml-footer-bar"/>
          <p:cNvSpPr/>
          <p:nvPr/>
        </p:nvSpPr>
        <p:spPr>
          <a:xfrm>
            <a:off x="0" y="6670000"/>
            <a:ext cx="12192000" cy="640000"/>
          </a:xfrm>
          <a:prstGeom prst="rect">
            <a:avLst/>
          </a:prstGeom>
          <a:solidFill>
            <a:srgbClr val="12161C"/>
          </a:solidFill>
          <a:ln>
            <a:noFill/>
          </a:ln>
        </p:spPr>
        <p:txBody>
          <a:bodyPr/>
          <a:lstStyle/>
          <a:p/>
        </p:txBody>
      </p:sp>
      <p:sp>
        <p:nvSpPr>
          <p:cNvPr id="17" name="cml-footer-rule"/>
          <p:cNvSpPr/>
          <p:nvPr/>
        </p:nvSpPr>
        <p:spPr>
          <a:xfrm>
            <a:off x="0" y="6670000"/>
            <a:ext cx="12192000" cy="19050"/>
          </a:xfrm>
          <a:prstGeom prst="rect">
            <a:avLst/>
          </a:prstGeom>
          <a:solidFill>
            <a:srgbClr val="2DD4BF"/>
          </a:solidFill>
          <a:ln>
            <a:noFill/>
          </a:ln>
        </p:spPr>
        <p:txBody>
          <a:bodyPr/>
          <a:lstStyle/>
          <a:p/>
        </p:txBody>
      </p:sp>
      <p:sp>
        <p:nvSpPr>
          <p:cNvPr id="1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4.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Case study: forty minutes from 'calls sound robotic' to root cause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Illustrative timeline built from a common real-world pattern — the tools and their order are the point, not the site names.</a:t>
            </a:r>
            <a:endParaRPr lang="en-US" sz="1100" noProof="1"/>
          </a:p>
        </p:txBody>
      </p:sp>
      <p:sp>
        <p:nvSpPr>
          <p:cNvPr id="4" name="tl-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timeline — every step uses one tool from Section 06</a:t>
            </a:r>
            <a:endParaRPr lang="en-US" sz="1100" noProof="1"/>
          </a:p>
        </p:txBody>
      </p:sp>
      <p:graphicFrame>
        <p:nvGraphicFramePr>
          <p:cNvPr id="5" name="tl-table"/>
          <p:cNvGraphicFramePr>
            <a:graphicFrameLocks noGrp="1"/>
          </p:cNvGraphicFramePr>
          <p:nvPr/>
        </p:nvGraphicFramePr>
        <p:xfrm>
          <a:off x="609600" y="1447800"/>
          <a:ext cx="5969000" cy="3657600"/>
        </p:xfrm>
        <a:graphic>
          <a:graphicData uri="http://schemas.openxmlformats.org/drawingml/2006/table">
            <a:tbl>
              <a:tblPr/>
              <a:tblGrid>
                <a:gridCol w="775970"/>
                <a:gridCol w="2984500"/>
                <a:gridCol w="2208530"/>
              </a:tblGrid>
              <a:tr h="292608">
                <a:tc>
                  <a:txBody>
                    <a:bodyPr wrap="square" rtlCol="0" anchor="ctr"/>
                    <a:lstStyle/>
                    <a:p>
                      <a:pPr algn="l"/>
                      <a:r>
                        <a:rPr lang="en-US" sz="1050" noProof="1" b="1">
                          <a:solidFill>
                            <a:srgbClr val="000000"/>
                          </a:solidFill>
                          <a:latin typeface="Liter"/>
                          <a:ea typeface="MiSans"/>
                        </a:rPr>
                        <a:t>Time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Observation / action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Tool</a:t>
                      </a:r>
                    </a:p>
                  </a:txBody>
                  <a:tcPr marL="91440" marR="91440" marT="45720" marB="45720" anchor="ctr">
                    <a:lnL>
                      <a:noFill/>
                    </a:lnL>
                    <a:lnR>
                      <a:noFill/>
                    </a:lnR>
                    <a:lnT>
                      <a:noFill/>
                    </a:lnT>
                    <a:lnB w="15240">
                      <a:solidFill>
                        <a:srgbClr val="000000"/>
                      </a:solidFill>
                    </a:lnB>
                    <a:noFill/>
                  </a:tcPr>
                </a:tc>
              </a:tr>
              <a:tr h="560710">
                <a:tc>
                  <a:txBody>
                    <a:bodyPr wrap="square" rtlCol="0" anchor="ctr"/>
                    <a:lstStyle/>
                    <a:p>
                      <a:pPr algn="l"/>
                      <a:r>
                        <a:rPr lang="en-US" sz="1050" noProof="1">
                          <a:solidFill>
                            <a:srgbClr val="000000"/>
                          </a:solidFill>
                          <a:latin typeface="Liter"/>
                          <a:ea typeface="MiSans"/>
                        </a:rPr>
                        <a:t>T+0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Site B reports robotic, choppy voice on external calls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help desk ticket</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T+5</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pull: jitter 45 ms on Site B calls only; MOS 3.2 — the fault is one site, media-plane</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CDR / CMR analytics</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T+12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Site B WAN trunk at 98% utilization since morning; LLQ policy intact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RTMT perfmon</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T+20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uplink flapping — err-disable storm after a morning switch change; traffic pinned to one member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switch logs / syslog</a:t>
                      </a:r>
                    </a:p>
                  </a:txBody>
                  <a:tcPr marL="91440" marR="91440" marT="45720" marB="45720" anchor="ctr">
                    <a:lnL>
                      <a:noFill/>
                    </a:lnL>
                    <a:lnR>
                      <a:noFill/>
                    </a:lnR>
                    <a:lnT>
                      <a:noFill/>
                    </a:lnT>
                    <a:lnB w="7620">
                      <a:solidFill>
                        <a:srgbClr val="D9D9D9"/>
                      </a:solidFill>
                    </a:lnB>
                    <a:noFill/>
                  </a:tcPr>
                </a:tc>
              </a:tr>
              <a:tr h="560710">
                <a:tc>
                  <a:txBody>
                    <a:bodyPr wrap="square" rtlCol="0" anchor="ctr"/>
                    <a:lstStyle/>
                    <a:p>
                      <a:pPr algn="l"/>
                      <a:r>
                        <a:rPr lang="en-US" sz="1050" noProof="1">
                          <a:solidFill>
                            <a:srgbClr val="000000"/>
                          </a:solidFill>
                          <a:latin typeface="Liter"/>
                          <a:ea typeface="MiSans"/>
                        </a:rPr>
                        <a:t>T+32</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traffic shifted to redundant path; queueing verified on the surviving link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runbook procedure</a:t>
                      </a:r>
                    </a:p>
                  </a:txBody>
                  <a:tcPr marL="91440" marR="91440" marT="45720" marB="45720" anchor="ctr">
                    <a:lnL>
                      <a:noFill/>
                    </a:lnL>
                    <a:lnR>
                      <a:noFill/>
                    </a:lnR>
                    <a:lnT>
                      <a:noFill/>
                    </a:lnT>
                    <a:lnB w="7620">
                      <a:solidFill>
                        <a:srgbClr val="D9D9D9"/>
                      </a:solidFill>
                    </a:lnB>
                    <a:noFill/>
                  </a:tcPr>
                </a:tc>
              </a:tr>
              <a:tr h="561442">
                <a:tc>
                  <a:txBody>
                    <a:bodyPr wrap="square" rtlCol="0" anchor="ctr"/>
                    <a:lstStyle/>
                    <a:p>
                      <a:pPr algn="l"/>
                      <a:r>
                        <a:rPr lang="en-US" sz="1050" noProof="1">
                          <a:solidFill>
                            <a:srgbClr val="000000"/>
                          </a:solidFill>
                          <a:latin typeface="Liter"/>
                          <a:ea typeface="MiSans"/>
                        </a:rPr>
                        <a:t>T+40</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MOS back to 4.2 on fresh CMR sample; monitoring watch set for 24 h; change record opened for the storm guard gap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CMR verification</a:t>
                      </a:r>
                    </a:p>
                  </a:txBody>
                  <a:tcPr marL="91440" marR="91440" marT="45720" marB="45720" anchor="ctr">
                    <a:lnL>
                      <a:noFill/>
                    </a:lnL>
                    <a:lnR>
                      <a:noFill/>
                    </a:lnR>
                    <a:lnT>
                      <a:noFill/>
                    </a:lnT>
                    <a:lnB w="7620">
                      <a:solidFill>
                        <a:srgbClr val="D9D9D9"/>
                      </a:solidFill>
                    </a:lnB>
                    <a:noFill/>
                  </a:tcPr>
                </a:tc>
              </a:tr>
            </a:tbl>
          </a:graphicData>
        </a:graphic>
      </p:graphicFrame>
      <p:sp>
        <p:nvSpPr>
          <p:cNvPr id="6" name="tl-note"/>
          <p:cNvSpPr txBox="1"/>
          <p:nvPr/>
        </p:nvSpPr>
        <p:spPr>
          <a:xfrm>
            <a:off x="609600" y="5283200"/>
            <a:ext cx="5969000" cy="711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Notice what never happened:</a:t>
            </a:r>
            <a:r>
              <a:rPr lang="en-US" sz="1250" noProof="1">
                <a:solidFill>
                  <a:srgbClr val="000000"/>
                </a:solidFill>
                <a:latin typeface="Liter"/>
                <a:ea typeface="MiSans"/>
              </a:rPr>
              <a:t> no phone reboots, no codec changes, no gateway restarts — the first three queries located the fault before a single device was touched.</a:t>
            </a:r>
            <a:endParaRPr lang="en-US" sz="1250" noProof="1"/>
          </a:p>
        </p:txBody>
      </p:sp>
      <p:sp>
        <p:nvSpPr>
          <p:cNvPr id="7" name="fast-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made forty minutes possible</a:t>
            </a:r>
            <a:endParaRPr lang="en-US" sz="1100" noProof="1"/>
          </a:p>
        </p:txBody>
      </p:sp>
      <p:sp>
        <p:nvSpPr>
          <p:cNvPr id="8" name="k1"/>
          <p:cNvSpPr/>
          <p:nvPr/>
        </p:nvSpPr>
        <p:spPr>
          <a:xfrm>
            <a:off x="7086600" y="1447800"/>
            <a:ext cx="4495800" cy="838200"/>
          </a:xfrm>
          <a:prstGeom prst="rect">
            <a:avLst/>
          </a:prstGeom>
          <a:solidFill>
            <a:srgbClr val="F7F5F0"/>
          </a:solidFill>
          <a:ln w="10160">
            <a:solidFill>
              <a:srgbClr val="333333"/>
            </a:solidFill>
          </a:ln>
        </p:spPr>
      </p:sp>
      <p:sp>
        <p:nvSpPr>
          <p:cNvPr id="9" name="k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A baseline existed</a:t>
            </a:r>
            <a:endParaRPr lang="en-US" sz="1000" noProof="1"/>
          </a:p>
          <a:p>
            <a:pPr>
              <a:lnSpc>
                <a:spcPct val="130000"/>
              </a:lnSpc>
            </a:pPr>
            <a:r>
              <a:rPr lang="en-US" sz="850" noProof="1">
                <a:solidFill>
                  <a:srgbClr val="000000"/>
                </a:solidFill>
                <a:latin typeface="Liter"/>
                <a:ea typeface="MiSans"/>
              </a:rPr>
              <a:t>98% utilization was obviously abnormal because normal was measured last month (RTMT page)</a:t>
            </a:r>
            <a:endParaRPr lang="en-US" sz="1000" noProof="1"/>
          </a:p>
        </p:txBody>
      </p:sp>
      <p:sp>
        <p:nvSpPr>
          <p:cNvPr id="10" name="k2"/>
          <p:cNvSpPr/>
          <p:nvPr/>
        </p:nvSpPr>
        <p:spPr>
          <a:xfrm>
            <a:off x="7086600" y="2438400"/>
            <a:ext cx="4495800" cy="838200"/>
          </a:xfrm>
          <a:prstGeom prst="rect">
            <a:avLst/>
          </a:prstGeom>
          <a:solidFill>
            <a:srgbClr val="F7F5F0"/>
          </a:solidFill>
          <a:ln w="10160">
            <a:solidFill>
              <a:srgbClr val="333333"/>
            </a:solidFill>
          </a:ln>
        </p:spPr>
      </p:sp>
      <p:sp>
        <p:nvSpPr>
          <p:cNvPr id="11" name="k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CMR answered in one query</a:t>
            </a:r>
            <a:endParaRPr lang="en-US" sz="1000" noProof="1"/>
          </a:p>
          <a:p>
            <a:pPr>
              <a:lnSpc>
                <a:spcPct val="130000"/>
              </a:lnSpc>
            </a:pPr>
            <a:r>
              <a:rPr lang="en-US" sz="850" noProof="1">
                <a:solidFill>
                  <a:srgbClr val="000000"/>
                </a:solidFill>
                <a:latin typeface="Liter"/>
                <a:ea typeface="MiSans"/>
              </a:rPr>
              <a:t>jitter + one site + MOS number turned a feeling into a location — the media-fault page's first move</a:t>
            </a:r>
            <a:endParaRPr lang="en-US" sz="1000" noProof="1"/>
          </a:p>
        </p:txBody>
      </p:sp>
      <p:sp>
        <p:nvSpPr>
          <p:cNvPr id="12" name="k3"/>
          <p:cNvSpPr/>
          <p:nvPr/>
        </p:nvSpPr>
        <p:spPr>
          <a:xfrm>
            <a:off x="7086600" y="3429000"/>
            <a:ext cx="4495800" cy="838200"/>
          </a:xfrm>
          <a:prstGeom prst="rect">
            <a:avLst/>
          </a:prstGeom>
          <a:solidFill>
            <a:srgbClr val="F7F5F0"/>
          </a:solidFill>
          <a:ln w="10160">
            <a:solidFill>
              <a:srgbClr val="333333"/>
            </a:solidFill>
          </a:ln>
        </p:spPr>
      </p:sp>
      <p:sp>
        <p:nvSpPr>
          <p:cNvPr id="13" name="k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The runbook had the steps</a:t>
            </a:r>
            <a:endParaRPr lang="en-US" sz="1000" noProof="1"/>
          </a:p>
          <a:p>
            <a:pPr>
              <a:lnSpc>
                <a:spcPct val="130000"/>
              </a:lnSpc>
            </a:pPr>
            <a:r>
              <a:rPr lang="en-US" sz="850" noProof="1">
                <a:solidFill>
                  <a:srgbClr val="000000"/>
                </a:solidFill>
                <a:latin typeface="Liter"/>
                <a:ea typeface="MiSans"/>
              </a:rPr>
              <a:t>evidence collection was a checklist, not improvisation — no time spent deciding what to collect</a:t>
            </a:r>
            <a:endParaRPr lang="en-US" sz="1000" noProof="1"/>
          </a:p>
        </p:txBody>
      </p:sp>
      <p:sp>
        <p:nvSpPr>
          <p:cNvPr id="14" name="retro-box"/>
          <p:cNvSpPr/>
          <p:nvPr/>
        </p:nvSpPr>
        <p:spPr>
          <a:xfrm>
            <a:off x="7086600" y="4470400"/>
            <a:ext cx="4495800" cy="1168400"/>
          </a:xfrm>
          <a:prstGeom prst="roundRect">
            <a:avLst>
              <a:gd name="adj" fmla="val 12000"/>
            </a:avLst>
          </a:prstGeom>
          <a:solidFill>
            <a:srgbClr val="F3F3F3"/>
          </a:solidFill>
          <a:ln>
            <a:noFill/>
          </a:ln>
        </p:spPr>
      </p:sp>
      <p:sp>
        <p:nvSpPr>
          <p:cNvPr id="15" name="retro-box-t"/>
          <p:cNvSpPr txBox="1"/>
          <p:nvPr/>
        </p:nvSpPr>
        <p:spPr>
          <a:xfrm>
            <a:off x="7239000" y="4597400"/>
            <a:ext cx="41910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The retrospective question that matters</a:t>
            </a:r>
            <a:endParaRPr lang="en-US" sz="1000" noProof="1"/>
          </a:p>
          <a:p>
            <a:pPr>
              <a:lnSpc>
                <a:spcPct val="135000"/>
              </a:lnSpc>
              <a:spcBef>
                <a:spcPts val="600"/>
              </a:spcBef>
            </a:pPr>
            <a:r>
              <a:rPr lang="en-US" sz="1000" noProof="1">
                <a:solidFill>
                  <a:srgbClr val="5A5A5A"/>
                </a:solidFill>
                <a:latin typeface="Liter"/>
                <a:ea typeface="MiSans"/>
              </a:rPr>
              <a:t>Which step took longest, and what would make it zero? Here, automated CMR alerting on jitter &gt; 30 ms would have cut detection from T+5 to T+2 — before the ticket existed.</a:t>
            </a:r>
            <a:endParaRPr lang="en-US" sz="1000" noProof="1"/>
          </a:p>
        </p:txBody>
      </p:sp>
      <p:sp>
        <p:nvSpPr>
          <p:cNvPr id="16" name="retro-note"/>
          <p:cNvSpPr txBox="1"/>
          <p:nvPr/>
        </p:nvSpPr>
        <p:spPr>
          <a:xfrm>
            <a:off x="7086600" y="5791200"/>
            <a:ext cx="4495800" cy="2032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Every incident either buys automation or buys a scar. Prefer automation.</a:t>
            </a:r>
            <a:endParaRPr lang="en-US" sz="1000" noProof="1"/>
          </a:p>
        </p:txBody>
      </p:sp>
      <p:sp>
        <p:nvSpPr>
          <p:cNvPr id="17"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8"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timeline — composite of common troubleshooting patterns, not a specific customer incident</a:t>
            </a:r>
            <a:endParaRPr lang="en-US" sz="850" noProof="1"/>
          </a:p>
        </p:txBody>
      </p:sp>
      <p:sp>
        <p:nvSpPr>
          <p:cNvPr id="19" name="cml-footer-bar"/>
          <p:cNvSpPr/>
          <p:nvPr/>
        </p:nvSpPr>
        <p:spPr>
          <a:xfrm>
            <a:off x="0" y="6670000"/>
            <a:ext cx="12192000" cy="640000"/>
          </a:xfrm>
          <a:prstGeom prst="rect">
            <a:avLst/>
          </a:prstGeom>
          <a:solidFill>
            <a:srgbClr val="12161C"/>
          </a:solidFill>
          <a:ln>
            <a:noFill/>
          </a:ln>
        </p:spPr>
        <p:txBody>
          <a:bodyPr/>
          <a:lstStyle/>
          <a:p/>
        </p:txBody>
      </p:sp>
      <p:sp>
        <p:nvSpPr>
          <p:cNvPr id="20" name="cml-footer-rule"/>
          <p:cNvSpPr/>
          <p:nvPr/>
        </p:nvSpPr>
        <p:spPr>
          <a:xfrm>
            <a:off x="0" y="6670000"/>
            <a:ext cx="12192000" cy="19050"/>
          </a:xfrm>
          <a:prstGeom prst="rect">
            <a:avLst/>
          </a:prstGeom>
          <a:solidFill>
            <a:srgbClr val="2DD4BF"/>
          </a:solidFill>
          <a:ln>
            <a:noFill/>
          </a:ln>
        </p:spPr>
        <p:txBody>
          <a:bodyPr/>
          <a:lstStyle/>
          <a:p/>
        </p:txBody>
      </p:sp>
      <p:sp>
        <p:nvSpPr>
          <p:cNvPr id="21"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2"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3"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4"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5"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6"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7"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8"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9"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0"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1"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2"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3"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4"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820000"/>
        </a:solidFill>
      </p:bgPr>
    </p:bg>
    <p:spTree>
      <p:nvGrpSpPr>
        <p:cNvPr id="1" name=""/>
        <p:cNvGrpSpPr/>
        <p:nvPr/>
      </p:nvGrpSpPr>
      <p:grpSpPr>
        <a:xfrm>
          <a:off x="0" y="0"/>
          <a:ext cx="0" cy="0"/>
          <a:chOff x="0" y="0"/>
          <a:chExt cx="0" cy="0"/>
        </a:xfrm>
      </p:grpSpPr>
      <p:sp>
        <p:nvSpPr>
          <p:cNvPr id="2" name="num"/>
          <p:cNvSpPr txBox="1"/>
          <p:nvPr/>
        </p:nvSpPr>
        <p:spPr>
          <a:xfrm>
            <a:off x="609600" y="1905000"/>
            <a:ext cx="2540000" cy="711200"/>
          </a:xfrm>
          <a:prstGeom prst="rect">
            <a:avLst/>
          </a:prstGeom>
          <a:noFill/>
          <a:ln>
            <a:noFill/>
          </a:ln>
        </p:spPr>
        <p:txBody>
          <a:bodyPr lIns="0" rIns="0" tIns="0" bIns="0" wrap="none" rtlCol="0"/>
          <a:lstStyle/>
          <a:p>
            <a:pPr>
              <a:lnSpc>
                <a:spcPct val="120000"/>
              </a:lnSpc>
            </a:pPr>
            <a:r>
              <a:rPr lang="en-US" sz="4400" noProof="1" b="1">
                <a:solidFill>
                  <a:srgbClr val="FFFFFF"/>
                </a:solidFill>
                <a:latin typeface="Liter"/>
                <a:ea typeface="MiSans"/>
              </a:rPr>
              <a:t>07</a:t>
            </a:r>
            <a:endParaRPr lang="en-US" sz="4400" noProof="1"/>
          </a:p>
        </p:txBody>
      </p:sp>
      <p:sp>
        <p:nvSpPr>
          <p:cNvPr id="3" name="ch-title"/>
          <p:cNvSpPr txBox="1"/>
          <p:nvPr/>
        </p:nvSpPr>
        <p:spPr>
          <a:xfrm>
            <a:off x="609600" y="2794000"/>
            <a:ext cx="10972800" cy="558800"/>
          </a:xfrm>
          <a:prstGeom prst="rect">
            <a:avLst/>
          </a:prstGeom>
          <a:noFill/>
          <a:ln>
            <a:noFill/>
          </a:ln>
        </p:spPr>
        <p:txBody>
          <a:bodyPr lIns="0" rIns="0" tIns="0" bIns="0" wrap="none" rtlCol="0"/>
          <a:lstStyle/>
          <a:p>
            <a:pPr>
              <a:lnSpc>
                <a:spcPct val="120000"/>
              </a:lnSpc>
            </a:pPr>
            <a:r>
              <a:rPr lang="en-US" sz="3400" noProof="1" b="1">
                <a:solidFill>
                  <a:srgbClr val="FFFFFF"/>
                </a:solidFill>
                <a:latin typeface="Liter"/>
                <a:ea typeface="MiSans"/>
              </a:rPr>
              <a:t>Expert Practice &amp; Roadmap</a:t>
            </a:r>
            <a:endParaRPr lang="en-US" sz="3400" noProof="1"/>
          </a:p>
        </p:txBody>
      </p:sp>
      <p:sp>
        <p:nvSpPr>
          <p:cNvPr id="4" name="ch-sub"/>
          <p:cNvSpPr txBox="1"/>
          <p:nvPr/>
        </p:nvSpPr>
        <p:spPr>
          <a:xfrm>
            <a:off x="609600" y="3632200"/>
            <a:ext cx="9144000" cy="508000"/>
          </a:xfrm>
          <a:prstGeom prst="rect">
            <a:avLst/>
          </a:prstGeom>
          <a:noFill/>
          <a:ln>
            <a:noFill/>
          </a:ln>
        </p:spPr>
        <p:txBody>
          <a:bodyPr lIns="0" rIns="0" tIns="0" bIns="0" wrap="square" rtlCol="0"/>
          <a:lstStyle/>
          <a:p>
            <a:pPr>
              <a:lnSpc>
                <a:spcPct val="150000"/>
              </a:lnSpc>
            </a:pPr>
            <a:r>
              <a:rPr lang="en-US" sz="1300" noProof="1">
                <a:solidFill>
                  <a:srgbClr val="F2DADA"/>
                </a:solidFill>
                <a:latin typeface="Liter"/>
                <a:ea typeface="MiSans"/>
              </a:rPr>
              <a:t>Certification path, operational checklists, capacity planning, and the vocabulary that makes it all precise.</a:t>
            </a:r>
            <a:endParaRPr lang="en-US" sz="1300" noProof="1"/>
          </a:p>
        </p:txBody>
      </p:sp>
      <p:sp>
        <p:nvSpPr>
          <p:cNvPr id="5" name="ch-foot"/>
          <p:cNvSpPr txBox="1"/>
          <p:nvPr/>
        </p:nvSpPr>
        <p:spPr>
          <a:xfrm>
            <a:off x="609600" y="6299200"/>
            <a:ext cx="5080000" cy="177800"/>
          </a:xfrm>
          <a:prstGeom prst="rect">
            <a:avLst/>
          </a:prstGeom>
          <a:noFill/>
          <a:ln>
            <a:noFill/>
          </a:ln>
        </p:spPr>
        <p:txBody>
          <a:bodyPr lIns="0" rIns="0" tIns="0" bIns="0" wrap="none" rtlCol="0"/>
          <a:lstStyle/>
          <a:p>
            <a:pPr>
              <a:lnSpc>
                <a:spcPct val="120000"/>
              </a:lnSpc>
            </a:pPr>
            <a:r>
              <a:rPr lang="en-US" sz="900" noProof="1">
                <a:solidFill>
                  <a:srgbClr val="D9AFAF"/>
                </a:solidFill>
                <a:latin typeface="Liter"/>
                <a:ea typeface="MiSans"/>
              </a:rPr>
              <a:t>Section 07 of 07 · Enterprise Voice with Cisco</a:t>
            </a:r>
            <a:endParaRPr lang="en-US" sz="900" noProof="1"/>
          </a:p>
        </p:txBody>
      </p:sp>
      <p:sp>
        <p:nvSpPr>
          <p:cNvPr id="6" name="cml-footer-bar"/>
          <p:cNvSpPr/>
          <p:nvPr/>
        </p:nvSpPr>
        <p:spPr>
          <a:xfrm>
            <a:off x="0" y="6670000"/>
            <a:ext cx="12192000" cy="640000"/>
          </a:xfrm>
          <a:prstGeom prst="rect">
            <a:avLst/>
          </a:prstGeom>
          <a:solidFill>
            <a:srgbClr val="12161C"/>
          </a:solidFill>
          <a:ln>
            <a:noFill/>
          </a:ln>
        </p:spPr>
        <p:txBody>
          <a:bodyPr/>
          <a:lstStyle/>
          <a:p/>
        </p:txBody>
      </p:sp>
      <p:sp>
        <p:nvSpPr>
          <p:cNvPr id="7" name="cml-footer-rule"/>
          <p:cNvSpPr/>
          <p:nvPr/>
        </p:nvSpPr>
        <p:spPr>
          <a:xfrm>
            <a:off x="0" y="6670000"/>
            <a:ext cx="12192000" cy="19050"/>
          </a:xfrm>
          <a:prstGeom prst="rect">
            <a:avLst/>
          </a:prstGeom>
          <a:solidFill>
            <a:srgbClr val="2DD4BF"/>
          </a:solidFill>
          <a:ln>
            <a:noFill/>
          </a:ln>
        </p:spPr>
        <p:txBody>
          <a:bodyPr/>
          <a:lstStyle/>
          <a:p/>
        </p:txBody>
      </p:sp>
      <p:sp>
        <p:nvSpPr>
          <p:cNvPr id="8"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9"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0"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1"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2"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3"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4"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15"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16"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17"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18"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19"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0"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1"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6.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The certification ladder maps to the job ladder: CCNA → CCNP → CCIE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rung adds design authority; hands-on lab time is what turns the ladder into real skill.</a:t>
            </a:r>
            <a:endParaRPr lang="en-US" sz="1100" noProof="1"/>
          </a:p>
        </p:txBody>
      </p:sp>
      <p:sp>
        <p:nvSpPr>
          <p:cNvPr id="4" name="cert-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Three rungs, three levels of authority</a:t>
            </a:r>
            <a:endParaRPr lang="en-US" sz="1100" noProof="1"/>
          </a:p>
        </p:txBody>
      </p:sp>
      <p:graphicFrame>
        <p:nvGraphicFramePr>
          <p:cNvPr id="5" name="cert-table"/>
          <p:cNvGraphicFramePr>
            <a:graphicFrameLocks noGrp="1"/>
          </p:cNvGraphicFramePr>
          <p:nvPr/>
        </p:nvGraphicFramePr>
        <p:xfrm>
          <a:off x="609600" y="1447800"/>
          <a:ext cx="5969000" cy="2946400"/>
        </p:xfrm>
        <a:graphic>
          <a:graphicData uri="http://schemas.openxmlformats.org/drawingml/2006/table">
            <a:tbl>
              <a:tblPr/>
              <a:tblGrid>
                <a:gridCol w="1790700"/>
                <a:gridCol w="2387600"/>
                <a:gridCol w="1790700"/>
              </a:tblGrid>
              <a:tr h="353568">
                <a:tc>
                  <a:txBody>
                    <a:bodyPr wrap="square" rtlCol="0" anchor="ctr"/>
                    <a:lstStyle/>
                    <a:p>
                      <a:pPr algn="l"/>
                      <a:r>
                        <a:rPr lang="en-US" sz="1050" noProof="1" b="1">
                          <a:solidFill>
                            <a:srgbClr val="000000"/>
                          </a:solidFill>
                          <a:latin typeface="Liter"/>
                          <a:ea typeface="MiSans"/>
                        </a:rPr>
                        <a:t>Rung</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What it certifies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Role it unlocks</a:t>
                      </a:r>
                    </a:p>
                  </a:txBody>
                  <a:tcPr marL="91440" marR="91440" marT="45720" marB="45720" anchor="ctr">
                    <a:lnL>
                      <a:noFill/>
                    </a:lnL>
                    <a:lnR>
                      <a:noFill/>
                    </a:lnR>
                    <a:lnT>
                      <a:noFill/>
                    </a:lnT>
                    <a:lnB w="15240">
                      <a:solidFill>
                        <a:srgbClr val="000000"/>
                      </a:solidFill>
                    </a:lnB>
                    <a:noFill/>
                  </a:tcPr>
                </a:tc>
              </a:tr>
              <a:tr h="863295">
                <a:tc>
                  <a:txBody>
                    <a:bodyPr wrap="square" rtlCol="0" anchor="ctr"/>
                    <a:lstStyle/>
                    <a:p>
                      <a:pPr algn="l"/>
                      <a:r>
                        <a:rPr lang="en-US" sz="1050" noProof="1">
                          <a:solidFill>
                            <a:srgbClr val="000000"/>
                          </a:solidFill>
                          <a:latin typeface="Liter"/>
                          <a:ea typeface="MiSans"/>
                        </a:rPr>
                        <a:t>CCNA (200-301)</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networking fundamentals incl. QoS and voice basics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operations, first-line voice support</a:t>
                      </a:r>
                    </a:p>
                  </a:txBody>
                  <a:tcPr marL="91440" marR="91440" marT="45720" marB="45720" anchor="ctr">
                    <a:lnL>
                      <a:noFill/>
                    </a:lnL>
                    <a:lnR>
                      <a:noFill/>
                    </a:lnR>
                    <a:lnT>
                      <a:noFill/>
                    </a:lnT>
                    <a:lnB w="7620">
                      <a:solidFill>
                        <a:srgbClr val="D9D9D9"/>
                      </a:solidFill>
                    </a:lnB>
                    <a:noFill/>
                  </a:tcPr>
                </a:tc>
              </a:tr>
              <a:tr h="863295">
                <a:tc>
                  <a:txBody>
                    <a:bodyPr wrap="square" rtlCol="0" anchor="ctr"/>
                    <a:lstStyle/>
                    <a:p>
                      <a:pPr algn="l"/>
                      <a:r>
                        <a:rPr lang="en-US" sz="1050" noProof="1">
                          <a:solidFill>
                            <a:srgbClr val="000000"/>
                          </a:solidFill>
                          <a:latin typeface="Liter"/>
                          <a:ea typeface="MiSans"/>
                        </a:rPr>
                        <a:t>CCNP Collaboration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core CLCOR 350-801 plus one concentration (CLICA, CLACCM, CLCEI, CLAUTO)</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design and implementation engineer</a:t>
                      </a:r>
                    </a:p>
                  </a:txBody>
                  <a:tcPr marL="91440" marR="91440" marT="45720" marB="45720" anchor="ctr">
                    <a:lnL>
                      <a:noFill/>
                    </a:lnL>
                    <a:lnR>
                      <a:noFill/>
                    </a:lnR>
                    <a:lnT>
                      <a:noFill/>
                    </a:lnT>
                    <a:lnB w="7620">
                      <a:solidFill>
                        <a:srgbClr val="D9D9D9"/>
                      </a:solidFill>
                    </a:lnB>
                    <a:noFill/>
                  </a:tcPr>
                </a:tc>
              </a:tr>
              <a:tr h="866242">
                <a:tc>
                  <a:txBody>
                    <a:bodyPr wrap="square" rtlCol="0" anchor="ctr"/>
                    <a:lstStyle/>
                    <a:p>
                      <a:pPr algn="l"/>
                      <a:r>
                        <a:rPr lang="en-US" sz="1050" noProof="1">
                          <a:solidFill>
                            <a:srgbClr val="000000"/>
                          </a:solidFill>
                          <a:latin typeface="Liter"/>
                          <a:ea typeface="MiSans"/>
                        </a:rPr>
                        <a:t>CCIE Collaboration</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expert written plus full-day practical lab</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architecture authority, complex migrations</a:t>
                      </a:r>
                    </a:p>
                  </a:txBody>
                  <a:tcPr marL="91440" marR="91440" marT="45720" marB="45720" anchor="ctr">
                    <a:lnL>
                      <a:noFill/>
                    </a:lnL>
                    <a:lnR>
                      <a:noFill/>
                    </a:lnR>
                    <a:lnT>
                      <a:noFill/>
                    </a:lnT>
                    <a:lnB w="7620">
                      <a:solidFill>
                        <a:srgbClr val="D9D9D9"/>
                      </a:solidFill>
                    </a:lnB>
                    <a:noFill/>
                  </a:tcPr>
                </a:tc>
              </a:tr>
            </a:tbl>
          </a:graphicData>
        </a:graphic>
      </p:graphicFrame>
      <p:sp>
        <p:nvSpPr>
          <p:cNvPr id="6" name="cert-note"/>
          <p:cNvSpPr txBox="1"/>
          <p:nvPr/>
        </p:nvSpPr>
        <p:spPr>
          <a:xfrm>
            <a:off x="609600" y="4572000"/>
            <a:ext cx="5969000" cy="1397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Concentration choice follows the job:</a:t>
            </a:r>
            <a:r>
              <a:rPr lang="en-US" sz="1250" noProof="1">
                <a:solidFill>
                  <a:srgbClr val="000000"/>
                </a:solidFill>
                <a:latin typeface="Liter"/>
                <a:ea typeface="MiSans"/>
              </a:rPr>
              <a:t> CLICA for implementation depth, CLACCM for advanced call control and mobility, CLCEI for contact-center engineers, CLAUTO for automation and APIs.</a:t>
            </a:r>
            <a:endParaRPr lang="en-US" sz="1250" noProof="1"/>
          </a:p>
          <a:p>
            <a:pPr>
              <a:lnSpc>
                <a:spcPct val="145000"/>
              </a:lnSpc>
              <a:spcBef>
                <a:spcPts val="800"/>
              </a:spcBef>
            </a:pPr>
            <a:r>
              <a:rPr lang="en-US" sz="1250" noProof="1">
                <a:solidFill>
                  <a:srgbClr val="000000"/>
                </a:solidFill>
                <a:latin typeface="Liter"/>
                <a:ea typeface="MiSans"/>
              </a:rPr>
              <a:t>Typical pacing — illustrative, not a promise: CCNA in 6–9 months of study, CCNP in 9–12, CCIE over 2–4 years of deliberate practice.</a:t>
            </a:r>
            <a:endParaRPr lang="en-US" sz="1250" noProof="1"/>
          </a:p>
        </p:txBody>
      </p:sp>
      <p:sp>
        <p:nvSpPr>
          <p:cNvPr id="7" name="lab-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lab is the difference</a:t>
            </a:r>
            <a:endParaRPr lang="en-US" sz="1100" noProof="1"/>
          </a:p>
        </p:txBody>
      </p:sp>
      <p:sp>
        <p:nvSpPr>
          <p:cNvPr id="8" name="l1"/>
          <p:cNvSpPr/>
          <p:nvPr/>
        </p:nvSpPr>
        <p:spPr>
          <a:xfrm>
            <a:off x="7086600" y="1447800"/>
            <a:ext cx="4495800" cy="838200"/>
          </a:xfrm>
          <a:prstGeom prst="rect">
            <a:avLst/>
          </a:prstGeom>
          <a:solidFill>
            <a:srgbClr val="F7F5F0"/>
          </a:solidFill>
          <a:ln w="10160">
            <a:solidFill>
              <a:srgbClr val="333333"/>
            </a:solidFill>
          </a:ln>
        </p:spPr>
      </p:sp>
      <p:sp>
        <p:nvSpPr>
          <p:cNvPr id="9" name="l1t"/>
          <p:cNvSpPr txBox="1"/>
          <p:nvPr/>
        </p:nvSpPr>
        <p:spPr>
          <a:xfrm>
            <a:off x="7239000" y="15240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Build the smallest real cluster</a:t>
            </a:r>
            <a:endParaRPr lang="en-US" sz="1000" noProof="1"/>
          </a:p>
          <a:p>
            <a:pPr>
              <a:lnSpc>
                <a:spcPct val="130000"/>
              </a:lnSpc>
            </a:pPr>
            <a:r>
              <a:rPr lang="en-US" sz="850" noProof="1">
                <a:solidFill>
                  <a:srgbClr val="000000"/>
                </a:solidFill>
                <a:latin typeface="Liter"/>
                <a:ea typeface="MiSans"/>
              </a:rPr>
              <a:t>CML / EVE-NG with a CUCM evaluation, two IOS XE routers as gateway and CUBE, soft clients as phones</a:t>
            </a:r>
            <a:endParaRPr lang="en-US" sz="1000" noProof="1"/>
          </a:p>
        </p:txBody>
      </p:sp>
      <p:sp>
        <p:nvSpPr>
          <p:cNvPr id="10" name="l2"/>
          <p:cNvSpPr/>
          <p:nvPr/>
        </p:nvSpPr>
        <p:spPr>
          <a:xfrm>
            <a:off x="7086600" y="2438400"/>
            <a:ext cx="4495800" cy="838200"/>
          </a:xfrm>
          <a:prstGeom prst="rect">
            <a:avLst/>
          </a:prstGeom>
          <a:solidFill>
            <a:srgbClr val="F7F5F0"/>
          </a:solidFill>
          <a:ln w="10160">
            <a:solidFill>
              <a:srgbClr val="333333"/>
            </a:solidFill>
          </a:ln>
        </p:spPr>
      </p:sp>
      <p:sp>
        <p:nvSpPr>
          <p:cNvPr id="11" name="l2t"/>
          <p:cNvSpPr txBox="1"/>
          <p:nvPr/>
        </p:nvSpPr>
        <p:spPr>
          <a:xfrm>
            <a:off x="7239000" y="25146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Drill the workflows, not the theory</a:t>
            </a:r>
            <a:endParaRPr lang="en-US" sz="1000" noProof="1"/>
          </a:p>
          <a:p>
            <a:pPr>
              <a:lnSpc>
                <a:spcPct val="130000"/>
              </a:lnSpc>
            </a:pPr>
            <a:r>
              <a:rPr lang="en-US" sz="850" noProof="1">
                <a:solidFill>
                  <a:srgbClr val="000000"/>
                </a:solidFill>
                <a:latin typeface="Liter"/>
                <a:ea typeface="MiSans"/>
              </a:rPr>
              <a:t>BAT imports, CSS / partition builds, SRST failover, dial-peer debugging — until each takes minutes</a:t>
            </a:r>
            <a:endParaRPr lang="en-US" sz="1000" noProof="1"/>
          </a:p>
        </p:txBody>
      </p:sp>
      <p:sp>
        <p:nvSpPr>
          <p:cNvPr id="12" name="l3"/>
          <p:cNvSpPr/>
          <p:nvPr/>
        </p:nvSpPr>
        <p:spPr>
          <a:xfrm>
            <a:off x="7086600" y="3429000"/>
            <a:ext cx="4495800" cy="838200"/>
          </a:xfrm>
          <a:prstGeom prst="rect">
            <a:avLst/>
          </a:prstGeom>
          <a:solidFill>
            <a:srgbClr val="F7F5F0"/>
          </a:solidFill>
          <a:ln w="10160">
            <a:solidFill>
              <a:srgbClr val="333333"/>
            </a:solidFill>
          </a:ln>
        </p:spPr>
      </p:sp>
      <p:sp>
        <p:nvSpPr>
          <p:cNvPr id="13" name="l3t"/>
          <p:cNvSpPr txBox="1"/>
          <p:nvPr/>
        </p:nvSpPr>
        <p:spPr>
          <a:xfrm>
            <a:off x="7239000" y="3505200"/>
            <a:ext cx="4216400" cy="711200"/>
          </a:xfrm>
          <a:prstGeom prst="rect">
            <a:avLst/>
          </a:prstGeom>
          <a:noFill/>
          <a:ln>
            <a:noFill/>
          </a:ln>
        </p:spPr>
        <p:txBody>
          <a:bodyPr lIns="0" rIns="0" tIns="0" bIns="0" wrap="square" rtlCol="0"/>
          <a:lstStyle/>
          <a:p>
            <a:pPr>
              <a:lnSpc>
                <a:spcPct val="130000"/>
              </a:lnSpc>
            </a:pPr>
            <a:r>
              <a:rPr lang="en-US" sz="1000" noProof="1" b="1">
                <a:solidFill>
                  <a:srgbClr val="333333"/>
                </a:solidFill>
                <a:latin typeface="Liter"/>
                <a:ea typeface="MiSans"/>
              </a:rPr>
              <a:t>Break it on purpose</a:t>
            </a:r>
            <a:endParaRPr lang="en-US" sz="1000" noProof="1"/>
          </a:p>
          <a:p>
            <a:pPr>
              <a:lnSpc>
                <a:spcPct val="130000"/>
              </a:lnSpc>
            </a:pPr>
            <a:r>
              <a:rPr lang="en-US" sz="850" noProof="1">
                <a:solidFill>
                  <a:srgbClr val="000000"/>
                </a:solidFill>
                <a:latin typeface="Liter"/>
                <a:ea typeface="MiSans"/>
              </a:rPr>
              <a:t>kill the WAN, misconfigure a CSS, fill a trunk — then troubleshoot with DNA, CDR, and SDL traces only</a:t>
            </a:r>
            <a:endParaRPr lang="en-US" sz="1000" noProof="1"/>
          </a:p>
        </p:txBody>
      </p:sp>
      <p:sp>
        <p:nvSpPr>
          <p:cNvPr id="14" name="lab-box"/>
          <p:cNvSpPr/>
          <p:nvPr/>
        </p:nvSpPr>
        <p:spPr>
          <a:xfrm>
            <a:off x="7086600" y="4521200"/>
            <a:ext cx="4495800" cy="1219200"/>
          </a:xfrm>
          <a:prstGeom prst="roundRect">
            <a:avLst>
              <a:gd name="adj" fmla="val 12000"/>
            </a:avLst>
          </a:prstGeom>
          <a:solidFill>
            <a:srgbClr val="F3F3F3"/>
          </a:solidFill>
          <a:ln>
            <a:noFill/>
          </a:ln>
        </p:spPr>
      </p:sp>
      <p:sp>
        <p:nvSpPr>
          <p:cNvPr id="15" name="lab-box-t"/>
          <p:cNvSpPr txBox="1"/>
          <p:nvPr/>
        </p:nvSpPr>
        <p:spPr>
          <a:xfrm>
            <a:off x="7239000" y="4648200"/>
            <a:ext cx="4191000" cy="9906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Rule of thumb</a:t>
            </a:r>
            <a:endParaRPr lang="en-US" sz="1000" noProof="1"/>
          </a:p>
          <a:p>
            <a:pPr>
              <a:lnSpc>
                <a:spcPct val="135000"/>
              </a:lnSpc>
              <a:spcBef>
                <a:spcPts val="600"/>
              </a:spcBef>
            </a:pPr>
            <a:r>
              <a:rPr lang="en-US" sz="1000" noProof="1">
                <a:solidFill>
                  <a:srgbClr val="5A5A5A"/>
                </a:solidFill>
                <a:latin typeface="Liter"/>
                <a:ea typeface="MiSans"/>
              </a:rPr>
              <a:t>Every hour of study earns roughly two hours in the lab. Interviews and incidents both test what your hands remember, not what you once read.</a:t>
            </a:r>
            <a:endParaRPr lang="en-US" sz="1000" noProof="1"/>
          </a:p>
        </p:txBody>
      </p:sp>
      <p:sp>
        <p:nvSpPr>
          <p:cNvPr id="16"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7"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certification portfolio (CCNA 200-301; CCNP Collaboration CLCOR 350-801 and concentrations; CCIE Collaboration), cisco.com</a:t>
            </a:r>
            <a:endParaRPr lang="en-US" sz="850" noProof="1"/>
          </a:p>
        </p:txBody>
      </p:sp>
      <p:sp>
        <p:nvSpPr>
          <p:cNvPr id="18" name="cml-footer-bar"/>
          <p:cNvSpPr/>
          <p:nvPr/>
        </p:nvSpPr>
        <p:spPr>
          <a:xfrm>
            <a:off x="0" y="6670000"/>
            <a:ext cx="12192000" cy="640000"/>
          </a:xfrm>
          <a:prstGeom prst="rect">
            <a:avLst/>
          </a:prstGeom>
          <a:solidFill>
            <a:srgbClr val="12161C"/>
          </a:solidFill>
          <a:ln>
            <a:noFill/>
          </a:ln>
        </p:spPr>
        <p:txBody>
          <a:bodyPr/>
          <a:lstStyle/>
          <a:p/>
        </p:txBody>
      </p:sp>
      <p:sp>
        <p:nvSpPr>
          <p:cNvPr id="19" name="cml-footer-rule"/>
          <p:cNvSpPr/>
          <p:nvPr/>
        </p:nvSpPr>
        <p:spPr>
          <a:xfrm>
            <a:off x="0" y="6670000"/>
            <a:ext cx="12192000" cy="19050"/>
          </a:xfrm>
          <a:prstGeom prst="rect">
            <a:avLst/>
          </a:prstGeom>
          <a:solidFill>
            <a:srgbClr val="2DD4BF"/>
          </a:solidFill>
          <a:ln>
            <a:noFill/>
          </a:ln>
        </p:spPr>
        <p:txBody>
          <a:bodyPr/>
          <a:lstStyle/>
          <a:p/>
        </p:txBody>
      </p:sp>
      <p:sp>
        <p:nvSpPr>
          <p:cNvPr id="20"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1"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2"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3"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4"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5"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6"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7"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8"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9"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0"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1"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2"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3"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7.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Cutovers are won in checklists: pre-cutover, cutover night, day two</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item has an owner and a timestamp; an unowned item does not exist.</a:t>
            </a:r>
            <a:endParaRPr lang="en-US" sz="1100" noProof="1"/>
          </a:p>
        </p:txBody>
      </p:sp>
      <p:sp>
        <p:nvSpPr>
          <p:cNvPr id="4" name="pre-h"/>
          <p:cNvSpPr txBox="1"/>
          <p:nvPr/>
        </p:nvSpPr>
        <p:spPr>
          <a:xfrm>
            <a:off x="609600" y="1143000"/>
            <a:ext cx="381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Pre-cutover — the week before</a:t>
            </a:r>
            <a:endParaRPr lang="en-US" sz="1100" noProof="1"/>
          </a:p>
        </p:txBody>
      </p:sp>
      <p:sp>
        <p:nvSpPr>
          <p:cNvPr id="5" name="pre-rule"/>
          <p:cNvSpPr/>
          <p:nvPr>
            <p:extLst>
              <p:ext uri="{F5677B7D-0D2A-4D9B-9A5C-6D8D7D0E5A5D}">
                <pptd:line encoding="base64url">eyJ2aWV3Qm94IjpbMzAwLDFdLCJwb2ludHMiOiIwLDAgMzAwLDAifQ</pptd:line>
              </p:ext>
            </p:extLst>
          </p:nvPr>
        </p:nvSpPr>
        <p:spPr>
          <a:xfrm>
            <a:off x="609600" y="1447800"/>
            <a:ext cx="3810000" cy="12700"/>
          </a:xfrm>
          <a:custGeom>
            <a:avLst/>
            <a:gdLst/>
            <a:ahLst/>
            <a:cxnLst/>
            <a:rect l="l" t="t" r="r" b="b"/>
            <a:pathLst>
              <a:path w="300" h="1">
                <a:moveTo>
                  <a:pt x="0" y="0"/>
                </a:moveTo>
                <a:lnTo>
                  <a:pt x="300" y="0"/>
                </a:lnTo>
              </a:path>
            </a:pathLst>
          </a:custGeom>
          <a:noFill/>
          <a:ln w="15240" cap="rnd">
            <a:solidFill>
              <a:srgbClr val="E69138"/>
            </a:solidFill>
            <a:round/>
          </a:ln>
        </p:spPr>
      </p:sp>
      <p:sp>
        <p:nvSpPr>
          <p:cNvPr id="6" name="pre-list"/>
          <p:cNvSpPr txBox="1"/>
          <p:nvPr/>
        </p:nvSpPr>
        <p:spPr>
          <a:xfrm>
            <a:off x="609600" y="1600200"/>
            <a:ext cx="3810000" cy="4064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DRS backup verified and VM snapshot taken</a:t>
            </a:r>
            <a:endParaRPr lang="en-US" sz="1000" noProof="1"/>
          </a:p>
          <a:p>
            <a:pPr>
              <a:lnSpc>
                <a:spcPct val="155000"/>
              </a:lnSpc>
            </a:pPr>
            <a:r>
              <a:rPr lang="en-US" sz="1000" noProof="1">
                <a:solidFill>
                  <a:srgbClr val="333333"/>
                </a:solidFill>
                <a:latin typeface="Liter"/>
                <a:ea typeface="MiSans"/>
              </a:rPr>
              <a:t>□ FOC date re-confirmed with the carrier</a:t>
            </a:r>
            <a:endParaRPr lang="en-US" sz="1000" noProof="1"/>
          </a:p>
          <a:p>
            <a:pPr>
              <a:lnSpc>
                <a:spcPct val="155000"/>
              </a:lnSpc>
            </a:pPr>
            <a:r>
              <a:rPr lang="en-US" sz="1000" noProof="1">
                <a:solidFill>
                  <a:srgbClr val="333333"/>
                </a:solidFill>
                <a:latin typeface="Liter"/>
                <a:ea typeface="MiSans"/>
              </a:rPr>
              <a:t>□ Porting list reconciled against inventory</a:t>
            </a:r>
            <a:endParaRPr lang="en-US" sz="1000" noProof="1"/>
          </a:p>
          <a:p>
            <a:pPr>
              <a:lnSpc>
                <a:spcPct val="155000"/>
              </a:lnSpc>
            </a:pPr>
            <a:r>
              <a:rPr lang="en-US" sz="1000" noProof="1">
                <a:solidFill>
                  <a:srgbClr val="333333"/>
                </a:solidFill>
                <a:latin typeface="Liter"/>
                <a:ea typeface="MiSans"/>
              </a:rPr>
              <a:t>□ Rollback plan written, owners assigned</a:t>
            </a:r>
            <a:endParaRPr lang="en-US" sz="1000" noProof="1"/>
          </a:p>
          <a:p>
            <a:pPr>
              <a:lnSpc>
                <a:spcPct val="155000"/>
              </a:lnSpc>
            </a:pPr>
            <a:r>
              <a:rPr lang="en-US" sz="1000" noProof="1">
                <a:solidFill>
                  <a:srgbClr val="333333"/>
                </a:solidFill>
                <a:latin typeface="Liter"/>
                <a:ea typeface="MiSans"/>
              </a:rPr>
              <a:t>□ Test-call script ready — inbound, outbound, toll-free, fax, 933</a:t>
            </a:r>
            <a:endParaRPr lang="en-US" sz="1000" noProof="1"/>
          </a:p>
          <a:p>
            <a:pPr>
              <a:lnSpc>
                <a:spcPct val="155000"/>
              </a:lnSpc>
            </a:pPr>
            <a:r>
              <a:rPr lang="en-US" sz="1000" noProof="1">
                <a:solidFill>
                  <a:srgbClr val="333333"/>
                </a:solidFill>
                <a:latin typeface="Liter"/>
                <a:ea typeface="MiSans"/>
              </a:rPr>
              <a:t>□ Bridge line and escalation contacts scheduled</a:t>
            </a:r>
            <a:endParaRPr lang="en-US" sz="1000" noProof="1"/>
          </a:p>
          <a:p>
            <a:pPr>
              <a:lnSpc>
                <a:spcPct val="155000"/>
              </a:lnSpc>
            </a:pPr>
            <a:r>
              <a:rPr lang="en-US" sz="1000" noProof="1">
                <a:solidFill>
                  <a:srgbClr val="333333"/>
                </a:solidFill>
                <a:latin typeface="Liter"/>
                <a:ea typeface="MiSans"/>
              </a:rPr>
              <a:t>□ Help desk briefed with wave roster and FAQ</a:t>
            </a:r>
            <a:endParaRPr lang="en-US" sz="1000" noProof="1"/>
          </a:p>
          <a:p>
            <a:pPr>
              <a:lnSpc>
                <a:spcPct val="155000"/>
              </a:lnSpc>
            </a:pPr>
            <a:r>
              <a:rPr lang="en-US" sz="1000" noProof="1">
                <a:solidFill>
                  <a:srgbClr val="333333"/>
                </a:solidFill>
                <a:latin typeface="Liter"/>
                <a:ea typeface="MiSans"/>
              </a:rPr>
              <a:t>□ Change freeze on both platforms announced</a:t>
            </a:r>
            <a:endParaRPr lang="en-US" sz="1000" noProof="1"/>
          </a:p>
        </p:txBody>
      </p:sp>
      <p:sp>
        <p:nvSpPr>
          <p:cNvPr id="7" name="cut-h"/>
          <p:cNvSpPr txBox="1"/>
          <p:nvPr/>
        </p:nvSpPr>
        <p:spPr>
          <a:xfrm>
            <a:off x="4800600" y="1143000"/>
            <a:ext cx="35052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Cutover night — the window</a:t>
            </a:r>
            <a:endParaRPr lang="en-US" sz="1100" noProof="1"/>
          </a:p>
        </p:txBody>
      </p:sp>
      <p:sp>
        <p:nvSpPr>
          <p:cNvPr id="8" name="cut-rule"/>
          <p:cNvSpPr/>
          <p:nvPr>
            <p:extLst>
              <p:ext uri="{F5677B7D-0D2A-4D9B-9A5C-6D8D7D0E5A5D}">
                <pptd:line encoding="base64url">eyJ2aWV3Qm94IjpbMjc2LDFdLCJwb2ludHMiOiIwLDAgMjc2LDAifQ</pptd:line>
              </p:ext>
            </p:extLst>
          </p:nvPr>
        </p:nvSpPr>
        <p:spPr>
          <a:xfrm>
            <a:off x="4800600" y="1447800"/>
            <a:ext cx="3505200" cy="12700"/>
          </a:xfrm>
          <a:custGeom>
            <a:avLst/>
            <a:gdLst/>
            <a:ahLst/>
            <a:cxnLst/>
            <a:rect l="l" t="t" r="r" b="b"/>
            <a:pathLst>
              <a:path w="276" h="1">
                <a:moveTo>
                  <a:pt x="0" y="0"/>
                </a:moveTo>
                <a:lnTo>
                  <a:pt x="276" y="0"/>
                </a:lnTo>
              </a:path>
            </a:pathLst>
          </a:custGeom>
          <a:noFill/>
          <a:ln w="15240" cap="rnd">
            <a:solidFill>
              <a:srgbClr val="E69138"/>
            </a:solidFill>
            <a:round/>
          </a:ln>
        </p:spPr>
      </p:sp>
      <p:sp>
        <p:nvSpPr>
          <p:cNvPr id="9" name="cut-list"/>
          <p:cNvSpPr txBox="1"/>
          <p:nvPr/>
        </p:nvSpPr>
        <p:spPr>
          <a:xfrm>
            <a:off x="4800600" y="1600200"/>
            <a:ext cx="3505200" cy="4064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Freeze confirmed — no in-flight changes</a:t>
            </a:r>
            <a:endParaRPr lang="en-US" sz="1000" noProof="1"/>
          </a:p>
          <a:p>
            <a:pPr>
              <a:lnSpc>
                <a:spcPct val="155000"/>
              </a:lnSpc>
            </a:pPr>
            <a:r>
              <a:rPr lang="en-US" sz="1000" noProof="1">
                <a:solidFill>
                  <a:srgbClr val="333333"/>
                </a:solidFill>
                <a:latin typeface="Liter"/>
                <a:ea typeface="MiSans"/>
              </a:rPr>
              <a:t>□ Numbers port; carrier confirmation logged</a:t>
            </a:r>
            <a:endParaRPr lang="en-US" sz="1000" noProof="1"/>
          </a:p>
          <a:p>
            <a:pPr>
              <a:lnSpc>
                <a:spcPct val="155000"/>
              </a:lnSpc>
            </a:pPr>
            <a:r>
              <a:rPr lang="en-US" sz="1000" noProof="1">
                <a:solidFill>
                  <a:srgbClr val="333333"/>
                </a:solidFill>
                <a:latin typeface="Liter"/>
                <a:ea typeface="MiSans"/>
              </a:rPr>
              <a:t>□ Test-call script executed site by site</a:t>
            </a:r>
            <a:endParaRPr lang="en-US" sz="1000" noProof="1"/>
          </a:p>
          <a:p>
            <a:pPr>
              <a:lnSpc>
                <a:spcPct val="155000"/>
              </a:lnSpc>
            </a:pPr>
            <a:r>
              <a:rPr lang="en-US" sz="1000" noProof="1">
                <a:solidFill>
                  <a:srgbClr val="333333"/>
                </a:solidFill>
                <a:latin typeface="Liter"/>
                <a:ea typeface="MiSans"/>
              </a:rPr>
              <a:t>□ RTMT watched: registrations, trunks, alarms</a:t>
            </a:r>
            <a:endParaRPr lang="en-US" sz="1000" noProof="1"/>
          </a:p>
          <a:p>
            <a:pPr>
              <a:lnSpc>
                <a:spcPct val="155000"/>
              </a:lnSpc>
            </a:pPr>
            <a:r>
              <a:rPr lang="en-US" sz="1000" noProof="1">
                <a:solidFill>
                  <a:srgbClr val="333333"/>
                </a:solidFill>
                <a:latin typeface="Liter"/>
                <a:ea typeface="MiSans"/>
              </a:rPr>
              <a:t>□ Every deviation logged with a timestamp</a:t>
            </a:r>
            <a:endParaRPr lang="en-US" sz="1000" noProof="1"/>
          </a:p>
          <a:p>
            <a:pPr>
              <a:lnSpc>
                <a:spcPct val="155000"/>
              </a:lnSpc>
            </a:pPr>
            <a:r>
              <a:rPr lang="en-US" sz="1000" noProof="1">
                <a:solidFill>
                  <a:srgbClr val="333333"/>
                </a:solidFill>
                <a:latin typeface="Liter"/>
                <a:ea typeface="MiSans"/>
              </a:rPr>
              <a:t>□ Go / No-Go called at each checkpoint time</a:t>
            </a:r>
            <a:endParaRPr lang="en-US" sz="1000" noProof="1"/>
          </a:p>
          <a:p>
            <a:pPr>
              <a:lnSpc>
                <a:spcPct val="155000"/>
              </a:lnSpc>
            </a:pPr>
            <a:r>
              <a:rPr lang="en-US" sz="1000" noProof="1">
                <a:solidFill>
                  <a:srgbClr val="333333"/>
                </a:solidFill>
                <a:latin typeface="Liter"/>
                <a:ea typeface="MiSans"/>
              </a:rPr>
              <a:t>□ On No-Go: rollback executed, not debated</a:t>
            </a:r>
            <a:endParaRPr lang="en-US" sz="1000" noProof="1"/>
          </a:p>
          <a:p>
            <a:pPr>
              <a:lnSpc>
                <a:spcPct val="155000"/>
              </a:lnSpc>
            </a:pPr>
            <a:r>
              <a:rPr lang="en-US" sz="1000" noProof="1">
                <a:solidFill>
                  <a:srgbClr val="333333"/>
                </a:solidFill>
                <a:latin typeface="Liter"/>
                <a:ea typeface="MiSans"/>
              </a:rPr>
              <a:t>□ Status notes to stakeholders on schedule</a:t>
            </a:r>
            <a:endParaRPr lang="en-US" sz="1000" noProof="1"/>
          </a:p>
        </p:txBody>
      </p:sp>
      <p:sp>
        <p:nvSpPr>
          <p:cNvPr id="10" name="day-h"/>
          <p:cNvSpPr txBox="1"/>
          <p:nvPr/>
        </p:nvSpPr>
        <p:spPr>
          <a:xfrm>
            <a:off x="8686800" y="1143000"/>
            <a:ext cx="28956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Day two — hypercare</a:t>
            </a:r>
            <a:endParaRPr lang="en-US" sz="1100" noProof="1"/>
          </a:p>
        </p:txBody>
      </p:sp>
      <p:sp>
        <p:nvSpPr>
          <p:cNvPr id="11" name="day-rule"/>
          <p:cNvSpPr/>
          <p:nvPr>
            <p:extLst>
              <p:ext uri="{F5677B7D-0D2A-4D9B-9A5C-6D8D7D0E5A5D}">
                <pptd:line encoding="base64url">eyJ2aWV3Qm94IjpbMjI4LDFdLCJwb2ludHMiOiIwLDAgMjI4LDAifQ</pptd:line>
              </p:ext>
            </p:extLst>
          </p:nvPr>
        </p:nvSpPr>
        <p:spPr>
          <a:xfrm>
            <a:off x="8686800" y="1447800"/>
            <a:ext cx="2895600" cy="12700"/>
          </a:xfrm>
          <a:custGeom>
            <a:avLst/>
            <a:gdLst/>
            <a:ahLst/>
            <a:cxnLst/>
            <a:rect l="l" t="t" r="r" b="b"/>
            <a:pathLst>
              <a:path w="228" h="1">
                <a:moveTo>
                  <a:pt x="0" y="0"/>
                </a:moveTo>
                <a:lnTo>
                  <a:pt x="228" y="0"/>
                </a:lnTo>
              </a:path>
            </a:pathLst>
          </a:custGeom>
          <a:noFill/>
          <a:ln w="15240" cap="rnd">
            <a:solidFill>
              <a:srgbClr val="E69138"/>
            </a:solidFill>
            <a:round/>
          </a:ln>
        </p:spPr>
      </p:sp>
      <p:sp>
        <p:nvSpPr>
          <p:cNvPr id="12" name="day-list"/>
          <p:cNvSpPr txBox="1"/>
          <p:nvPr/>
        </p:nvSpPr>
        <p:spPr>
          <a:xfrm>
            <a:off x="8686800" y="1600200"/>
            <a:ext cx="2895600" cy="3048000"/>
          </a:xfrm>
          <a:prstGeom prst="rect">
            <a:avLst/>
          </a:prstGeom>
          <a:noFill/>
          <a:ln>
            <a:noFill/>
          </a:ln>
        </p:spPr>
        <p:txBody>
          <a:bodyPr lIns="0" rIns="0" tIns="0" bIns="0" wrap="square" rtlCol="0"/>
          <a:lstStyle/>
          <a:p>
            <a:pPr>
              <a:lnSpc>
                <a:spcPct val="155000"/>
              </a:lnSpc>
            </a:pPr>
            <a:r>
              <a:rPr lang="en-US" sz="1000" noProof="1">
                <a:solidFill>
                  <a:srgbClr val="333333"/>
                </a:solidFill>
                <a:latin typeface="Liter"/>
                <a:ea typeface="MiSans"/>
              </a:rPr>
              <a:t>□ Daily hypercare bridge for a week</a:t>
            </a:r>
            <a:endParaRPr lang="en-US" sz="1000" noProof="1"/>
          </a:p>
          <a:p>
            <a:pPr>
              <a:lnSpc>
                <a:spcPct val="155000"/>
              </a:lnSpc>
            </a:pPr>
            <a:r>
              <a:rPr lang="en-US" sz="1000" noProof="1">
                <a:solidFill>
                  <a:srgbClr val="333333"/>
                </a:solidFill>
                <a:latin typeface="Liter"/>
                <a:ea typeface="MiSans"/>
              </a:rPr>
              <a:t>□ CMR quality review — every MOS &lt; 3.5 call traced</a:t>
            </a:r>
            <a:endParaRPr lang="en-US" sz="1000" noProof="1"/>
          </a:p>
          <a:p>
            <a:pPr>
              <a:lnSpc>
                <a:spcPct val="155000"/>
              </a:lnSpc>
            </a:pPr>
            <a:r>
              <a:rPr lang="en-US" sz="1000" noProof="1">
                <a:solidFill>
                  <a:srgbClr val="333333"/>
                </a:solidFill>
                <a:latin typeface="Liter"/>
                <a:ea typeface="MiSans"/>
              </a:rPr>
              <a:t>□ Tickets triaged: site pattern vs one-off</a:t>
            </a:r>
            <a:endParaRPr lang="en-US" sz="1000" noProof="1"/>
          </a:p>
          <a:p>
            <a:pPr>
              <a:lnSpc>
                <a:spcPct val="155000"/>
              </a:lnSpc>
            </a:pPr>
            <a:r>
              <a:rPr lang="en-US" sz="1000" noProof="1">
                <a:solidFill>
                  <a:srgbClr val="333333"/>
                </a:solidFill>
                <a:latin typeface="Liter"/>
                <a:ea typeface="MiSans"/>
              </a:rPr>
              <a:t>□ Directory, speed dials, photos updated</a:t>
            </a:r>
            <a:endParaRPr lang="en-US" sz="1000" noProof="1"/>
          </a:p>
          <a:p>
            <a:pPr>
              <a:lnSpc>
                <a:spcPct val="155000"/>
              </a:lnSpc>
            </a:pPr>
            <a:r>
              <a:rPr lang="en-US" sz="1000" noProof="1">
                <a:solidFill>
                  <a:srgbClr val="333333"/>
                </a:solidFill>
                <a:latin typeface="Liter"/>
                <a:ea typeface="MiSans"/>
              </a:rPr>
              <a:t>□ Wave exit report signed by stakeholders</a:t>
            </a:r>
            <a:endParaRPr lang="en-US" sz="1000" noProof="1"/>
          </a:p>
        </p:txBody>
      </p:sp>
      <p:sp>
        <p:nvSpPr>
          <p:cNvPr id="13" name="day-box"/>
          <p:cNvSpPr/>
          <p:nvPr/>
        </p:nvSpPr>
        <p:spPr>
          <a:xfrm>
            <a:off x="8686800" y="4826000"/>
            <a:ext cx="2895600" cy="1168400"/>
          </a:xfrm>
          <a:prstGeom prst="roundRect">
            <a:avLst>
              <a:gd name="adj" fmla="val 12000"/>
            </a:avLst>
          </a:prstGeom>
          <a:solidFill>
            <a:srgbClr val="F3F3F3"/>
          </a:solidFill>
          <a:ln>
            <a:noFill/>
          </a:ln>
        </p:spPr>
      </p:sp>
      <p:sp>
        <p:nvSpPr>
          <p:cNvPr id="14" name="day-box-t"/>
          <p:cNvSpPr txBox="1"/>
          <p:nvPr/>
        </p:nvSpPr>
        <p:spPr>
          <a:xfrm>
            <a:off x="8813800" y="4953000"/>
            <a:ext cx="2641600" cy="939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Close out:</a:t>
            </a:r>
            <a:r>
              <a:rPr lang="en-US" sz="1000" noProof="1">
                <a:solidFill>
                  <a:srgbClr val="5A5A5A"/>
                </a:solidFill>
                <a:latin typeface="Liter"/>
                <a:ea typeface="MiSans"/>
              </a:rPr>
              <a:t> decommission plan updated, lessons learned written while memory is fresh, next wave re-sized from ticket data.</a:t>
            </a:r>
            <a:endParaRPr lang="en-US" sz="1000" noProof="1"/>
          </a:p>
        </p:txBody>
      </p:sp>
      <p:sp>
        <p:nvSpPr>
          <p:cNvPr id="15"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6"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Operational practice — adapt items and owners to your change-management framework; the structure is the transferable part</a:t>
            </a:r>
            <a:endParaRPr lang="en-US" sz="850" noProof="1"/>
          </a:p>
        </p:txBody>
      </p:sp>
      <p:sp>
        <p:nvSpPr>
          <p:cNvPr id="17" name="cml-footer-bar"/>
          <p:cNvSpPr/>
          <p:nvPr/>
        </p:nvSpPr>
        <p:spPr>
          <a:xfrm>
            <a:off x="0" y="6670000"/>
            <a:ext cx="12192000" cy="640000"/>
          </a:xfrm>
          <a:prstGeom prst="rect">
            <a:avLst/>
          </a:prstGeom>
          <a:solidFill>
            <a:srgbClr val="12161C"/>
          </a:solidFill>
          <a:ln>
            <a:noFill/>
          </a:ln>
        </p:spPr>
        <p:txBody>
          <a:bodyPr/>
          <a:lstStyle/>
          <a:p/>
        </p:txBody>
      </p:sp>
      <p:sp>
        <p:nvSpPr>
          <p:cNvPr id="18" name="cml-footer-rule"/>
          <p:cNvSpPr/>
          <p:nvPr/>
        </p:nvSpPr>
        <p:spPr>
          <a:xfrm>
            <a:off x="0" y="6670000"/>
            <a:ext cx="12192000" cy="19050"/>
          </a:xfrm>
          <a:prstGeom prst="rect">
            <a:avLst/>
          </a:prstGeom>
          <a:solidFill>
            <a:srgbClr val="2DD4BF"/>
          </a:solidFill>
          <a:ln>
            <a:noFill/>
          </a:ln>
        </p:spPr>
        <p:txBody>
          <a:bodyPr/>
          <a:lstStyle/>
          <a:p/>
        </p:txBody>
      </p:sp>
      <p:sp>
        <p:nvSpPr>
          <p:cNvPr id="19"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0"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1"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2"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3"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4"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5"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6"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7"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8"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9"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0"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1"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2"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8.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Capacity planning is arithmetic: devices, calls, trunks, agents — four formulas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One worked example end-to-end; the same calculations scale from a branch to an enterprise. Figures are illustrative.</a:t>
            </a:r>
            <a:endParaRPr lang="en-US" sz="1100" noProof="1"/>
          </a:p>
        </p:txBody>
      </p:sp>
      <p:sp>
        <p:nvSpPr>
          <p:cNvPr id="4" name="ex-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Worked example — 2,800 users, one campus, one contact center</a:t>
            </a:r>
            <a:endParaRPr lang="en-US" sz="1100" noProof="1"/>
          </a:p>
        </p:txBody>
      </p:sp>
      <p:graphicFrame>
        <p:nvGraphicFramePr>
          <p:cNvPr id="5" name="ex-table"/>
          <p:cNvGraphicFramePr>
            <a:graphicFrameLocks noGrp="1"/>
          </p:cNvGraphicFramePr>
          <p:nvPr/>
        </p:nvGraphicFramePr>
        <p:xfrm>
          <a:off x="609600" y="1447800"/>
          <a:ext cx="5969000" cy="3175000"/>
        </p:xfrm>
        <a:graphic>
          <a:graphicData uri="http://schemas.openxmlformats.org/drawingml/2006/table">
            <a:tbl>
              <a:tblPr/>
              <a:tblGrid>
                <a:gridCol w="1432560"/>
                <a:gridCol w="2506980"/>
                <a:gridCol w="2029460"/>
              </a:tblGrid>
              <a:tr h="349250">
                <a:tc>
                  <a:txBody>
                    <a:bodyPr wrap="square" rtlCol="0" anchor="ctr"/>
                    <a:lstStyle/>
                    <a:p>
                      <a:pPr algn="l"/>
                      <a:r>
                        <a:rPr lang="en-US" sz="1050" noProof="1" b="1">
                          <a:solidFill>
                            <a:srgbClr val="000000"/>
                          </a:solidFill>
                          <a:latin typeface="Liter"/>
                          <a:ea typeface="MiSans"/>
                        </a:rPr>
                        <a:t>Step</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Calculation</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Result</a:t>
                      </a:r>
                    </a:p>
                  </a:txBody>
                  <a:tcPr marL="91440" marR="91440" marT="45720" marB="45720" anchor="ctr">
                    <a:lnL>
                      <a:noFill/>
                    </a:lnL>
                    <a:lnR>
                      <a:noFill/>
                    </a:lnR>
                    <a:lnT>
                      <a:noFill/>
                    </a:lnT>
                    <a:lnB w="15240">
                      <a:solidFill>
                        <a:srgbClr val="000000"/>
                      </a:solidFill>
                    </a:lnB>
                    <a:noFill/>
                  </a:tcPr>
                </a:tc>
              </a:tr>
              <a:tr h="565150">
                <a:tc>
                  <a:txBody>
                    <a:bodyPr wrap="square" rtlCol="0" anchor="ctr"/>
                    <a:lstStyle/>
                    <a:p>
                      <a:pPr algn="l"/>
                      <a:r>
                        <a:rPr lang="en-US" sz="1050" noProof="1">
                          <a:solidFill>
                            <a:srgbClr val="000000"/>
                          </a:solidFill>
                          <a:latin typeface="Liter"/>
                          <a:ea typeface="MiSans"/>
                        </a:rPr>
                        <a:t>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2,800 users × 1.1 endpoint factor (soft clients, common areas)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3,100 devices</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BHCA</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2,800 × 4 calls at the busy hour</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11,200 BHCA</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Cluster headroom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one subscriber pair rated 40k+ devices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pair suffices, 1:1 redundancy intact</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PSTN trunks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30% of busy-hour calls touch PSTN → 11,200 × 0.3 × 150 s ÷ 3,600 s = 140 erlangs; Erlang B at 1% blocking</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155 channels ≈ 7 PRIs</a:t>
                      </a:r>
                    </a:p>
                  </a:txBody>
                  <a:tcPr marL="91440" marR="91440" marT="45720" marB="45720" anchor="ctr">
                    <a:lnL>
                      <a:noFill/>
                    </a:lnL>
                    <a:lnR>
                      <a:noFill/>
                    </a:lnR>
                    <a:lnT>
                      <a:noFill/>
                    </a:lnT>
                    <a:lnB w="7620">
                      <a:solidFill>
                        <a:srgbClr val="D9D9D9"/>
                      </a:solidFill>
                    </a:lnB>
                    <a:noFill/>
                  </a:tcPr>
                </a:tc>
              </a:tr>
              <a:tr h="565150">
                <a:tc>
                  <a:txBody>
                    <a:bodyPr wrap="square" rtlCol="0" anchor="ctr"/>
                    <a:lstStyle/>
                    <a:p>
                      <a:pPr algn="l"/>
                      <a:r>
                        <a:rPr lang="en-US" sz="1050" noProof="1">
                          <a:solidFill>
                            <a:srgbClr val="000000"/>
                          </a:solidFill>
                          <a:latin typeface="Liter"/>
                          <a:ea typeface="MiSans"/>
                        </a:rPr>
                        <a:t>Agents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3,600 calls/day over 8 h, AHT 300 s → 37.5 erlangs; Erlang C for 80/20 service level</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 46 agents on shift</a:t>
                      </a:r>
                    </a:p>
                  </a:txBody>
                  <a:tcPr marL="91440" marR="91440" marT="45720" marB="45720" anchor="ctr">
                    <a:lnL>
                      <a:noFill/>
                    </a:lnL>
                    <a:lnR>
                      <a:noFill/>
                    </a:lnR>
                    <a:lnT>
                      <a:noFill/>
                    </a:lnT>
                    <a:lnB w="7620">
                      <a:solidFill>
                        <a:srgbClr val="D9D9D9"/>
                      </a:solidFill>
                    </a:lnB>
                    <a:noFill/>
                  </a:tcPr>
                </a:tc>
              </a:tr>
            </a:tbl>
          </a:graphicData>
        </a:graphic>
      </p:graphicFrame>
      <p:sp>
        <p:nvSpPr>
          <p:cNvPr id="6" name="ex-note"/>
          <p:cNvSpPr txBox="1"/>
          <p:nvPr/>
        </p:nvSpPr>
        <p:spPr>
          <a:xfrm>
            <a:off x="609600" y="4800600"/>
            <a:ext cx="5969000" cy="11684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Validate with your own busy-hour data:</a:t>
            </a:r>
            <a:r>
              <a:rPr lang="en-US" sz="1250" noProof="1">
                <a:solidFill>
                  <a:srgbClr val="000000"/>
                </a:solidFill>
                <a:latin typeface="Liter"/>
                <a:ea typeface="MiSans"/>
              </a:rPr>
              <a:t> pull 4–6 weeks of CDRs, find the real busy hour, and re-run the arithmetic. Assumed ratios are planning inputs; measured ratios are design inputs.</a:t>
            </a:r>
            <a:endParaRPr lang="en-US" sz="1250" noProof="1"/>
          </a:p>
        </p:txBody>
      </p:sp>
      <p:sp>
        <p:nvSpPr>
          <p:cNvPr id="7" name="f-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four formulas to memorize</a:t>
            </a:r>
            <a:endParaRPr lang="en-US" sz="1100" noProof="1"/>
          </a:p>
        </p:txBody>
      </p:sp>
      <p:sp>
        <p:nvSpPr>
          <p:cNvPr id="8" name="f1"/>
          <p:cNvSpPr/>
          <p:nvPr/>
        </p:nvSpPr>
        <p:spPr>
          <a:xfrm>
            <a:off x="7086600" y="1447800"/>
            <a:ext cx="4495800" cy="711200"/>
          </a:xfrm>
          <a:prstGeom prst="rect">
            <a:avLst/>
          </a:prstGeom>
          <a:solidFill>
            <a:srgbClr val="F7F5F0"/>
          </a:solidFill>
          <a:ln w="10160">
            <a:solidFill>
              <a:srgbClr val="333333"/>
            </a:solidFill>
          </a:ln>
        </p:spPr>
      </p:sp>
      <p:sp>
        <p:nvSpPr>
          <p:cNvPr id="9" name="f1t"/>
          <p:cNvSpPr txBox="1"/>
          <p:nvPr/>
        </p:nvSpPr>
        <p:spPr>
          <a:xfrm>
            <a:off x="7239000" y="15240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devices = users × endpoint factor</a:t>
            </a:r>
            <a:endParaRPr lang="en-US" sz="950" noProof="1"/>
          </a:p>
          <a:p>
            <a:pPr>
              <a:lnSpc>
                <a:spcPct val="135000"/>
              </a:lnSpc>
            </a:pPr>
            <a:r>
              <a:rPr lang="en-US" sz="850" noProof="1">
                <a:solidFill>
                  <a:srgbClr val="000000"/>
                </a:solidFill>
                <a:latin typeface="JetBrains Mono"/>
                <a:ea typeface="MiSans"/>
              </a:rPr>
              <a:t>1.05–1.15 covers soft clients and shared phones</a:t>
            </a:r>
            <a:endParaRPr lang="en-US" sz="950" noProof="1"/>
          </a:p>
        </p:txBody>
      </p:sp>
      <p:sp>
        <p:nvSpPr>
          <p:cNvPr id="10" name="f2"/>
          <p:cNvSpPr/>
          <p:nvPr/>
        </p:nvSpPr>
        <p:spPr>
          <a:xfrm>
            <a:off x="7086600" y="2311400"/>
            <a:ext cx="4495800" cy="711200"/>
          </a:xfrm>
          <a:prstGeom prst="rect">
            <a:avLst/>
          </a:prstGeom>
          <a:solidFill>
            <a:srgbClr val="F7F5F0"/>
          </a:solidFill>
          <a:ln w="10160">
            <a:solidFill>
              <a:srgbClr val="333333"/>
            </a:solidFill>
          </a:ln>
        </p:spPr>
      </p:sp>
      <p:sp>
        <p:nvSpPr>
          <p:cNvPr id="11" name="f2t"/>
          <p:cNvSpPr txBox="1"/>
          <p:nvPr/>
        </p:nvSpPr>
        <p:spPr>
          <a:xfrm>
            <a:off x="7239000" y="23876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erlangs = calls × AHT ÷ 3,600</a:t>
            </a:r>
            <a:endParaRPr lang="en-US" sz="950" noProof="1"/>
          </a:p>
          <a:p>
            <a:pPr>
              <a:lnSpc>
                <a:spcPct val="135000"/>
              </a:lnSpc>
            </a:pPr>
            <a:r>
              <a:rPr lang="en-US" sz="850" noProof="1">
                <a:solidFill>
                  <a:srgbClr val="000000"/>
                </a:solidFill>
                <a:latin typeface="JetBrains Mono"/>
                <a:ea typeface="MiSans"/>
              </a:rPr>
              <a:t>traffic intensity; AHT in seconds, period in seconds</a:t>
            </a:r>
            <a:endParaRPr lang="en-US" sz="950" noProof="1"/>
          </a:p>
        </p:txBody>
      </p:sp>
      <p:sp>
        <p:nvSpPr>
          <p:cNvPr id="12" name="f3"/>
          <p:cNvSpPr/>
          <p:nvPr/>
        </p:nvSpPr>
        <p:spPr>
          <a:xfrm>
            <a:off x="7086600" y="3175000"/>
            <a:ext cx="4495800" cy="711200"/>
          </a:xfrm>
          <a:prstGeom prst="rect">
            <a:avLst/>
          </a:prstGeom>
          <a:solidFill>
            <a:srgbClr val="F7F5F0"/>
          </a:solidFill>
          <a:ln w="10160">
            <a:solidFill>
              <a:srgbClr val="333333"/>
            </a:solidFill>
          </a:ln>
        </p:spPr>
      </p:sp>
      <p:sp>
        <p:nvSpPr>
          <p:cNvPr id="13" name="f3t"/>
          <p:cNvSpPr txBox="1"/>
          <p:nvPr/>
        </p:nvSpPr>
        <p:spPr>
          <a:xfrm>
            <a:off x="7239000" y="32512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trunks = Erlang B(erlangs, blocking)</a:t>
            </a:r>
            <a:endParaRPr lang="en-US" sz="950" noProof="1"/>
          </a:p>
          <a:p>
            <a:pPr>
              <a:lnSpc>
                <a:spcPct val="135000"/>
              </a:lnSpc>
            </a:pPr>
            <a:r>
              <a:rPr lang="en-US" sz="850" noProof="1">
                <a:solidFill>
                  <a:srgbClr val="000000"/>
                </a:solidFill>
                <a:latin typeface="JetBrains Mono"/>
                <a:ea typeface="MiSans"/>
              </a:rPr>
              <a:t>blocked calls cleared — for PSTN capacity, 0.1–1% typical</a:t>
            </a:r>
            <a:endParaRPr lang="en-US" sz="950" noProof="1"/>
          </a:p>
        </p:txBody>
      </p:sp>
      <p:sp>
        <p:nvSpPr>
          <p:cNvPr id="14" name="f4"/>
          <p:cNvSpPr/>
          <p:nvPr/>
        </p:nvSpPr>
        <p:spPr>
          <a:xfrm>
            <a:off x="7086600" y="4038600"/>
            <a:ext cx="4495800" cy="711200"/>
          </a:xfrm>
          <a:prstGeom prst="rect">
            <a:avLst/>
          </a:prstGeom>
          <a:solidFill>
            <a:srgbClr val="F7F5F0"/>
          </a:solidFill>
          <a:ln w="10160">
            <a:solidFill>
              <a:srgbClr val="333333"/>
            </a:solidFill>
          </a:ln>
        </p:spPr>
      </p:sp>
      <p:sp>
        <p:nvSpPr>
          <p:cNvPr id="15" name="f4t"/>
          <p:cNvSpPr txBox="1"/>
          <p:nvPr/>
        </p:nvSpPr>
        <p:spPr>
          <a:xfrm>
            <a:off x="7239000" y="4114800"/>
            <a:ext cx="4216400" cy="584200"/>
          </a:xfrm>
          <a:prstGeom prst="rect">
            <a:avLst/>
          </a:prstGeom>
          <a:noFill/>
          <a:ln>
            <a:noFill/>
          </a:ln>
        </p:spPr>
        <p:txBody>
          <a:bodyPr lIns="0" rIns="0" tIns="0" bIns="0" wrap="square" rtlCol="0"/>
          <a:lstStyle/>
          <a:p>
            <a:pPr>
              <a:lnSpc>
                <a:spcPct val="135000"/>
              </a:lnSpc>
            </a:pPr>
            <a:r>
              <a:rPr lang="en-US" sz="950" noProof="1">
                <a:solidFill>
                  <a:srgbClr val="333333"/>
                </a:solidFill>
                <a:latin typeface="JetBrains Mono"/>
                <a:ea typeface="MiSans"/>
              </a:rPr>
              <a:t>agents = Erlang C(erlangs, service level)</a:t>
            </a:r>
            <a:endParaRPr lang="en-US" sz="950" noProof="1"/>
          </a:p>
          <a:p>
            <a:pPr>
              <a:lnSpc>
                <a:spcPct val="135000"/>
              </a:lnSpc>
            </a:pPr>
            <a:r>
              <a:rPr lang="en-US" sz="850" noProof="1">
                <a:solidFill>
                  <a:srgbClr val="000000"/>
                </a:solidFill>
                <a:latin typeface="JetBrains Mono"/>
                <a:ea typeface="MiSans"/>
              </a:rPr>
              <a:t>blocked calls wait — for staffed queues like 80/20 targets</a:t>
            </a:r>
            <a:endParaRPr lang="en-US" sz="950" noProof="1"/>
          </a:p>
        </p:txBody>
      </p:sp>
      <p:sp>
        <p:nvSpPr>
          <p:cNvPr id="16" name="f-box"/>
          <p:cNvSpPr/>
          <p:nvPr/>
        </p:nvSpPr>
        <p:spPr>
          <a:xfrm>
            <a:off x="7086600" y="4953000"/>
            <a:ext cx="4495800" cy="1041400"/>
          </a:xfrm>
          <a:prstGeom prst="roundRect">
            <a:avLst>
              <a:gd name="adj" fmla="val 12000"/>
            </a:avLst>
          </a:prstGeom>
          <a:solidFill>
            <a:srgbClr val="F3F3F3"/>
          </a:solidFill>
          <a:ln>
            <a:noFill/>
          </a:ln>
        </p:spPr>
      </p:sp>
      <p:sp>
        <p:nvSpPr>
          <p:cNvPr id="17" name="f-box-t"/>
          <p:cNvSpPr txBox="1"/>
          <p:nvPr/>
        </p:nvSpPr>
        <p:spPr>
          <a:xfrm>
            <a:off x="7239000" y="5080000"/>
            <a:ext cx="4191000" cy="8128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Erlang B vs C in one line:</a:t>
            </a:r>
            <a:r>
              <a:rPr lang="en-US" sz="1000" noProof="1">
                <a:solidFill>
                  <a:srgbClr val="5A5A5A"/>
                </a:solidFill>
                <a:latin typeface="Liter"/>
                <a:ea typeface="MiSans"/>
              </a:rPr>
              <a:t> trunks either get a call or the caller hears busy (B); agents either take the call or the caller queues (C). Using the wrong model under-sizes the wrong resource.</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Illustrative figures — ratios and busy-hour multipliers are planning assumptions; recompute from measured CDR data before design</a:t>
            </a:r>
            <a:endParaRPr lang="en-US" sz="850" noProof="1"/>
          </a:p>
        </p:txBody>
      </p:sp>
      <p:sp>
        <p:nvSpPr>
          <p:cNvPr id="20" name="cml-footer-bar"/>
          <p:cNvSpPr/>
          <p:nvPr/>
        </p:nvSpPr>
        <p:spPr>
          <a:xfrm>
            <a:off x="0" y="6670000"/>
            <a:ext cx="12192000" cy="640000"/>
          </a:xfrm>
          <a:prstGeom prst="rect">
            <a:avLst/>
          </a:prstGeom>
          <a:solidFill>
            <a:srgbClr val="12161C"/>
          </a:solidFill>
          <a:ln>
            <a:noFill/>
          </a:ln>
        </p:spPr>
        <p:txBody>
          <a:bodyPr/>
          <a:lstStyle/>
          <a:p/>
        </p:txBody>
      </p:sp>
      <p:sp>
        <p:nvSpPr>
          <p:cNvPr id="21" name="cml-footer-rule"/>
          <p:cNvSpPr/>
          <p:nvPr/>
        </p:nvSpPr>
        <p:spPr>
          <a:xfrm>
            <a:off x="0" y="6670000"/>
            <a:ext cx="12192000" cy="19050"/>
          </a:xfrm>
          <a:prstGeom prst="rect">
            <a:avLst/>
          </a:prstGeom>
          <a:solidFill>
            <a:srgbClr val="2DD4BF"/>
          </a:solidFill>
          <a:ln>
            <a:noFill/>
          </a:ln>
        </p:spPr>
        <p:txBody>
          <a:bodyPr/>
          <a:lstStyle/>
          <a:p/>
        </p:txBody>
      </p:sp>
      <p:sp>
        <p:nvSpPr>
          <p:cNvPr id="22"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3"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4"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5"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6"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7"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8"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9"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0"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31"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2"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33"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4"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5"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59.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Design documents are the deliverable that outlives the project</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Configurations change; the HLD, LLD, as-built and runbook are what the next engineer — often you, two years later — actually needs.</a:t>
            </a:r>
            <a:endParaRPr lang="en-US" sz="1100" noProof="1"/>
          </a:p>
        </p:txBody>
      </p:sp>
      <p:sp>
        <p:nvSpPr>
          <p:cNvPr id="4" name="doc-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Four documents, four readers, four lifetimes</a:t>
            </a:r>
            <a:endParaRPr lang="en-US" sz="1100" noProof="1"/>
          </a:p>
        </p:txBody>
      </p:sp>
      <p:graphicFrame>
        <p:nvGraphicFramePr>
          <p:cNvPr id="5" name="doc-table"/>
          <p:cNvGraphicFramePr>
            <a:graphicFrameLocks noGrp="1"/>
          </p:cNvGraphicFramePr>
          <p:nvPr/>
        </p:nvGraphicFramePr>
        <p:xfrm>
          <a:off x="609600" y="1447800"/>
          <a:ext cx="5969000" cy="3124200"/>
        </p:xfrm>
        <a:graphic>
          <a:graphicData uri="http://schemas.openxmlformats.org/drawingml/2006/table">
            <a:tbl>
              <a:tblPr/>
              <a:tblGrid>
                <a:gridCol w="1193800"/>
                <a:gridCol w="2865120"/>
                <a:gridCol w="1910080"/>
              </a:tblGrid>
              <a:tr h="312420">
                <a:tc>
                  <a:txBody>
                    <a:bodyPr wrap="square" rtlCol="0" anchor="ctr"/>
                    <a:lstStyle/>
                    <a:p>
                      <a:pPr algn="l"/>
                      <a:r>
                        <a:rPr lang="en-US" sz="1050" noProof="1" b="1">
                          <a:solidFill>
                            <a:srgbClr val="000000"/>
                          </a:solidFill>
                          <a:latin typeface="Liter"/>
                          <a:ea typeface="MiSans"/>
                        </a:rPr>
                        <a:t>Document</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Contents</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Reader</a:t>
                      </a:r>
                    </a:p>
                  </a:txBody>
                  <a:tcPr marL="91440" marR="91440" marT="45720" marB="45720" anchor="ctr">
                    <a:lnL>
                      <a:noFill/>
                    </a:lnL>
                    <a:lnR>
                      <a:noFill/>
                    </a:lnR>
                    <a:lnT>
                      <a:noFill/>
                    </a:lnT>
                    <a:lnB w="15240">
                      <a:solidFill>
                        <a:srgbClr val="000000"/>
                      </a:solidFill>
                    </a:lnB>
                    <a:noFill/>
                  </a:tcPr>
                </a:tc>
              </a:tr>
              <a:tr h="702945">
                <a:tc>
                  <a:txBody>
                    <a:bodyPr wrap="square" rtlCol="0" anchor="ctr"/>
                    <a:lstStyle/>
                    <a:p>
                      <a:pPr algn="l"/>
                      <a:r>
                        <a:rPr lang="en-US" sz="1050" noProof="1">
                          <a:solidFill>
                            <a:srgbClr val="000000"/>
                          </a:solidFill>
                          <a:latin typeface="Liter"/>
                          <a:ea typeface="MiSans"/>
                        </a:rPr>
                        <a:t>HLD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architecture, sizing, availability model, security zones, key decisions with rejected alternatives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decision-makers, reviewers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LLD</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every parameter value — device pools, CSS / partition tables, dial-peer inventory, gateway configs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implementers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As-built</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what actually shipped, with diffs from the LLD and why</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operations</a:t>
                      </a:r>
                    </a:p>
                  </a:txBody>
                  <a:tcPr marL="91440" marR="91440" marT="45720" marB="45720" anchor="ctr">
                    <a:lnL>
                      <a:noFill/>
                    </a:lnL>
                    <a:lnR>
                      <a:noFill/>
                    </a:lnR>
                    <a:lnT>
                      <a:noFill/>
                    </a:lnT>
                    <a:lnB w="7620">
                      <a:solidFill>
                        <a:srgbClr val="D9D9D9"/>
                      </a:solidFill>
                    </a:lnB>
                    <a:noFill/>
                  </a:tcPr>
                </a:tc>
              </a:tr>
              <a:tr h="702945">
                <a:tc>
                  <a:txBody>
                    <a:bodyPr wrap="square" rtlCol="0" anchor="ctr"/>
                    <a:lstStyle/>
                    <a:p>
                      <a:pPr algn="l"/>
                      <a:r>
                        <a:rPr lang="en-US" sz="1050" noProof="1">
                          <a:solidFill>
                            <a:srgbClr val="000000"/>
                          </a:solidFill>
                          <a:latin typeface="Liter"/>
                          <a:ea typeface="MiSans"/>
                        </a:rPr>
                        <a:t>Runbook</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adds / moves / changes, backup and restore, incident playbooks, escalation contacts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support tiers</a:t>
                      </a:r>
                    </a:p>
                  </a:txBody>
                  <a:tcPr marL="91440" marR="91440" marT="45720" marB="45720" anchor="ctr">
                    <a:lnL>
                      <a:noFill/>
                    </a:lnL>
                    <a:lnR>
                      <a:noFill/>
                    </a:lnR>
                    <a:lnT>
                      <a:noFill/>
                    </a:lnT>
                    <a:lnB w="7620">
                      <a:solidFill>
                        <a:srgbClr val="D9D9D9"/>
                      </a:solidFill>
                    </a:lnB>
                    <a:noFill/>
                  </a:tcPr>
                </a:tc>
              </a:tr>
            </a:tbl>
          </a:graphicData>
        </a:graphic>
      </p:graphicFrame>
      <p:sp>
        <p:nvSpPr>
          <p:cNvPr id="6" name="doc-note"/>
          <p:cNvSpPr txBox="1"/>
          <p:nvPr/>
        </p:nvSpPr>
        <p:spPr>
          <a:xfrm>
            <a:off x="609600" y="4749800"/>
            <a:ext cx="5969000" cy="12192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The rejected-alternatives paragraph is the gold:</a:t>
            </a:r>
            <a:r>
              <a:rPr lang="en-US" sz="1250" noProof="1">
                <a:solidFill>
                  <a:srgbClr val="000000"/>
                </a:solidFill>
                <a:latin typeface="Liter"/>
                <a:ea typeface="MiSans"/>
              </a:rPr>
              <a:t> anyone can read what was built; only the HLD records why the other designs lost. Migrations fail when the new team re-litigates settled decisions because the reasoning was never written down.</a:t>
            </a:r>
            <a:endParaRPr lang="en-US" sz="1250" noProof="1"/>
          </a:p>
        </p:txBody>
      </p:sp>
      <p:sp>
        <p:nvSpPr>
          <p:cNvPr id="7" name="rev-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What a design review actually checks</a:t>
            </a:r>
            <a:endParaRPr lang="en-US" sz="1100" noProof="1"/>
          </a:p>
        </p:txBody>
      </p:sp>
      <p:sp>
        <p:nvSpPr>
          <p:cNvPr id="8" name="rev-list"/>
          <p:cNvSpPr txBox="1"/>
          <p:nvPr/>
        </p:nvSpPr>
        <p:spPr>
          <a:xfrm>
            <a:off x="7086600" y="1447800"/>
            <a:ext cx="4495800" cy="2667000"/>
          </a:xfrm>
          <a:prstGeom prst="rect">
            <a:avLst/>
          </a:prstGeom>
          <a:noFill/>
          <a:ln>
            <a:noFill/>
          </a:ln>
        </p:spPr>
        <p:txBody>
          <a:bodyPr lIns="0" rIns="0" tIns="0" bIns="0" wrap="square" rtlCol="0"/>
          <a:lstStyle/>
          <a:p>
            <a:pPr>
              <a:lnSpc>
                <a:spcPct val="160000"/>
              </a:lnSpc>
            </a:pPr>
            <a:r>
              <a:rPr lang="en-US" sz="1050" noProof="1">
                <a:solidFill>
                  <a:srgbClr val="333333"/>
                </a:solidFill>
                <a:latin typeface="Liter"/>
                <a:ea typeface="MiSans"/>
              </a:rPr>
              <a:t>□ Every requirement traces to a design decision</a:t>
            </a:r>
            <a:endParaRPr lang="en-US" sz="1050" noProof="1"/>
          </a:p>
          <a:p>
            <a:pPr>
              <a:lnSpc>
                <a:spcPct val="160000"/>
              </a:lnSpc>
            </a:pPr>
            <a:r>
              <a:rPr lang="en-US" sz="1050" noProof="1">
                <a:solidFill>
                  <a:srgbClr val="333333"/>
                </a:solidFill>
                <a:latin typeface="Liter"/>
                <a:ea typeface="MiSans"/>
              </a:rPr>
              <a:t>□ Capacity numbers cite sources — the Section 07 formulas, not adjectives</a:t>
            </a:r>
            <a:endParaRPr lang="en-US" sz="1050" noProof="1"/>
          </a:p>
          <a:p>
            <a:pPr>
              <a:lnSpc>
                <a:spcPct val="160000"/>
              </a:lnSpc>
            </a:pPr>
            <a:r>
              <a:rPr lang="en-US" sz="1050" noProof="1">
                <a:solidFill>
                  <a:srgbClr val="333333"/>
                </a:solidFill>
                <a:latin typeface="Liter"/>
                <a:ea typeface="MiSans"/>
              </a:rPr>
              <a:t>□ Rollback is documented per change, not per project</a:t>
            </a:r>
            <a:endParaRPr lang="en-US" sz="1050" noProof="1"/>
          </a:p>
          <a:p>
            <a:pPr>
              <a:lnSpc>
                <a:spcPct val="160000"/>
              </a:lnSpc>
            </a:pPr>
            <a:r>
              <a:rPr lang="en-US" sz="1050" noProof="1">
                <a:solidFill>
                  <a:srgbClr val="333333"/>
                </a:solidFill>
                <a:latin typeface="Liter"/>
                <a:ea typeface="MiSans"/>
              </a:rPr>
              <a:t>□ Assumptions are labeled, each with a name and an owner</a:t>
            </a:r>
            <a:endParaRPr lang="en-US" sz="1050" noProof="1"/>
          </a:p>
          <a:p>
            <a:pPr>
              <a:lnSpc>
                <a:spcPct val="160000"/>
              </a:lnSpc>
            </a:pPr>
            <a:r>
              <a:rPr lang="en-US" sz="1050" noProof="1">
                <a:solidFill>
                  <a:srgbClr val="333333"/>
                </a:solidFill>
                <a:latin typeface="Liter"/>
                <a:ea typeface="MiSans"/>
              </a:rPr>
              <a:t>□ Diagrams match configs — a diagram that lies is worse than none</a:t>
            </a:r>
            <a:endParaRPr lang="en-US" sz="1050" noProof="1"/>
          </a:p>
          <a:p>
            <a:pPr>
              <a:lnSpc>
                <a:spcPct val="160000"/>
              </a:lnSpc>
            </a:pPr>
            <a:r>
              <a:rPr lang="en-US" sz="1050" noProof="1">
                <a:solidFill>
                  <a:srgbClr val="333333"/>
                </a:solidFill>
                <a:latin typeface="Liter"/>
                <a:ea typeface="MiSans"/>
              </a:rPr>
              <a:t>□ Failure domains are drawn: what breaks when each node, link and site dies</a:t>
            </a:r>
            <a:endParaRPr lang="en-US" sz="1050" noProof="1"/>
          </a:p>
        </p:txBody>
      </p:sp>
      <p:sp>
        <p:nvSpPr>
          <p:cNvPr id="9" name="debt-box"/>
          <p:cNvSpPr/>
          <p:nvPr/>
        </p:nvSpPr>
        <p:spPr>
          <a:xfrm>
            <a:off x="7086600" y="4318000"/>
            <a:ext cx="4495800" cy="1270000"/>
          </a:xfrm>
          <a:prstGeom prst="roundRect">
            <a:avLst>
              <a:gd name="adj" fmla="val 12000"/>
            </a:avLst>
          </a:prstGeom>
          <a:solidFill>
            <a:srgbClr val="F3F3F3"/>
          </a:solidFill>
          <a:ln>
            <a:noFill/>
          </a:ln>
        </p:spPr>
      </p:sp>
      <p:sp>
        <p:nvSpPr>
          <p:cNvPr id="10" name="debt-box-t"/>
          <p:cNvSpPr txBox="1"/>
          <p:nvPr/>
        </p:nvSpPr>
        <p:spPr>
          <a:xfrm>
            <a:off x="7239000" y="4445000"/>
            <a:ext cx="4191000" cy="1041400"/>
          </a:xfrm>
          <a:prstGeom prst="rect">
            <a:avLst/>
          </a:prstGeom>
          <a:noFill/>
          <a:ln>
            <a:noFill/>
          </a:ln>
        </p:spPr>
        <p:txBody>
          <a:bodyPr lIns="0" rIns="0" tIns="0" bIns="0" wrap="square" rtlCol="0"/>
          <a:lstStyle/>
          <a:p>
            <a:pPr>
              <a:lnSpc>
                <a:spcPct val="135000"/>
              </a:lnSpc>
            </a:pPr>
            <a:r>
              <a:rPr lang="en-US" sz="1000" noProof="1" b="1">
                <a:solidFill>
                  <a:srgbClr val="5A5A5A"/>
                </a:solidFill>
                <a:latin typeface="Liter"/>
                <a:ea typeface="MiSans"/>
              </a:rPr>
              <a:t>Documentation debt compounds</a:t>
            </a:r>
            <a:endParaRPr lang="en-US" sz="1000" noProof="1"/>
          </a:p>
          <a:p>
            <a:pPr>
              <a:lnSpc>
                <a:spcPct val="135000"/>
              </a:lnSpc>
              <a:spcBef>
                <a:spcPts val="600"/>
              </a:spcBef>
            </a:pPr>
            <a:r>
              <a:rPr lang="en-US" sz="1000" noProof="1">
                <a:solidFill>
                  <a:srgbClr val="5A5A5A"/>
                </a:solidFill>
                <a:latin typeface="Liter"/>
                <a:ea typeface="MiSans"/>
              </a:rPr>
              <a:t>Every undocumented exception is a future incident without context. The cheapest documentation is written during the change window, by the person making the change — afterward it costs ten times more and says half as much.</a:t>
            </a:r>
            <a:endParaRPr lang="en-US" sz="1000" noProof="1"/>
          </a:p>
        </p:txBody>
      </p:sp>
      <p:sp>
        <p:nvSpPr>
          <p:cNvPr id="11" name="rev-note"/>
          <p:cNvSpPr txBox="1"/>
          <p:nvPr/>
        </p:nvSpPr>
        <p:spPr>
          <a:xfrm>
            <a:off x="7086600" y="5740400"/>
            <a:ext cx="4495800" cy="254000"/>
          </a:xfrm>
          <a:prstGeom prst="rect">
            <a:avLst/>
          </a:prstGeom>
          <a:noFill/>
          <a:ln>
            <a:noFill/>
          </a:ln>
        </p:spPr>
        <p:txBody>
          <a:bodyPr lIns="0" rIns="0" tIns="0" bIns="0" wrap="none" rtlCol="0"/>
          <a:lstStyle/>
          <a:p>
            <a:pPr>
              <a:lnSpc>
                <a:spcPct val="135000"/>
              </a:lnSpc>
            </a:pPr>
            <a:r>
              <a:rPr lang="en-US" sz="1000" noProof="1">
                <a:solidFill>
                  <a:srgbClr val="5A5A5A"/>
                </a:solidFill>
                <a:latin typeface="Liter"/>
                <a:ea typeface="MiSans"/>
              </a:rPr>
              <a:t>Store docs where the outage can't reach them — not on the cluster they describe.</a:t>
            </a:r>
            <a:endParaRPr lang="en-US" sz="1000" noProof="1"/>
          </a:p>
        </p:txBody>
      </p:sp>
      <p:sp>
        <p:nvSpPr>
          <p:cNvPr id="12"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3"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Cisco PPDIOO / design methodology guidance and professional-services documentation practice</a:t>
            </a:r>
            <a:endParaRPr lang="en-US" sz="850" noProof="1"/>
          </a:p>
        </p:txBody>
      </p:sp>
      <p:sp>
        <p:nvSpPr>
          <p:cNvPr id="14" name="cml-footer-bar"/>
          <p:cNvSpPr/>
          <p:nvPr/>
        </p:nvSpPr>
        <p:spPr>
          <a:xfrm>
            <a:off x="0" y="6670000"/>
            <a:ext cx="12192000" cy="640000"/>
          </a:xfrm>
          <a:prstGeom prst="rect">
            <a:avLst/>
          </a:prstGeom>
          <a:solidFill>
            <a:srgbClr val="12161C"/>
          </a:solidFill>
          <a:ln>
            <a:noFill/>
          </a:ln>
        </p:spPr>
        <p:txBody>
          <a:bodyPr/>
          <a:lstStyle/>
          <a:p/>
        </p:txBody>
      </p:sp>
      <p:sp>
        <p:nvSpPr>
          <p:cNvPr id="15" name="cml-footer-rule"/>
          <p:cNvSpPr/>
          <p:nvPr/>
        </p:nvSpPr>
        <p:spPr>
          <a:xfrm>
            <a:off x="0" y="6670000"/>
            <a:ext cx="12192000" cy="19050"/>
          </a:xfrm>
          <a:prstGeom prst="rect">
            <a:avLst/>
          </a:prstGeom>
          <a:solidFill>
            <a:srgbClr val="2DD4BF"/>
          </a:solidFill>
          <a:ln>
            <a:noFill/>
          </a:ln>
        </p:spPr>
        <p:txBody>
          <a:bodyPr/>
          <a:lstStyle/>
          <a:p/>
        </p:txBody>
      </p:sp>
      <p:sp>
        <p:nvSpPr>
          <p:cNvPr id="16"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7"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8"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9"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0"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1"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2"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3"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4"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5"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6"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7"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8"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9"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60.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Automation turns configuration into code: AXL, CURRI, CTI, and the Webex APIs</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Anything you configure twice by hand is a script; anything you configure per migration wave is a pipeline.</a:t>
            </a:r>
            <a:endParaRPr lang="en-US" sz="1100" noProof="1"/>
          </a:p>
        </p:txBody>
      </p:sp>
      <p:sp>
        <p:nvSpPr>
          <p:cNvPr id="4" name="api-h"/>
          <p:cNvSpPr txBox="1"/>
          <p:nvPr/>
        </p:nvSpPr>
        <p:spPr>
          <a:xfrm>
            <a:off x="609600" y="1143000"/>
            <a:ext cx="5969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five interfaces worth learning</a:t>
            </a:r>
            <a:endParaRPr lang="en-US" sz="1100" noProof="1"/>
          </a:p>
        </p:txBody>
      </p:sp>
      <p:graphicFrame>
        <p:nvGraphicFramePr>
          <p:cNvPr id="5" name="api-table"/>
          <p:cNvGraphicFramePr>
            <a:graphicFrameLocks noGrp="1"/>
          </p:cNvGraphicFramePr>
          <p:nvPr/>
        </p:nvGraphicFramePr>
        <p:xfrm>
          <a:off x="609600" y="1447800"/>
          <a:ext cx="5969000" cy="3352800"/>
        </p:xfrm>
        <a:graphic>
          <a:graphicData uri="http://schemas.openxmlformats.org/drawingml/2006/table">
            <a:tbl>
              <a:tblPr/>
              <a:tblGrid>
                <a:gridCol w="1671320"/>
                <a:gridCol w="2148840"/>
                <a:gridCol w="2148840"/>
              </a:tblGrid>
              <a:tr h="301752">
                <a:tc>
                  <a:txBody>
                    <a:bodyPr wrap="square" rtlCol="0" anchor="ctr"/>
                    <a:lstStyle/>
                    <a:p>
                      <a:pPr algn="l"/>
                      <a:r>
                        <a:rPr lang="en-US" sz="1050" noProof="1" b="1">
                          <a:solidFill>
                            <a:srgbClr val="000000"/>
                          </a:solidFill>
                          <a:latin typeface="Liter"/>
                          <a:ea typeface="MiSans"/>
                        </a:rPr>
                        <a:t>Interface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Purpose</a:t>
                      </a:r>
                    </a:p>
                  </a:txBody>
                  <a:tcPr marL="91440" marR="91440" marT="45720" marB="45720" anchor="ctr">
                    <a:lnL>
                      <a:noFill/>
                    </a:lnL>
                    <a:lnR>
                      <a:noFill/>
                    </a:lnR>
                    <a:lnT>
                      <a:noFill/>
                    </a:lnT>
                    <a:lnB w="15240">
                      <a:solidFill>
                        <a:srgbClr val="000000"/>
                      </a:solidFill>
                    </a:lnB>
                    <a:noFill/>
                  </a:tcPr>
                </a:tc>
                <a:tc>
                  <a:txBody>
                    <a:bodyPr wrap="square" rtlCol="0" anchor="ctr"/>
                    <a:lstStyle/>
                    <a:p>
                      <a:pPr algn="l"/>
                      <a:r>
                        <a:rPr lang="en-US" sz="1050" noProof="1" b="1">
                          <a:solidFill>
                            <a:srgbClr val="000000"/>
                          </a:solidFill>
                          <a:latin typeface="Liter"/>
                          <a:ea typeface="MiSans"/>
                        </a:rPr>
                        <a:t>Typical use</a:t>
                      </a:r>
                    </a:p>
                  </a:txBody>
                  <a:tcPr marL="91440" marR="91440" marT="45720" marB="45720" anchor="ctr">
                    <a:lnL>
                      <a:noFill/>
                    </a:lnL>
                    <a:lnR>
                      <a:noFill/>
                    </a:lnR>
                    <a:lnT>
                      <a:noFill/>
                    </a:lnT>
                    <a:lnB w="15240">
                      <a:solidFill>
                        <a:srgbClr val="000000"/>
                      </a:solidFill>
                    </a:lnB>
                    <a:noFill/>
                  </a:tcPr>
                </a:tc>
              </a:tr>
              <a:tr h="610210">
                <a:tc>
                  <a:txBody>
                    <a:bodyPr wrap="square" rtlCol="0" anchor="ctr"/>
                    <a:lstStyle/>
                    <a:p>
                      <a:pPr algn="l"/>
                      <a:r>
                        <a:rPr lang="en-US" sz="1050" noProof="1">
                          <a:solidFill>
                            <a:srgbClr val="000000"/>
                          </a:solidFill>
                          <a:latin typeface="Liter"/>
                          <a:ea typeface="MiSans"/>
                        </a:rPr>
                        <a:t>AXL (SOAP)</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provisioning API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bulk adds beyond BAT, drift audits, configuration as code</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CURRI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external routing decisions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CUCM asks your app to allow or route each call — compliance and policy logic</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JTAPI / TAPI</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CTI call control and events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attendant consoles, screen pops, recording triggers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Webex REST + webhooks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users, locations, devices, queues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migration pipelines, day-two sync with HR systems</a:t>
                      </a:r>
                    </a:p>
                  </a:txBody>
                  <a:tcPr marL="91440" marR="91440" marT="45720" marB="45720" anchor="ctr">
                    <a:lnL>
                      <a:noFill/>
                    </a:lnL>
                    <a:lnR>
                      <a:noFill/>
                    </a:lnR>
                    <a:lnT>
                      <a:noFill/>
                    </a:lnT>
                    <a:lnB w="7620">
                      <a:solidFill>
                        <a:srgbClr val="D9D9D9"/>
                      </a:solidFill>
                    </a:lnB>
                    <a:noFill/>
                  </a:tcPr>
                </a:tc>
              </a:tr>
              <a:tr h="610210">
                <a:tc>
                  <a:txBody>
                    <a:bodyPr wrap="square" rtlCol="0" anchor="ctr"/>
                    <a:lstStyle/>
                    <a:p>
                      <a:pPr algn="l"/>
                      <a:r>
                        <a:rPr lang="en-US" sz="1050" noProof="1">
                          <a:solidFill>
                            <a:srgbClr val="000000"/>
                          </a:solidFill>
                          <a:latin typeface="Liter"/>
                          <a:ea typeface="MiSans"/>
                        </a:rPr>
                        <a:t>Ansible / Terraform</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community modules and IOS providers</a:t>
                      </a:r>
                    </a:p>
                  </a:txBody>
                  <a:tcPr marL="91440" marR="91440" marT="45720" marB="45720" anchor="ctr">
                    <a:lnL>
                      <a:noFill/>
                    </a:lnL>
                    <a:lnR>
                      <a:noFill/>
                    </a:lnR>
                    <a:lnT>
                      <a:noFill/>
                    </a:lnT>
                    <a:lnB w="7620">
                      <a:solidFill>
                        <a:srgbClr val="D9D9D9"/>
                      </a:solidFill>
                    </a:lnB>
                    <a:noFill/>
                  </a:tcPr>
                </a:tc>
                <a:tc>
                  <a:txBody>
                    <a:bodyPr wrap="square" rtlCol="0" anchor="ctr"/>
                    <a:lstStyle/>
                    <a:p>
                      <a:pPr algn="l"/>
                      <a:r>
                        <a:rPr lang="en-US" sz="1050" noProof="1">
                          <a:solidFill>
                            <a:srgbClr val="000000"/>
                          </a:solidFill>
                          <a:latin typeface="Liter"/>
                          <a:ea typeface="MiSans"/>
                        </a:rPr>
                        <a:t>lab builds, repeatable DR rebuilds, gateway config generation</a:t>
                      </a:r>
                    </a:p>
                  </a:txBody>
                  <a:tcPr marL="91440" marR="91440" marT="45720" marB="45720" anchor="ctr">
                    <a:lnL>
                      <a:noFill/>
                    </a:lnL>
                    <a:lnR>
                      <a:noFill/>
                    </a:lnR>
                    <a:lnT>
                      <a:noFill/>
                    </a:lnT>
                    <a:lnB w="7620">
                      <a:solidFill>
                        <a:srgbClr val="D9D9D9"/>
                      </a:solidFill>
                    </a:lnB>
                    <a:noFill/>
                  </a:tcPr>
                </a:tc>
              </a:tr>
            </a:tbl>
          </a:graphicData>
        </a:graphic>
      </p:graphicFrame>
      <p:sp>
        <p:nvSpPr>
          <p:cNvPr id="6" name="api-note"/>
          <p:cNvSpPr txBox="1"/>
          <p:nvPr/>
        </p:nvSpPr>
        <p:spPr>
          <a:xfrm>
            <a:off x="609600" y="4978400"/>
            <a:ext cx="5969000" cy="1016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Start read-only:</a:t>
            </a:r>
            <a:r>
              <a:rPr lang="en-US" sz="1250" noProof="1">
                <a:solidFill>
                  <a:srgbClr val="000000"/>
                </a:solidFill>
                <a:latin typeface="Liter"/>
                <a:ea typeface="MiSans"/>
              </a:rPr>
              <a:t> an AXL script that audits CSS / partition consistency across 10,000 devices pays back before any write script — and it can never break a call. Writes come after the audit habit exists.</a:t>
            </a:r>
            <a:endParaRPr lang="en-US" sz="1250" noProof="1"/>
          </a:p>
        </p:txBody>
      </p:sp>
      <p:sp>
        <p:nvSpPr>
          <p:cNvPr id="7" name="ex-h"/>
          <p:cNvSpPr txBox="1"/>
          <p:nvPr/>
        </p:nvSpPr>
        <p:spPr>
          <a:xfrm>
            <a:off x="7086600" y="11430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A minimal call, end to end</a:t>
            </a:r>
            <a:endParaRPr lang="en-US" sz="1100" noProof="1"/>
          </a:p>
        </p:txBody>
      </p:sp>
      <p:sp>
        <p:nvSpPr>
          <p:cNvPr id="8" name="ex-code"/>
          <p:cNvSpPr txBox="1"/>
          <p:nvPr/>
        </p:nvSpPr>
        <p:spPr>
          <a:xfrm>
            <a:off x="7086600" y="1447800"/>
            <a:ext cx="4495800" cy="1625600"/>
          </a:xfrm>
          <a:prstGeom prst="rect">
            <a:avLst/>
          </a:prstGeom>
          <a:noFill/>
          <a:ln>
            <a:noFill/>
          </a:ln>
        </p:spPr>
        <p:txBody>
          <a:bodyPr lIns="0" rIns="0" tIns="0" bIns="0" wrap="square" rtlCol="0"/>
          <a:lstStyle/>
          <a:p>
            <a:pPr>
              <a:lnSpc>
                <a:spcPct val="140000"/>
              </a:lnSpc>
            </a:pPr>
            <a:r>
              <a:rPr lang="en-US" sz="950" noProof="1">
                <a:solidFill>
                  <a:srgbClr val="000000"/>
                </a:solidFill>
                <a:latin typeface="JetBrains Mono"/>
                <a:ea typeface="MiSans"/>
              </a:rPr>
              <a:t># Webex API — assign a number
# to a user (migration wave step)
POST /v1/telephony/config/
     people/{personId}/numbers
Authorization: Bearer 
{
  "phoneNumber": "+14085550100",
  "locationId": "Y2lzY28..."
}</a:t>
            </a:r>
            <a:endParaRPr lang="en-US" sz="950" noProof="1"/>
          </a:p>
        </p:txBody>
      </p:sp>
      <p:sp>
        <p:nvSpPr>
          <p:cNvPr id="9" name="cau-h"/>
          <p:cNvSpPr txBox="1"/>
          <p:nvPr/>
        </p:nvSpPr>
        <p:spPr>
          <a:xfrm>
            <a:off x="7086600" y="3251200"/>
            <a:ext cx="44958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The cautions that keep automation safe</a:t>
            </a:r>
            <a:endParaRPr lang="en-US" sz="1100" noProof="1"/>
          </a:p>
        </p:txBody>
      </p:sp>
      <p:sp>
        <p:nvSpPr>
          <p:cNvPr id="10" name="cau-list"/>
          <p:cNvSpPr txBox="1"/>
          <p:nvPr/>
        </p:nvSpPr>
        <p:spPr>
          <a:xfrm>
            <a:off x="7086600" y="3556000"/>
            <a:ext cx="4495800" cy="1651000"/>
          </a:xfrm>
          <a:prstGeom prst="rect">
            <a:avLst/>
          </a:prstGeom>
          <a:noFill/>
          <a:ln>
            <a:noFill/>
          </a:ln>
        </p:spPr>
        <p:txBody>
          <a:bodyPr lIns="0" rIns="0" tIns="0" bIns="0" wrap="square" rtlCol="0"/>
          <a:lstStyle/>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Idempotency</a:t>
            </a:r>
            <a:r>
              <a:rPr lang="en-US" sz="1050" noProof="1">
                <a:solidFill>
                  <a:srgbClr val="333333"/>
                </a:solidFill>
                <a:latin typeface="Liter"/>
                <a:ea typeface="MiSans"/>
              </a:rPr>
              <a:t> — re-running must be safe; check before create</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Rate limits</a:t>
            </a:r>
            <a:r>
              <a:rPr lang="en-US" sz="1050" noProof="1">
                <a:solidFill>
                  <a:srgbClr val="333333"/>
                </a:solidFill>
                <a:latin typeface="Liter"/>
                <a:ea typeface="MiSans"/>
              </a:rPr>
              <a:t> — retry with backoff; batch reads, not one per user</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Secrets in a vault</a:t>
            </a:r>
            <a:r>
              <a:rPr lang="en-US" sz="1050" noProof="1">
                <a:solidFill>
                  <a:srgbClr val="333333"/>
                </a:solidFill>
                <a:latin typeface="Liter"/>
                <a:ea typeface="MiSans"/>
              </a:rPr>
              <a:t> — never in the script, never in git</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Lab first</a:t>
            </a:r>
            <a:r>
              <a:rPr lang="en-US" sz="1050" noProof="1">
                <a:solidFill>
                  <a:srgbClr val="333333"/>
                </a:solidFill>
                <a:latin typeface="Liter"/>
                <a:ea typeface="MiSans"/>
              </a:rPr>
              <a:t> — every write script earns production by running clean in the lab</a:t>
            </a:r>
            <a:endParaRPr lang="en-US" sz="1050" noProof="1"/>
          </a:p>
          <a:p>
            <a:pPr>
              <a:lnSpc>
                <a:spcPct val="155000"/>
              </a:lnSpc>
            </a:pPr>
            <a:r>
              <a:rPr lang="en-US" sz="1050" noProof="1">
                <a:solidFill>
                  <a:srgbClr val="333333"/>
                </a:solidFill>
                <a:latin typeface="Liter"/>
                <a:ea typeface="MiSans"/>
              </a:rPr>
              <a:t>· </a:t>
            </a:r>
            <a:r>
              <a:rPr lang="en-US" sz="1050" noProof="1" b="1">
                <a:solidFill>
                  <a:srgbClr val="333333"/>
                </a:solidFill>
                <a:latin typeface="Liter"/>
                <a:ea typeface="MiSans"/>
              </a:rPr>
              <a:t>Windows still apply</a:t>
            </a:r>
            <a:r>
              <a:rPr lang="en-US" sz="1050" noProof="1">
                <a:solidFill>
                  <a:srgbClr val="333333"/>
                </a:solidFill>
                <a:latin typeface="Liter"/>
                <a:ea typeface="MiSans"/>
              </a:rPr>
              <a:t> — automation accelerates configuration, not judgment</a:t>
            </a:r>
            <a:endParaRPr lang="en-US" sz="1050" noProof="1"/>
          </a:p>
        </p:txBody>
      </p:sp>
      <p:sp>
        <p:nvSpPr>
          <p:cNvPr id="11" name="auto-box"/>
          <p:cNvSpPr/>
          <p:nvPr/>
        </p:nvSpPr>
        <p:spPr>
          <a:xfrm>
            <a:off x="7086600" y="5384800"/>
            <a:ext cx="4495800" cy="609600"/>
          </a:xfrm>
          <a:prstGeom prst="roundRect">
            <a:avLst>
              <a:gd name="adj" fmla="val 12000"/>
            </a:avLst>
          </a:prstGeom>
          <a:solidFill>
            <a:srgbClr val="F3F3F3"/>
          </a:solidFill>
          <a:ln>
            <a:noFill/>
          </a:ln>
        </p:spPr>
      </p:sp>
      <p:sp>
        <p:nvSpPr>
          <p:cNvPr id="12" name="auto-box-t"/>
          <p:cNvSpPr txBox="1"/>
          <p:nvPr/>
        </p:nvSpPr>
        <p:spPr>
          <a:xfrm>
            <a:off x="7239000" y="5461000"/>
            <a:ext cx="4191000" cy="4572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The CCNP CLAUTO concentration (Section 07) formalizes exactly these skills — APIs are now a certification topic, not a hobby.</a:t>
            </a:r>
            <a:endParaRPr lang="en-US" sz="1000" noProof="1"/>
          </a:p>
        </p:txBody>
      </p:sp>
      <p:sp>
        <p:nvSpPr>
          <p:cNvPr id="13"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4"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Basis: CUCM AXL / CURRI / JTAPI developer documentation; Webex for Developers API reference, developer.webex.com</a:t>
            </a:r>
            <a:endParaRPr lang="en-US" sz="850" noProof="1"/>
          </a:p>
        </p:txBody>
      </p:sp>
      <p:sp>
        <p:nvSpPr>
          <p:cNvPr id="15" name="cml-footer-bar"/>
          <p:cNvSpPr/>
          <p:nvPr/>
        </p:nvSpPr>
        <p:spPr>
          <a:xfrm>
            <a:off x="0" y="6670000"/>
            <a:ext cx="12192000" cy="640000"/>
          </a:xfrm>
          <a:prstGeom prst="rect">
            <a:avLst/>
          </a:prstGeom>
          <a:solidFill>
            <a:srgbClr val="12161C"/>
          </a:solidFill>
          <a:ln>
            <a:noFill/>
          </a:ln>
        </p:spPr>
        <p:txBody>
          <a:bodyPr/>
          <a:lstStyle/>
          <a:p/>
        </p:txBody>
      </p:sp>
      <p:sp>
        <p:nvSpPr>
          <p:cNvPr id="16" name="cml-footer-rule"/>
          <p:cNvSpPr/>
          <p:nvPr/>
        </p:nvSpPr>
        <p:spPr>
          <a:xfrm>
            <a:off x="0" y="6670000"/>
            <a:ext cx="12192000" cy="19050"/>
          </a:xfrm>
          <a:prstGeom prst="rect">
            <a:avLst/>
          </a:prstGeom>
          <a:solidFill>
            <a:srgbClr val="2DD4BF"/>
          </a:solidFill>
          <a:ln>
            <a:noFill/>
          </a:ln>
        </p:spPr>
        <p:txBody>
          <a:bodyPr/>
          <a:lstStyle/>
          <a:p/>
        </p:txBody>
      </p:sp>
      <p:sp>
        <p:nvSpPr>
          <p:cNvPr id="17"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8"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9"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20"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1"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22"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3"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4"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5"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6"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7"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8"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9"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30"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61.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Appendix · the vocabulary that keeps designs precise</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Every acronym used in this deck, in one place — the fastest page to revisit before a design review.</a:t>
            </a:r>
            <a:endParaRPr lang="en-US" sz="1100" noProof="1"/>
          </a:p>
        </p:txBody>
      </p:sp>
      <p:sp>
        <p:nvSpPr>
          <p:cNvPr id="4" name="gl1-h"/>
          <p:cNvSpPr txBox="1"/>
          <p:nvPr/>
        </p:nvSpPr>
        <p:spPr>
          <a:xfrm>
            <a:off x="609600" y="1117600"/>
            <a:ext cx="5334000" cy="2032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Platforms and call control</a:t>
            </a:r>
            <a:endParaRPr lang="en-US" sz="1100" noProof="1"/>
          </a:p>
        </p:txBody>
      </p:sp>
      <p:sp>
        <p:nvSpPr>
          <p:cNvPr id="5" name="gl1"/>
          <p:cNvSpPr txBox="1"/>
          <p:nvPr/>
        </p:nvSpPr>
        <p:spPr>
          <a:xfrm>
            <a:off x="609600" y="1397000"/>
            <a:ext cx="5334000" cy="4445000"/>
          </a:xfrm>
          <a:prstGeom prst="rect">
            <a:avLst/>
          </a:prstGeom>
          <a:noFill/>
          <a:ln>
            <a:noFill/>
          </a:ln>
        </p:spPr>
        <p:txBody>
          <a:bodyPr lIns="0" rIns="0" tIns="0" bIns="0" wrap="square" rtlCol="0"/>
          <a:lstStyle/>
          <a:p>
            <a:pPr>
              <a:lnSpc>
                <a:spcPct val="142000"/>
              </a:lnSpc>
            </a:pPr>
            <a:r>
              <a:rPr lang="en-US" sz="900" noProof="1" b="1">
                <a:solidFill>
                  <a:srgbClr val="333333"/>
                </a:solidFill>
                <a:latin typeface="Liter"/>
                <a:ea typeface="MiSans"/>
              </a:rPr>
              <a:t>CUCM</a:t>
            </a:r>
            <a:r>
              <a:rPr lang="en-US" sz="900" noProof="1">
                <a:solidFill>
                  <a:srgbClr val="333333"/>
                </a:solidFill>
                <a:latin typeface="Liter"/>
                <a:ea typeface="MiSans"/>
              </a:rPr>
              <a:t> — Unified Communications Manager; on-prem call control</a:t>
            </a:r>
            <a:endParaRPr lang="en-US" sz="900" noProof="1"/>
          </a:p>
          <a:p>
            <a:pPr>
              <a:lnSpc>
                <a:spcPct val="142000"/>
              </a:lnSpc>
            </a:pPr>
            <a:r>
              <a:rPr lang="en-US" sz="900" noProof="1" b="1">
                <a:solidFill>
                  <a:srgbClr val="333333"/>
                </a:solidFill>
                <a:latin typeface="Liter"/>
                <a:ea typeface="MiSans"/>
              </a:rPr>
              <a:t>CUC</a:t>
            </a:r>
            <a:r>
              <a:rPr lang="en-US" sz="900" noProof="1">
                <a:solidFill>
                  <a:srgbClr val="333333"/>
                </a:solidFill>
                <a:latin typeface="Liter"/>
                <a:ea typeface="MiSans"/>
              </a:rPr>
              <a:t> — Unity Connection; enterprise voicemail</a:t>
            </a:r>
            <a:endParaRPr lang="en-US" sz="900" noProof="1"/>
          </a:p>
          <a:p>
            <a:pPr>
              <a:lnSpc>
                <a:spcPct val="142000"/>
              </a:lnSpc>
            </a:pPr>
            <a:r>
              <a:rPr lang="en-US" sz="900" noProof="1" b="1">
                <a:solidFill>
                  <a:srgbClr val="333333"/>
                </a:solidFill>
                <a:latin typeface="Liter"/>
                <a:ea typeface="MiSans"/>
              </a:rPr>
              <a:t>IM&amp;P</a:t>
            </a:r>
            <a:r>
              <a:rPr lang="en-US" sz="900" noProof="1">
                <a:solidFill>
                  <a:srgbClr val="333333"/>
                </a:solidFill>
                <a:latin typeface="Liter"/>
                <a:ea typeface="MiSans"/>
              </a:rPr>
              <a:t> — IM and Presence service, paired with CUCM</a:t>
            </a:r>
            <a:endParaRPr lang="en-US" sz="900" noProof="1"/>
          </a:p>
          <a:p>
            <a:pPr>
              <a:lnSpc>
                <a:spcPct val="142000"/>
              </a:lnSpc>
            </a:pPr>
            <a:r>
              <a:rPr lang="en-US" sz="900" noProof="1" b="1">
                <a:solidFill>
                  <a:srgbClr val="333333"/>
                </a:solidFill>
                <a:latin typeface="Liter"/>
                <a:ea typeface="MiSans"/>
              </a:rPr>
              <a:t>CUBE</a:t>
            </a:r>
            <a:r>
              <a:rPr lang="en-US" sz="900" noProof="1">
                <a:solidFill>
                  <a:srgbClr val="333333"/>
                </a:solidFill>
                <a:latin typeface="Liter"/>
                <a:ea typeface="MiSans"/>
              </a:rPr>
              <a:t> — Cisco Unified Border Element; IOS XE SBC</a:t>
            </a:r>
            <a:endParaRPr lang="en-US" sz="900" noProof="1"/>
          </a:p>
          <a:p>
            <a:pPr>
              <a:lnSpc>
                <a:spcPct val="142000"/>
              </a:lnSpc>
            </a:pPr>
            <a:r>
              <a:rPr lang="en-US" sz="900" noProof="1" b="1">
                <a:solidFill>
                  <a:srgbClr val="333333"/>
                </a:solidFill>
                <a:latin typeface="Liter"/>
                <a:ea typeface="MiSans"/>
              </a:rPr>
              <a:t>SBC</a:t>
            </a:r>
            <a:r>
              <a:rPr lang="en-US" sz="900" noProof="1">
                <a:solidFill>
                  <a:srgbClr val="333333"/>
                </a:solidFill>
                <a:latin typeface="Liter"/>
                <a:ea typeface="MiSans"/>
              </a:rPr>
              <a:t> — session border controller; edge demarcation</a:t>
            </a:r>
            <a:endParaRPr lang="en-US" sz="900" noProof="1"/>
          </a:p>
          <a:p>
            <a:pPr>
              <a:lnSpc>
                <a:spcPct val="142000"/>
              </a:lnSpc>
            </a:pPr>
            <a:r>
              <a:rPr lang="en-US" sz="900" noProof="1" b="1">
                <a:solidFill>
                  <a:srgbClr val="333333"/>
                </a:solidFill>
                <a:latin typeface="Liter"/>
                <a:ea typeface="MiSans"/>
              </a:rPr>
              <a:t>SRST</a:t>
            </a:r>
            <a:r>
              <a:rPr lang="en-US" sz="900" noProof="1">
                <a:solidFill>
                  <a:srgbClr val="333333"/>
                </a:solidFill>
                <a:latin typeface="Liter"/>
                <a:ea typeface="MiSans"/>
              </a:rPr>
              <a:t> — Survivable Remote Site Telephony; branch fallback</a:t>
            </a:r>
            <a:endParaRPr lang="en-US" sz="900" noProof="1"/>
          </a:p>
          <a:p>
            <a:pPr>
              <a:lnSpc>
                <a:spcPct val="142000"/>
              </a:lnSpc>
            </a:pPr>
            <a:r>
              <a:rPr lang="en-US" sz="900" noProof="1" b="1">
                <a:solidFill>
                  <a:srgbClr val="333333"/>
                </a:solidFill>
                <a:latin typeface="Liter"/>
                <a:ea typeface="MiSans"/>
              </a:rPr>
              <a:t>Expressway</a:t>
            </a:r>
            <a:r>
              <a:rPr lang="en-US" sz="900" noProof="1">
                <a:solidFill>
                  <a:srgbClr val="333333"/>
                </a:solidFill>
                <a:latin typeface="Liter"/>
                <a:ea typeface="MiSans"/>
              </a:rPr>
              <a:t> — edge pair (E in DMZ, C inside) for MRA and B2B</a:t>
            </a:r>
            <a:endParaRPr lang="en-US" sz="900" noProof="1"/>
          </a:p>
          <a:p>
            <a:pPr>
              <a:lnSpc>
                <a:spcPct val="142000"/>
              </a:lnSpc>
            </a:pPr>
            <a:r>
              <a:rPr lang="en-US" sz="900" noProof="1" b="1">
                <a:solidFill>
                  <a:srgbClr val="333333"/>
                </a:solidFill>
                <a:latin typeface="Liter"/>
                <a:ea typeface="MiSans"/>
              </a:rPr>
              <a:t>MRA</a:t>
            </a:r>
            <a:r>
              <a:rPr lang="en-US" sz="900" noProof="1">
                <a:solidFill>
                  <a:srgbClr val="333333"/>
                </a:solidFill>
                <a:latin typeface="Liter"/>
                <a:ea typeface="MiSans"/>
              </a:rPr>
              <a:t> — Mobile and Remote Access; VPN-less remote registration</a:t>
            </a:r>
            <a:endParaRPr lang="en-US" sz="900" noProof="1"/>
          </a:p>
          <a:p>
            <a:pPr>
              <a:lnSpc>
                <a:spcPct val="142000"/>
              </a:lnSpc>
            </a:pPr>
            <a:r>
              <a:rPr lang="en-US" sz="900" noProof="1" b="1">
                <a:solidFill>
                  <a:srgbClr val="333333"/>
                </a:solidFill>
                <a:latin typeface="Liter"/>
                <a:ea typeface="MiSans"/>
              </a:rPr>
              <a:t>MPP</a:t>
            </a:r>
            <a:r>
              <a:rPr lang="en-US" sz="900" noProof="1">
                <a:solidFill>
                  <a:srgbClr val="333333"/>
                </a:solidFill>
                <a:latin typeface="Liter"/>
                <a:ea typeface="MiSans"/>
              </a:rPr>
              <a:t> — multiplatform-phone firmware (7800/8800 MPP)</a:t>
            </a:r>
            <a:endParaRPr lang="en-US" sz="900" noProof="1"/>
          </a:p>
          <a:p>
            <a:pPr>
              <a:lnSpc>
                <a:spcPct val="142000"/>
              </a:lnSpc>
            </a:pPr>
            <a:r>
              <a:rPr lang="en-US" sz="900" noProof="1" b="1">
                <a:solidFill>
                  <a:srgbClr val="333333"/>
                </a:solidFill>
                <a:latin typeface="Liter"/>
                <a:ea typeface="MiSans"/>
              </a:rPr>
              <a:t>Jabber</a:t>
            </a:r>
            <a:r>
              <a:rPr lang="en-US" sz="900" noProof="1">
                <a:solidFill>
                  <a:srgbClr val="333333"/>
                </a:solidFill>
                <a:latin typeface="Liter"/>
                <a:ea typeface="MiSans"/>
              </a:rPr>
              <a:t> — desktop / mobile soft client for CUCM</a:t>
            </a:r>
            <a:endParaRPr lang="en-US" sz="900" noProof="1"/>
          </a:p>
          <a:p>
            <a:pPr>
              <a:lnSpc>
                <a:spcPct val="142000"/>
              </a:lnSpc>
            </a:pPr>
            <a:r>
              <a:rPr lang="en-US" sz="900" noProof="1" b="1">
                <a:solidFill>
                  <a:srgbClr val="333333"/>
                </a:solidFill>
                <a:latin typeface="Liter"/>
                <a:ea typeface="MiSans"/>
              </a:rPr>
              <a:t>UCCX / UCCE</a:t>
            </a:r>
            <a:r>
              <a:rPr lang="en-US" sz="900" noProof="1">
                <a:solidFill>
                  <a:srgbClr val="333333"/>
                </a:solidFill>
                <a:latin typeface="Liter"/>
                <a:ea typeface="MiSans"/>
              </a:rPr>
              <a:t> — contact center express / enterprise editions</a:t>
            </a:r>
            <a:endParaRPr lang="en-US" sz="900" noProof="1"/>
          </a:p>
          <a:p>
            <a:pPr>
              <a:lnSpc>
                <a:spcPct val="142000"/>
              </a:lnSpc>
            </a:pPr>
            <a:r>
              <a:rPr lang="en-US" sz="900" noProof="1" b="1">
                <a:solidFill>
                  <a:srgbClr val="333333"/>
                </a:solidFill>
                <a:latin typeface="Liter"/>
                <a:ea typeface="MiSans"/>
              </a:rPr>
              <a:t>Finesse</a:t>
            </a:r>
            <a:r>
              <a:rPr lang="en-US" sz="900" noProof="1">
                <a:solidFill>
                  <a:srgbClr val="333333"/>
                </a:solidFill>
                <a:latin typeface="Liter"/>
                <a:ea typeface="MiSans"/>
              </a:rPr>
              <a:t> — browser agent and supervisor desktop</a:t>
            </a:r>
            <a:endParaRPr lang="en-US" sz="900" noProof="1"/>
          </a:p>
          <a:p>
            <a:pPr>
              <a:lnSpc>
                <a:spcPct val="142000"/>
              </a:lnSpc>
            </a:pPr>
            <a:r>
              <a:rPr lang="en-US" sz="900" noProof="1" b="1">
                <a:solidFill>
                  <a:srgbClr val="333333"/>
                </a:solidFill>
                <a:latin typeface="Liter"/>
                <a:ea typeface="MiSans"/>
              </a:rPr>
              <a:t>ECE</a:t>
            </a:r>
            <a:r>
              <a:rPr lang="en-US" sz="900" noProof="1">
                <a:solidFill>
                  <a:srgbClr val="333333"/>
                </a:solidFill>
                <a:latin typeface="Liter"/>
                <a:ea typeface="MiSans"/>
              </a:rPr>
              <a:t> — Enterprise Chat and Email for UCCE digital channels</a:t>
            </a:r>
            <a:endParaRPr lang="en-US" sz="900" noProof="1"/>
          </a:p>
          <a:p>
            <a:pPr>
              <a:lnSpc>
                <a:spcPct val="142000"/>
              </a:lnSpc>
            </a:pPr>
            <a:r>
              <a:rPr lang="en-US" sz="900" noProof="1" b="1">
                <a:solidFill>
                  <a:srgbClr val="333333"/>
                </a:solidFill>
                <a:latin typeface="Liter"/>
                <a:ea typeface="MiSans"/>
              </a:rPr>
              <a:t>Webex Calling</a:t>
            </a:r>
            <a:r>
              <a:rPr lang="en-US" sz="900" noProof="1">
                <a:solidFill>
                  <a:srgbClr val="333333"/>
                </a:solidFill>
                <a:latin typeface="Liter"/>
                <a:ea typeface="MiSans"/>
              </a:rPr>
              <a:t> — Cisco's cloud call-control SaaS</a:t>
            </a:r>
            <a:endParaRPr lang="en-US" sz="900" noProof="1"/>
          </a:p>
          <a:p>
            <a:pPr>
              <a:lnSpc>
                <a:spcPct val="142000"/>
              </a:lnSpc>
            </a:pPr>
            <a:r>
              <a:rPr lang="en-US" sz="900" noProof="1" b="1">
                <a:solidFill>
                  <a:srgbClr val="333333"/>
                </a:solidFill>
                <a:latin typeface="Liter"/>
                <a:ea typeface="MiSans"/>
              </a:rPr>
              <a:t>LGW</a:t>
            </a:r>
            <a:r>
              <a:rPr lang="en-US" sz="900" noProof="1">
                <a:solidFill>
                  <a:srgbClr val="333333"/>
                </a:solidFill>
                <a:latin typeface="Liter"/>
                <a:ea typeface="MiSans"/>
              </a:rPr>
              <a:t> — Local Gateway; customer PSTN breakout for Webex</a:t>
            </a:r>
            <a:endParaRPr lang="en-US" sz="900" noProof="1"/>
          </a:p>
          <a:p>
            <a:pPr>
              <a:lnSpc>
                <a:spcPct val="142000"/>
              </a:lnSpc>
            </a:pPr>
            <a:r>
              <a:rPr lang="en-US" sz="900" noProof="1" b="1">
                <a:solidFill>
                  <a:srgbClr val="333333"/>
                </a:solidFill>
                <a:latin typeface="Liter"/>
                <a:ea typeface="MiSans"/>
              </a:rPr>
              <a:t>Control Hub</a:t>
            </a:r>
            <a:r>
              <a:rPr lang="en-US" sz="900" noProof="1">
                <a:solidFill>
                  <a:srgbClr val="333333"/>
                </a:solidFill>
                <a:latin typeface="Liter"/>
                <a:ea typeface="MiSans"/>
              </a:rPr>
              <a:t> — Webex administration console</a:t>
            </a:r>
            <a:endParaRPr lang="en-US" sz="900" noProof="1"/>
          </a:p>
        </p:txBody>
      </p:sp>
      <p:sp>
        <p:nvSpPr>
          <p:cNvPr id="6" name="gl2-h"/>
          <p:cNvSpPr txBox="1"/>
          <p:nvPr/>
        </p:nvSpPr>
        <p:spPr>
          <a:xfrm>
            <a:off x="6350000" y="1117600"/>
            <a:ext cx="5232400" cy="2032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Protocols, media, and operations</a:t>
            </a:r>
            <a:endParaRPr lang="en-US" sz="1100" noProof="1"/>
          </a:p>
        </p:txBody>
      </p:sp>
      <p:sp>
        <p:nvSpPr>
          <p:cNvPr id="7" name="gl2"/>
          <p:cNvSpPr txBox="1"/>
          <p:nvPr/>
        </p:nvSpPr>
        <p:spPr>
          <a:xfrm>
            <a:off x="6350000" y="1397000"/>
            <a:ext cx="5232400" cy="4445000"/>
          </a:xfrm>
          <a:prstGeom prst="rect">
            <a:avLst/>
          </a:prstGeom>
          <a:noFill/>
          <a:ln>
            <a:noFill/>
          </a:ln>
        </p:spPr>
        <p:txBody>
          <a:bodyPr lIns="0" rIns="0" tIns="0" bIns="0" wrap="square" rtlCol="0"/>
          <a:lstStyle/>
          <a:p>
            <a:pPr>
              <a:lnSpc>
                <a:spcPct val="142000"/>
              </a:lnSpc>
            </a:pPr>
            <a:r>
              <a:rPr lang="en-US" sz="900" noProof="1" b="1">
                <a:solidFill>
                  <a:srgbClr val="333333"/>
                </a:solidFill>
                <a:latin typeface="Liter"/>
                <a:ea typeface="MiSans"/>
              </a:rPr>
              <a:t>SIP / SDP</a:t>
            </a:r>
            <a:r>
              <a:rPr lang="en-US" sz="900" noProof="1">
                <a:solidFill>
                  <a:srgbClr val="333333"/>
                </a:solidFill>
                <a:latin typeface="Liter"/>
                <a:ea typeface="MiSans"/>
              </a:rPr>
              <a:t> — session setup protocol / media description it carries</a:t>
            </a:r>
            <a:endParaRPr lang="en-US" sz="900" noProof="1"/>
          </a:p>
          <a:p>
            <a:pPr>
              <a:lnSpc>
                <a:spcPct val="142000"/>
              </a:lnSpc>
            </a:pPr>
            <a:r>
              <a:rPr lang="en-US" sz="900" noProof="1" b="1">
                <a:solidFill>
                  <a:srgbClr val="333333"/>
                </a:solidFill>
                <a:latin typeface="Liter"/>
                <a:ea typeface="MiSans"/>
              </a:rPr>
              <a:t>RTP / SRTP</a:t>
            </a:r>
            <a:r>
              <a:rPr lang="en-US" sz="900" noProof="1">
                <a:solidFill>
                  <a:srgbClr val="333333"/>
                </a:solidFill>
                <a:latin typeface="Liter"/>
                <a:ea typeface="MiSans"/>
              </a:rPr>
              <a:t> — media transport / its encrypted form</a:t>
            </a:r>
            <a:endParaRPr lang="en-US" sz="900" noProof="1"/>
          </a:p>
          <a:p>
            <a:pPr>
              <a:lnSpc>
                <a:spcPct val="142000"/>
              </a:lnSpc>
            </a:pPr>
            <a:r>
              <a:rPr lang="en-US" sz="900" noProof="1" b="1">
                <a:solidFill>
                  <a:srgbClr val="333333"/>
                </a:solidFill>
                <a:latin typeface="Liter"/>
                <a:ea typeface="MiSans"/>
              </a:rPr>
              <a:t>RFC 2833 / RTP-NTE</a:t>
            </a:r>
            <a:r>
              <a:rPr lang="en-US" sz="900" noProof="1">
                <a:solidFill>
                  <a:srgbClr val="333333"/>
                </a:solidFill>
                <a:latin typeface="Liter"/>
                <a:ea typeface="MiSans"/>
              </a:rPr>
              <a:t> — DTMF as named telephony events</a:t>
            </a:r>
            <a:endParaRPr lang="en-US" sz="900" noProof="1"/>
          </a:p>
          <a:p>
            <a:pPr>
              <a:lnSpc>
                <a:spcPct val="142000"/>
              </a:lnSpc>
            </a:pPr>
            <a:r>
              <a:rPr lang="en-US" sz="900" noProof="1" b="1">
                <a:solidFill>
                  <a:srgbClr val="333333"/>
                </a:solidFill>
                <a:latin typeface="Liter"/>
                <a:ea typeface="MiSans"/>
              </a:rPr>
              <a:t>E.164</a:t>
            </a:r>
            <a:r>
              <a:rPr lang="en-US" sz="900" noProof="1">
                <a:solidFill>
                  <a:srgbClr val="333333"/>
                </a:solidFill>
                <a:latin typeface="Liter"/>
                <a:ea typeface="MiSans"/>
              </a:rPr>
              <a:t> — international number format; + prefix form recommended</a:t>
            </a:r>
            <a:endParaRPr lang="en-US" sz="900" noProof="1"/>
          </a:p>
          <a:p>
            <a:pPr>
              <a:lnSpc>
                <a:spcPct val="142000"/>
              </a:lnSpc>
            </a:pPr>
            <a:r>
              <a:rPr lang="en-US" sz="900" noProof="1" b="1">
                <a:solidFill>
                  <a:srgbClr val="333333"/>
                </a:solidFill>
                <a:latin typeface="Liter"/>
                <a:ea typeface="MiSans"/>
              </a:rPr>
              <a:t>DID / DDI</a:t>
            </a:r>
            <a:r>
              <a:rPr lang="en-US" sz="900" noProof="1">
                <a:solidFill>
                  <a:srgbClr val="333333"/>
                </a:solidFill>
                <a:latin typeface="Liter"/>
                <a:ea typeface="MiSans"/>
              </a:rPr>
              <a:t> — direct inward dialing number</a:t>
            </a:r>
            <a:endParaRPr lang="en-US" sz="900" noProof="1"/>
          </a:p>
          <a:p>
            <a:pPr>
              <a:lnSpc>
                <a:spcPct val="142000"/>
              </a:lnSpc>
            </a:pPr>
            <a:r>
              <a:rPr lang="en-US" sz="900" noProof="1" b="1">
                <a:solidFill>
                  <a:srgbClr val="333333"/>
                </a:solidFill>
                <a:latin typeface="Liter"/>
                <a:ea typeface="MiSans"/>
              </a:rPr>
              <a:t>PRI</a:t>
            </a:r>
            <a:r>
              <a:rPr lang="en-US" sz="900" noProof="1">
                <a:solidFill>
                  <a:srgbClr val="333333"/>
                </a:solidFill>
                <a:latin typeface="Liter"/>
                <a:ea typeface="MiSans"/>
              </a:rPr>
              <a:t> — ISDN primary rate interface; 23/30 bearer channels</a:t>
            </a:r>
            <a:endParaRPr lang="en-US" sz="900" noProof="1"/>
          </a:p>
          <a:p>
            <a:pPr>
              <a:lnSpc>
                <a:spcPct val="142000"/>
              </a:lnSpc>
            </a:pPr>
            <a:r>
              <a:rPr lang="en-US" sz="900" noProof="1" b="1">
                <a:solidFill>
                  <a:srgbClr val="333333"/>
                </a:solidFill>
                <a:latin typeface="Liter"/>
                <a:ea typeface="MiSans"/>
              </a:rPr>
              <a:t>CSS / PT</a:t>
            </a:r>
            <a:r>
              <a:rPr lang="en-US" sz="900" noProof="1">
                <a:solidFill>
                  <a:srgbClr val="333333"/>
                </a:solidFill>
                <a:latin typeface="Liter"/>
                <a:ea typeface="MiSans"/>
              </a:rPr>
              <a:t> — calling search space / partition; CUCM permissions</a:t>
            </a:r>
            <a:endParaRPr lang="en-US" sz="900" noProof="1"/>
          </a:p>
          <a:p>
            <a:pPr>
              <a:lnSpc>
                <a:spcPct val="142000"/>
              </a:lnSpc>
            </a:pPr>
            <a:r>
              <a:rPr lang="en-US" sz="900" noProof="1" b="1">
                <a:solidFill>
                  <a:srgbClr val="333333"/>
                </a:solidFill>
                <a:latin typeface="Liter"/>
                <a:ea typeface="MiSans"/>
              </a:rPr>
              <a:t>AAR</a:t>
            </a:r>
            <a:r>
              <a:rPr lang="en-US" sz="900" noProof="1">
                <a:solidFill>
                  <a:srgbClr val="333333"/>
                </a:solidFill>
                <a:latin typeface="Liter"/>
                <a:ea typeface="MiSans"/>
              </a:rPr>
              <a:t> — automated alternate routing on CAC denial</a:t>
            </a:r>
            <a:endParaRPr lang="en-US" sz="900" noProof="1"/>
          </a:p>
          <a:p>
            <a:pPr>
              <a:lnSpc>
                <a:spcPct val="142000"/>
              </a:lnSpc>
            </a:pPr>
            <a:r>
              <a:rPr lang="en-US" sz="900" noProof="1" b="1">
                <a:solidFill>
                  <a:srgbClr val="333333"/>
                </a:solidFill>
                <a:latin typeface="Liter"/>
                <a:ea typeface="MiSans"/>
              </a:rPr>
              <a:t>MTP</a:t>
            </a:r>
            <a:r>
              <a:rPr lang="en-US" sz="900" noProof="1">
                <a:solidFill>
                  <a:srgbClr val="333333"/>
                </a:solidFill>
                <a:latin typeface="Liter"/>
                <a:ea typeface="MiSans"/>
              </a:rPr>
              <a:t> — media termination point; inserts for DTMF / early offer</a:t>
            </a:r>
            <a:endParaRPr lang="en-US" sz="900" noProof="1"/>
          </a:p>
          <a:p>
            <a:pPr>
              <a:lnSpc>
                <a:spcPct val="142000"/>
              </a:lnSpc>
            </a:pPr>
            <a:r>
              <a:rPr lang="en-US" sz="900" noProof="1" b="1">
                <a:solidFill>
                  <a:srgbClr val="333333"/>
                </a:solidFill>
                <a:latin typeface="Liter"/>
                <a:ea typeface="MiSans"/>
              </a:rPr>
              <a:t>DSP</a:t>
            </a:r>
            <a:r>
              <a:rPr lang="en-US" sz="900" noProof="1">
                <a:solidFill>
                  <a:srgbClr val="333333"/>
                </a:solidFill>
                <a:latin typeface="Liter"/>
                <a:ea typeface="MiSans"/>
              </a:rPr>
              <a:t> — digital signal processor; hardware transcoding / conferencing</a:t>
            </a:r>
            <a:endParaRPr lang="en-US" sz="900" noProof="1"/>
          </a:p>
          <a:p>
            <a:pPr>
              <a:lnSpc>
                <a:spcPct val="142000"/>
              </a:lnSpc>
            </a:pPr>
            <a:r>
              <a:rPr lang="en-US" sz="900" noProof="1" b="1">
                <a:solidFill>
                  <a:srgbClr val="333333"/>
                </a:solidFill>
                <a:latin typeface="Liter"/>
                <a:ea typeface="MiSans"/>
              </a:rPr>
              <a:t>EF / CS3</a:t>
            </a:r>
            <a:r>
              <a:rPr lang="en-US" sz="900" noProof="1">
                <a:solidFill>
                  <a:srgbClr val="333333"/>
                </a:solidFill>
                <a:latin typeface="Liter"/>
                <a:ea typeface="MiSans"/>
              </a:rPr>
              <a:t> — DSCP markings for media / signaling</a:t>
            </a:r>
            <a:endParaRPr lang="en-US" sz="900" noProof="1"/>
          </a:p>
          <a:p>
            <a:pPr>
              <a:lnSpc>
                <a:spcPct val="142000"/>
              </a:lnSpc>
            </a:pPr>
            <a:r>
              <a:rPr lang="en-US" sz="900" noProof="1" b="1">
                <a:solidFill>
                  <a:srgbClr val="333333"/>
                </a:solidFill>
                <a:latin typeface="Liter"/>
                <a:ea typeface="MiSans"/>
              </a:rPr>
              <a:t>LLQ</a:t>
            </a:r>
            <a:r>
              <a:rPr lang="en-US" sz="900" noProof="1">
                <a:solidFill>
                  <a:srgbClr val="333333"/>
                </a:solidFill>
                <a:latin typeface="Liter"/>
                <a:ea typeface="MiSans"/>
              </a:rPr>
              <a:t> — low-latency queuing; priority queue for EF</a:t>
            </a:r>
            <a:endParaRPr lang="en-US" sz="900" noProof="1"/>
          </a:p>
          <a:p>
            <a:pPr>
              <a:lnSpc>
                <a:spcPct val="142000"/>
              </a:lnSpc>
            </a:pPr>
            <a:r>
              <a:rPr lang="en-US" sz="900" noProof="1" b="1">
                <a:solidFill>
                  <a:srgbClr val="333333"/>
                </a:solidFill>
                <a:latin typeface="Liter"/>
                <a:ea typeface="MiSans"/>
              </a:rPr>
              <a:t>MOS</a:t>
            </a:r>
            <a:r>
              <a:rPr lang="en-US" sz="900" noProof="1">
                <a:solidFill>
                  <a:srgbClr val="333333"/>
                </a:solidFill>
                <a:latin typeface="Liter"/>
                <a:ea typeface="MiSans"/>
              </a:rPr>
              <a:t> — mean opinion score; 4.0+ is toll quality</a:t>
            </a:r>
            <a:endParaRPr lang="en-US" sz="900" noProof="1"/>
          </a:p>
          <a:p>
            <a:pPr>
              <a:lnSpc>
                <a:spcPct val="142000"/>
              </a:lnSpc>
            </a:pPr>
            <a:r>
              <a:rPr lang="en-US" sz="900" noProof="1" b="1">
                <a:solidFill>
                  <a:srgbClr val="333333"/>
                </a:solidFill>
                <a:latin typeface="Liter"/>
                <a:ea typeface="MiSans"/>
              </a:rPr>
              <a:t>CDR / CMR</a:t>
            </a:r>
            <a:r>
              <a:rPr lang="en-US" sz="900" noProof="1">
                <a:solidFill>
                  <a:srgbClr val="333333"/>
                </a:solidFill>
                <a:latin typeface="Liter"/>
                <a:ea typeface="MiSans"/>
              </a:rPr>
              <a:t> — call detail / call management (quality) records</a:t>
            </a:r>
            <a:endParaRPr lang="en-US" sz="900" noProof="1"/>
          </a:p>
          <a:p>
            <a:pPr>
              <a:lnSpc>
                <a:spcPct val="142000"/>
              </a:lnSpc>
            </a:pPr>
            <a:r>
              <a:rPr lang="en-US" sz="900" noProof="1" b="1">
                <a:solidFill>
                  <a:srgbClr val="333333"/>
                </a:solidFill>
                <a:latin typeface="Liter"/>
                <a:ea typeface="MiSans"/>
              </a:rPr>
              <a:t>RTMT</a:t>
            </a:r>
            <a:r>
              <a:rPr lang="en-US" sz="900" noProof="1">
                <a:solidFill>
                  <a:srgbClr val="333333"/>
                </a:solidFill>
                <a:latin typeface="Liter"/>
                <a:ea typeface="MiSans"/>
              </a:rPr>
              <a:t> — Real-Time Monitoring Tool</a:t>
            </a:r>
            <a:endParaRPr lang="en-US" sz="900" noProof="1"/>
          </a:p>
          <a:p>
            <a:pPr>
              <a:lnSpc>
                <a:spcPct val="142000"/>
              </a:lnSpc>
            </a:pPr>
            <a:r>
              <a:rPr lang="en-US" sz="900" noProof="1" b="1">
                <a:solidFill>
                  <a:srgbClr val="333333"/>
                </a:solidFill>
                <a:latin typeface="Liter"/>
                <a:ea typeface="MiSans"/>
              </a:rPr>
              <a:t>DRS</a:t>
            </a:r>
            <a:r>
              <a:rPr lang="en-US" sz="900" noProof="1">
                <a:solidFill>
                  <a:srgbClr val="333333"/>
                </a:solidFill>
                <a:latin typeface="Liter"/>
                <a:ea typeface="MiSans"/>
              </a:rPr>
              <a:t> — Disaster Recovery System backups</a:t>
            </a:r>
            <a:endParaRPr lang="en-US" sz="900" noProof="1"/>
          </a:p>
          <a:p>
            <a:pPr>
              <a:lnSpc>
                <a:spcPct val="142000"/>
              </a:lnSpc>
            </a:pPr>
            <a:r>
              <a:rPr lang="en-US" sz="900" noProof="1" b="1">
                <a:solidFill>
                  <a:srgbClr val="333333"/>
                </a:solidFill>
                <a:latin typeface="Liter"/>
                <a:ea typeface="MiSans"/>
              </a:rPr>
              <a:t>DNA</a:t>
            </a:r>
            <a:r>
              <a:rPr lang="en-US" sz="900" noProof="1">
                <a:solidFill>
                  <a:srgbClr val="333333"/>
                </a:solidFill>
                <a:latin typeface="Liter"/>
                <a:ea typeface="MiSans"/>
              </a:rPr>
              <a:t> — Dialed Number Analyzer routing simulator</a:t>
            </a:r>
            <a:endParaRPr lang="en-US" sz="900" noProof="1"/>
          </a:p>
          <a:p>
            <a:pPr>
              <a:lnSpc>
                <a:spcPct val="142000"/>
              </a:lnSpc>
            </a:pPr>
            <a:r>
              <a:rPr lang="en-US" sz="900" noProof="1" b="1">
                <a:solidFill>
                  <a:srgbClr val="333333"/>
                </a:solidFill>
                <a:latin typeface="Liter"/>
                <a:ea typeface="MiSans"/>
              </a:rPr>
              <a:t>BHCA</a:t>
            </a:r>
            <a:r>
              <a:rPr lang="en-US" sz="900" noProof="1">
                <a:solidFill>
                  <a:srgbClr val="333333"/>
                </a:solidFill>
                <a:latin typeface="Liter"/>
                <a:ea typeface="MiSans"/>
              </a:rPr>
              <a:t> — busy-hour call attempts</a:t>
            </a:r>
            <a:endParaRPr lang="en-US" sz="900" noProof="1"/>
          </a:p>
        </p:txBody>
      </p:sp>
      <p:sp>
        <p:nvSpPr>
          <p:cNvPr id="8" name="gl3-h"/>
          <p:cNvSpPr txBox="1"/>
          <p:nvPr/>
        </p:nvSpPr>
        <p:spPr>
          <a:xfrm>
            <a:off x="609600" y="5867400"/>
            <a:ext cx="10972800" cy="177800"/>
          </a:xfrm>
          <a:prstGeom prst="rect">
            <a:avLst/>
          </a:prstGeom>
          <a:noFill/>
          <a:ln>
            <a:noFill/>
          </a:ln>
        </p:spPr>
        <p:txBody>
          <a:bodyPr lIns="0" rIns="0" tIns="0" bIns="0" wrap="none" rtlCol="0"/>
          <a:lstStyle/>
          <a:p>
            <a:pPr>
              <a:lnSpc>
                <a:spcPct val="120000"/>
              </a:lnSpc>
            </a:pPr>
            <a:r>
              <a:rPr lang="en-US" sz="850" noProof="1">
                <a:solidFill>
                  <a:srgbClr val="5A5A5A"/>
                </a:solidFill>
                <a:latin typeface="Liter"/>
                <a:ea typeface="MiSans"/>
              </a:rPr>
              <a:t>Contact center metrics: AHT average handle time · ASA average speed of answer · CSQ contact service queue · Erlang B/C sizing models · SL service level (e.g. 80/20) · WFM workforce management · QM quality management</a:t>
            </a:r>
            <a:endParaRPr lang="en-US" sz="850" noProof="1"/>
          </a:p>
        </p:txBody>
      </p:sp>
      <p:sp>
        <p:nvSpPr>
          <p:cNvPr id="9"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0"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Terminology per Cisco UC documentation and SRND; definitions abbreviated for reference use</a:t>
            </a:r>
            <a:endParaRPr lang="en-US" sz="850" noProof="1"/>
          </a:p>
        </p:txBody>
      </p:sp>
      <p:sp>
        <p:nvSpPr>
          <p:cNvPr id="11" name="cml-footer-bar"/>
          <p:cNvSpPr/>
          <p:nvPr/>
        </p:nvSpPr>
        <p:spPr>
          <a:xfrm>
            <a:off x="0" y="6670000"/>
            <a:ext cx="12192000" cy="640000"/>
          </a:xfrm>
          <a:prstGeom prst="rect">
            <a:avLst/>
          </a:prstGeom>
          <a:solidFill>
            <a:srgbClr val="12161C"/>
          </a:solidFill>
          <a:ln>
            <a:noFill/>
          </a:ln>
        </p:spPr>
        <p:txBody>
          <a:bodyPr/>
          <a:lstStyle/>
          <a:p/>
        </p:txBody>
      </p:sp>
      <p:sp>
        <p:nvSpPr>
          <p:cNvPr id="12" name="cml-footer-rule"/>
          <p:cNvSpPr/>
          <p:nvPr/>
        </p:nvSpPr>
        <p:spPr>
          <a:xfrm>
            <a:off x="0" y="6670000"/>
            <a:ext cx="12192000" cy="19050"/>
          </a:xfrm>
          <a:prstGeom prst="rect">
            <a:avLst/>
          </a:prstGeom>
          <a:solidFill>
            <a:srgbClr val="2DD4BF"/>
          </a:solidFill>
          <a:ln>
            <a:noFill/>
          </a:ln>
        </p:spPr>
        <p:txBody>
          <a:bodyPr/>
          <a:lstStyle/>
          <a:p/>
        </p:txBody>
      </p:sp>
      <p:sp>
        <p:nvSpPr>
          <p:cNvPr id="13"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4"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5" name="cml-footer-icon-github" descr="GitHub">
            <a:hlinkClick r:id="rId3" tooltip="GitHub — https://github.com/cipher0x9"/>
          </p:cNvPr>
          <p:cNvPicPr>
            <a:picLocks noChangeAspect="1"/>
          </p:cNvPicPr>
          <p:nvPr/>
        </p:nvPicPr>
        <p:blipFill>
          <a:blip r:embed="rId2"/>
          <a:stretch>
            <a:fillRect/>
          </a:stretch>
        </p:blipFill>
        <p:spPr>
          <a:xfrm>
            <a:off x="609600" y="7038000"/>
            <a:ext cx="210000" cy="210000"/>
          </a:xfrm>
          <a:prstGeom prst="rect">
            <a:avLst/>
          </a:prstGeom>
        </p:spPr>
      </p:pic>
      <p:sp>
        <p:nvSpPr>
          <p:cNvPr id="16" name="cml-footer-label-github" descr="GitHub">
            <a:hlinkClick r:id="rId3"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7" name="cml-footer-icon-labs" descr="Labs org">
            <a:hlinkClick r:id="rId4" tooltip="Labs org — https://github.com/CypherMonkeyLabs"/>
          </p:cNvPr>
          <p:cNvPicPr>
            <a:picLocks noChangeAspect="1"/>
          </p:cNvPicPr>
          <p:nvPr/>
        </p:nvPicPr>
        <p:blipFill>
          <a:blip r:embed="rId2"/>
          <a:stretch>
            <a:fillRect/>
          </a:stretch>
        </p:blipFill>
        <p:spPr>
          <a:xfrm>
            <a:off x="1658136" y="7038000"/>
            <a:ext cx="210000" cy="210000"/>
          </a:xfrm>
          <a:prstGeom prst="rect">
            <a:avLst/>
          </a:prstGeom>
        </p:spPr>
      </p:pic>
      <p:sp>
        <p:nvSpPr>
          <p:cNvPr id="18" name="cml-footer-label-labs" descr="Labs org">
            <a:hlinkClick r:id="rId4"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19" name="cml-footer-icon-website" descr="Website">
            <a:hlinkClick r:id="rId6" tooltip="Website — https://cyphermonkeylabs.com"/>
          </p:cNvPr>
          <p:cNvPicPr>
            <a:picLocks noChangeAspect="1"/>
          </p:cNvPicPr>
          <p:nvPr/>
        </p:nvPicPr>
        <p:blipFill>
          <a:blip r:embed="rId5"/>
          <a:stretch>
            <a:fillRect/>
          </a:stretch>
        </p:blipFill>
        <p:spPr>
          <a:xfrm>
            <a:off x="2892599" y="7038000"/>
            <a:ext cx="210000" cy="210000"/>
          </a:xfrm>
          <a:prstGeom prst="rect">
            <a:avLst/>
          </a:prstGeom>
        </p:spPr>
      </p:pic>
      <p:sp>
        <p:nvSpPr>
          <p:cNvPr id="20" name="cml-footer-label-website" descr="Website">
            <a:hlinkClick r:id="rId6"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1" name="cml-footer-icon-x" descr="X">
            <a:hlinkClick r:id="rId8" tooltip="X — https://x.com/Cypher0x9"/>
          </p:cNvPr>
          <p:cNvPicPr>
            <a:picLocks noChangeAspect="1"/>
          </p:cNvPicPr>
          <p:nvPr/>
        </p:nvPicPr>
        <p:blipFill>
          <a:blip r:embed="rId7"/>
          <a:stretch>
            <a:fillRect/>
          </a:stretch>
        </p:blipFill>
        <p:spPr>
          <a:xfrm>
            <a:off x="4087439" y="7038000"/>
            <a:ext cx="210000" cy="210000"/>
          </a:xfrm>
          <a:prstGeom prst="rect">
            <a:avLst/>
          </a:prstGeom>
        </p:spPr>
      </p:pic>
      <p:sp>
        <p:nvSpPr>
          <p:cNvPr id="22" name="cml-footer-label-x" descr="X">
            <a:hlinkClick r:id="rId8"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3" name="cml-footer-icon-linkedin" descr="LinkedIn">
            <a:hlinkClick r:id="rId10" tooltip="LinkedIn — https://www.linkedin.com/in/luckylakshmanucwebex"/>
          </p:cNvPr>
          <p:cNvPicPr>
            <a:picLocks noChangeAspect="1"/>
          </p:cNvPicPr>
          <p:nvPr/>
        </p:nvPicPr>
        <p:blipFill>
          <a:blip r:embed="rId9"/>
          <a:stretch>
            <a:fillRect/>
          </a:stretch>
        </p:blipFill>
        <p:spPr>
          <a:xfrm>
            <a:off x="4748878" y="7038000"/>
            <a:ext cx="210000" cy="210000"/>
          </a:xfrm>
          <a:prstGeom prst="rect">
            <a:avLst/>
          </a:prstGeom>
        </p:spPr>
      </p:pic>
      <p:sp>
        <p:nvSpPr>
          <p:cNvPr id="24" name="cml-footer-label-linkedin" descr="LinkedIn">
            <a:hlinkClick r:id="rId10"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5" name="cml-footer-icon-huggingface" descr="Hugging Face">
            <a:hlinkClick r:id="rId12" tooltip="Hugging Face — https://huggingface.co/Cypher0x9"/>
          </p:cNvPr>
          <p:cNvPicPr>
            <a:picLocks noChangeAspect="1"/>
          </p:cNvPicPr>
          <p:nvPr/>
        </p:nvPicPr>
        <p:blipFill>
          <a:blip r:embed="rId11"/>
          <a:stretch>
            <a:fillRect/>
          </a:stretch>
        </p:blipFill>
        <p:spPr>
          <a:xfrm>
            <a:off x="5965054" y="7038000"/>
            <a:ext cx="210000" cy="210000"/>
          </a:xfrm>
          <a:prstGeom prst="rect">
            <a:avLst/>
          </a:prstGeom>
        </p:spPr>
      </p:pic>
      <p:sp>
        <p:nvSpPr>
          <p:cNvPr id="26" name="cml-footer-label-huggingface" descr="Hugging Face">
            <a:hlinkClick r:id="rId12"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62.xml><?xml version="1.0" encoding="utf-8"?>
<p:sld xmlns:a="http://schemas.openxmlformats.org/drawingml/2006/main" xmlns:p="http://schemas.openxmlformats.org/presentationml/2006/main" xmlns:pptd="urn:uc-lab:pptd" xmlns:r="http://schemas.openxmlformats.org/officeDocument/2006/relationships">
  <p:cSld>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609600" y="330200"/>
            <a:ext cx="10972800" cy="381000"/>
          </a:xfrm>
          <a:prstGeom prst="rect">
            <a:avLst/>
          </a:prstGeom>
          <a:noFill/>
          <a:ln>
            <a:noFill/>
          </a:ln>
        </p:spPr>
        <p:txBody>
          <a:bodyPr lIns="0" rIns="0" tIns="0" bIns="0" wrap="none" rtlCol="0"/>
          <a:lstStyle/>
          <a:p>
            <a:pPr>
              <a:lnSpc>
                <a:spcPct val="120000"/>
              </a:lnSpc>
            </a:pPr>
            <a:r>
              <a:rPr lang="en-US" sz="2100" noProof="1" b="1">
                <a:solidFill>
                  <a:srgbClr val="000000"/>
                </a:solidFill>
                <a:latin typeface="Liter"/>
                <a:ea typeface="MiSans"/>
              </a:rPr>
              <a:t>Conclusions: five claims this deck stands behind</a:t>
            </a:r>
            <a:endParaRPr lang="en-US" sz="2100" noProof="1"/>
          </a:p>
        </p:txBody>
      </p:sp>
      <p:sp>
        <p:nvSpPr>
          <p:cNvPr id="3" name="sub"/>
          <p:cNvSpPr txBox="1"/>
          <p:nvPr/>
        </p:nvSpPr>
        <p:spPr>
          <a:xfrm>
            <a:off x="609600" y="736600"/>
            <a:ext cx="10972800" cy="203200"/>
          </a:xfrm>
          <a:prstGeom prst="rect">
            <a:avLst/>
          </a:prstGeom>
          <a:noFill/>
          <a:ln>
            <a:noFill/>
          </a:ln>
        </p:spPr>
        <p:txBody>
          <a:bodyPr lIns="0" rIns="0" tIns="0" bIns="0" wrap="none" rtlCol="0"/>
          <a:lstStyle/>
          <a:p>
            <a:pPr>
              <a:lnSpc>
                <a:spcPct val="135000"/>
              </a:lnSpc>
            </a:pPr>
            <a:r>
              <a:rPr lang="en-US" sz="1100" noProof="1">
                <a:solidFill>
                  <a:srgbClr val="5A5A5A"/>
                </a:solidFill>
                <a:latin typeface="Liter"/>
                <a:ea typeface="MiSans"/>
              </a:rPr>
              <a:t>Each claim is the title logic of its section, restated; section references point to the evidence pages.</a:t>
            </a:r>
            <a:endParaRPr lang="en-US" sz="1100" noProof="1"/>
          </a:p>
        </p:txBody>
      </p:sp>
      <p:sp>
        <p:nvSpPr>
          <p:cNvPr id="4" name="c1n"/>
          <p:cNvSpPr txBox="1"/>
          <p:nvPr/>
        </p:nvSpPr>
        <p:spPr>
          <a:xfrm>
            <a:off x="609600" y="12192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1</a:t>
            </a:r>
            <a:endParaRPr lang="en-US" sz="1500" noProof="1"/>
          </a:p>
        </p:txBody>
      </p:sp>
      <p:sp>
        <p:nvSpPr>
          <p:cNvPr id="5" name="c1"/>
          <p:cNvSpPr txBox="1"/>
          <p:nvPr/>
        </p:nvSpPr>
        <p:spPr>
          <a:xfrm>
            <a:off x="1143000" y="12192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Voice quality is engineered, not purchased</a:t>
            </a:r>
            <a:r>
              <a:rPr lang="en-US" sz="1250" noProof="1">
                <a:solidFill>
                  <a:srgbClr val="000000"/>
                </a:solidFill>
                <a:latin typeface="Liter"/>
                <a:ea typeface="MiSans"/>
              </a:rPr>
              <a:t> — codec choice, 20 ms packetization and CAC policy determine call quality before any vendor platform does (Sec. 01).</a:t>
            </a:r>
            <a:endParaRPr lang="en-US" sz="1250" noProof="1"/>
          </a:p>
        </p:txBody>
      </p:sp>
      <p:sp>
        <p:nvSpPr>
          <p:cNvPr id="6" name="c2n"/>
          <p:cNvSpPr txBox="1"/>
          <p:nvPr/>
        </p:nvSpPr>
        <p:spPr>
          <a:xfrm>
            <a:off x="609600" y="18796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2</a:t>
            </a:r>
            <a:endParaRPr lang="en-US" sz="1500" noProof="1"/>
          </a:p>
        </p:txBody>
      </p:sp>
      <p:sp>
        <p:nvSpPr>
          <p:cNvPr id="7" name="c2"/>
          <p:cNvSpPr txBox="1"/>
          <p:nvPr/>
        </p:nvSpPr>
        <p:spPr>
          <a:xfrm>
            <a:off x="1143000" y="18796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CUCM mastery is object mastery</a:t>
            </a:r>
            <a:r>
              <a:rPr lang="en-US" sz="1250" noProof="1">
                <a:solidFill>
                  <a:srgbClr val="000000"/>
                </a:solidFill>
                <a:latin typeface="Liter"/>
                <a:ea typeface="MiSans"/>
              </a:rPr>
              <a:t> — CSS/partitions for policy, route lists for path preference, device pools for consistency; most outages trace to one of these layers (Sec. 02).</a:t>
            </a:r>
            <a:endParaRPr lang="en-US" sz="1250" noProof="1"/>
          </a:p>
        </p:txBody>
      </p:sp>
      <p:sp>
        <p:nvSpPr>
          <p:cNvPr id="8" name="c3n"/>
          <p:cNvSpPr txBox="1"/>
          <p:nvPr/>
        </p:nvSpPr>
        <p:spPr>
          <a:xfrm>
            <a:off x="609600" y="25400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3</a:t>
            </a:r>
            <a:endParaRPr lang="en-US" sz="1500" noProof="1"/>
          </a:p>
        </p:txBody>
      </p:sp>
      <p:sp>
        <p:nvSpPr>
          <p:cNvPr id="9" name="c3"/>
          <p:cNvSpPr txBox="1"/>
          <p:nvPr/>
        </p:nvSpPr>
        <p:spPr>
          <a:xfrm>
            <a:off x="1143000" y="25400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Contact center selection is a scale and ownership decision</a:t>
            </a:r>
            <a:r>
              <a:rPr lang="en-US" sz="1250" noProof="1">
                <a:solidFill>
                  <a:srgbClr val="000000"/>
                </a:solidFill>
                <a:latin typeface="Liter"/>
                <a:ea typeface="MiSans"/>
              </a:rPr>
              <a:t> — UCCX to ~400 agents, UCCE for complex enterprise routing, Webex CC when the platform should be someone else's operations problem (Sec. 04).</a:t>
            </a:r>
            <a:endParaRPr lang="en-US" sz="1250" noProof="1"/>
          </a:p>
        </p:txBody>
      </p:sp>
      <p:sp>
        <p:nvSpPr>
          <p:cNvPr id="10" name="c4n"/>
          <p:cNvSpPr txBox="1"/>
          <p:nvPr/>
        </p:nvSpPr>
        <p:spPr>
          <a:xfrm>
            <a:off x="609600" y="32004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4</a:t>
            </a:r>
            <a:endParaRPr lang="en-US" sz="1500" noProof="1"/>
          </a:p>
        </p:txBody>
      </p:sp>
      <p:sp>
        <p:nvSpPr>
          <p:cNvPr id="11" name="c4"/>
          <p:cNvSpPr txBox="1"/>
          <p:nvPr/>
        </p:nvSpPr>
        <p:spPr>
          <a:xfrm>
            <a:off x="1143000" y="32004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Cloud migration succeeds as gated phases</a:t>
            </a:r>
            <a:r>
              <a:rPr lang="en-US" sz="1250" noProof="1">
                <a:solidFill>
                  <a:srgbClr val="000000"/>
                </a:solidFill>
                <a:latin typeface="Liter"/>
                <a:ea typeface="MiSans"/>
              </a:rPr>
              <a:t> — pilot, wave, port, decommission; the two gates that actually stop projects are number porting and E911, and both are testable in advance (Sec. 05).</a:t>
            </a:r>
            <a:endParaRPr lang="en-US" sz="1250" noProof="1"/>
          </a:p>
        </p:txBody>
      </p:sp>
      <p:sp>
        <p:nvSpPr>
          <p:cNvPr id="12" name="c5n"/>
          <p:cNvSpPr txBox="1"/>
          <p:nvPr/>
        </p:nvSpPr>
        <p:spPr>
          <a:xfrm>
            <a:off x="609600" y="3860800"/>
            <a:ext cx="457200" cy="304800"/>
          </a:xfrm>
          <a:prstGeom prst="rect">
            <a:avLst/>
          </a:prstGeom>
          <a:noFill/>
          <a:ln>
            <a:noFill/>
          </a:ln>
        </p:spPr>
        <p:txBody>
          <a:bodyPr lIns="0" rIns="0" tIns="0" bIns="0" wrap="none" rtlCol="0"/>
          <a:lstStyle/>
          <a:p>
            <a:pPr>
              <a:lnSpc>
                <a:spcPct val="120000"/>
              </a:lnSpc>
            </a:pPr>
            <a:r>
              <a:rPr lang="en-US" sz="1500" noProof="1" b="1">
                <a:solidFill>
                  <a:srgbClr val="E69138"/>
                </a:solidFill>
                <a:latin typeface="Liter"/>
                <a:ea typeface="MiSans"/>
              </a:rPr>
              <a:t>5</a:t>
            </a:r>
            <a:endParaRPr lang="en-US" sz="1500" noProof="1"/>
          </a:p>
        </p:txBody>
      </p:sp>
      <p:sp>
        <p:nvSpPr>
          <p:cNvPr id="13" name="c5"/>
          <p:cNvSpPr txBox="1"/>
          <p:nvPr/>
        </p:nvSpPr>
        <p:spPr>
          <a:xfrm>
            <a:off x="1143000" y="3860800"/>
            <a:ext cx="10414000" cy="508000"/>
          </a:xfrm>
          <a:prstGeom prst="rect">
            <a:avLst/>
          </a:prstGeom>
          <a:noFill/>
          <a:ln>
            <a:noFill/>
          </a:ln>
        </p:spPr>
        <p:txBody>
          <a:bodyPr lIns="0" rIns="0" tIns="0" bIns="0" wrap="square" rtlCol="0"/>
          <a:lstStyle/>
          <a:p>
            <a:pPr>
              <a:lnSpc>
                <a:spcPct val="145000"/>
              </a:lnSpc>
            </a:pPr>
            <a:r>
              <a:rPr lang="en-US" sz="1250" noProof="1" b="1">
                <a:solidFill>
                  <a:srgbClr val="000000"/>
                </a:solidFill>
                <a:latin typeface="Liter"/>
                <a:ea typeface="MiSans"/>
              </a:rPr>
              <a:t>Expertise is operational, not ceremonial</a:t>
            </a:r>
            <a:r>
              <a:rPr lang="en-US" sz="1250" noProof="1">
                <a:solidFill>
                  <a:srgbClr val="000000"/>
                </a:solidFill>
                <a:latin typeface="Liter"/>
                <a:ea typeface="MiSans"/>
              </a:rPr>
              <a:t> — the design–deploy–operate–optimize loop, fed by CDR/CMR telemetry, is what separates a maintained voice estate from a frozen one (Sec. 06–07).</a:t>
            </a:r>
            <a:endParaRPr lang="en-US" sz="1250" noProof="1"/>
          </a:p>
        </p:txBody>
      </p:sp>
      <p:sp>
        <p:nvSpPr>
          <p:cNvPr id="14" name="open-h"/>
          <p:cNvSpPr txBox="1"/>
          <p:nvPr/>
        </p:nvSpPr>
        <p:spPr>
          <a:xfrm>
            <a:off x="609600" y="4597400"/>
            <a:ext cx="5080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Open questions for your environment</a:t>
            </a:r>
            <a:endParaRPr lang="en-US" sz="1100" noProof="1"/>
          </a:p>
        </p:txBody>
      </p:sp>
      <p:sp>
        <p:nvSpPr>
          <p:cNvPr id="15" name="open"/>
          <p:cNvSpPr txBox="1"/>
          <p:nvPr/>
        </p:nvSpPr>
        <p:spPr>
          <a:xfrm>
            <a:off x="609600" y="4876800"/>
            <a:ext cx="5334000" cy="1219200"/>
          </a:xfrm>
          <a:prstGeom prst="rect">
            <a:avLst/>
          </a:prstGeom>
          <a:noFill/>
          <a:ln>
            <a:noFill/>
          </a:ln>
        </p:spPr>
        <p:txBody>
          <a:bodyPr lIns="0" rIns="0" tIns="0" bIns="0" wrap="square" rtlCol="0"/>
          <a:lstStyle/>
          <a:p>
            <a:pPr>
              <a:lnSpc>
                <a:spcPct val="145000"/>
              </a:lnSpc>
            </a:pPr>
            <a:r>
              <a:rPr lang="en-US" sz="1250" noProof="1">
                <a:solidFill>
                  <a:srgbClr val="000000"/>
                </a:solidFill>
                <a:latin typeface="Liter"/>
                <a:ea typeface="MiSans"/>
              </a:rPr>
              <a:t>· Which CUCM features in daily use lack a Webex equivalent?</a:t>
            </a:r>
            <a:endParaRPr lang="en-US" sz="1250" noProof="1"/>
          </a:p>
          <a:p>
            <a:pPr>
              <a:lnSpc>
                <a:spcPct val="145000"/>
              </a:lnSpc>
              <a:spcBef>
                <a:spcPts val="500"/>
              </a:spcBef>
            </a:pPr>
            <a:r>
              <a:rPr lang="en-US" sz="1250" noProof="1">
                <a:solidFill>
                  <a:srgbClr val="000000"/>
                </a:solidFill>
                <a:latin typeface="Liter"/>
                <a:ea typeface="MiSans"/>
              </a:rPr>
              <a:t>· What share of devices is analog, fax or legacy SCCP?</a:t>
            </a:r>
            <a:endParaRPr lang="en-US" sz="1250" noProof="1"/>
          </a:p>
          <a:p>
            <a:pPr>
              <a:lnSpc>
                <a:spcPct val="145000"/>
              </a:lnSpc>
              <a:spcBef>
                <a:spcPts val="500"/>
              </a:spcBef>
            </a:pPr>
            <a:r>
              <a:rPr lang="en-US" sz="1250" noProof="1">
                <a:solidFill>
                  <a:srgbClr val="000000"/>
                </a:solidFill>
                <a:latin typeface="Liter"/>
                <a:ea typeface="MiSans"/>
              </a:rPr>
              <a:t>· Which countries in scope lack Cisco Calling Plans coverage?</a:t>
            </a:r>
            <a:endParaRPr lang="en-US" sz="1250" noProof="1"/>
          </a:p>
        </p:txBody>
      </p:sp>
      <p:sp>
        <p:nvSpPr>
          <p:cNvPr id="16" name="src-h"/>
          <p:cNvSpPr txBox="1"/>
          <p:nvPr/>
        </p:nvSpPr>
        <p:spPr>
          <a:xfrm>
            <a:off x="6731000" y="4597400"/>
            <a:ext cx="4826000" cy="228600"/>
          </a:xfrm>
          <a:prstGeom prst="rect">
            <a:avLst/>
          </a:prstGeom>
          <a:noFill/>
          <a:ln>
            <a:noFill/>
          </a:ln>
        </p:spPr>
        <p:txBody>
          <a:bodyPr lIns="0" rIns="0" tIns="0" bIns="0" wrap="none" rtlCol="0"/>
          <a:lstStyle/>
          <a:p>
            <a:pPr>
              <a:lnSpc>
                <a:spcPct val="120000"/>
              </a:lnSpc>
            </a:pPr>
            <a:r>
              <a:rPr lang="en-US" sz="1100" noProof="1" b="1">
                <a:solidFill>
                  <a:srgbClr val="333333"/>
                </a:solidFill>
                <a:latin typeface="Liter"/>
                <a:ea typeface="MiSans"/>
              </a:rPr>
              <a:t>Primary sources</a:t>
            </a:r>
            <a:endParaRPr lang="en-US" sz="1100" noProof="1"/>
          </a:p>
        </p:txBody>
      </p:sp>
      <p:sp>
        <p:nvSpPr>
          <p:cNvPr id="17" name="src"/>
          <p:cNvSpPr txBox="1"/>
          <p:nvPr/>
        </p:nvSpPr>
        <p:spPr>
          <a:xfrm>
            <a:off x="6731000" y="4876800"/>
            <a:ext cx="4851400" cy="1270000"/>
          </a:xfrm>
          <a:prstGeom prst="rect">
            <a:avLst/>
          </a:prstGeom>
          <a:noFill/>
          <a:ln>
            <a:noFill/>
          </a:ln>
        </p:spPr>
        <p:txBody>
          <a:bodyPr lIns="0" rIns="0" tIns="0" bIns="0" wrap="square" rtlCol="0"/>
          <a:lstStyle/>
          <a:p>
            <a:pPr>
              <a:lnSpc>
                <a:spcPct val="135000"/>
              </a:lnSpc>
            </a:pPr>
            <a:r>
              <a:rPr lang="en-US" sz="1000" noProof="1">
                <a:solidFill>
                  <a:srgbClr val="5A5A5A"/>
                </a:solidFill>
                <a:latin typeface="Liter"/>
                <a:ea typeface="MiSans"/>
              </a:rPr>
              <a:t>· Cisco Collaboration SRND — </a:t>
            </a:r>
            <a:r>
              <a:rPr lang="en-US" sz="1000" noProof="1" u="sng">
                <a:solidFill>
                  <a:srgbClr val="0563C1"/>
                </a:solidFill>
                <a:latin typeface="Liter"/>
                <a:ea typeface="MiSans"/>
                <a:hlinkClick r:id="rId2"/>
              </a:rPr>
              <a:t>cisco.com design guides</a:t>
            </a:r>
            <a:endParaRPr lang="en-US" sz="1000" noProof="1"/>
          </a:p>
          <a:p>
            <a:pPr>
              <a:lnSpc>
                <a:spcPct val="135000"/>
              </a:lnSpc>
              <a:spcBef>
                <a:spcPts val="500"/>
              </a:spcBef>
            </a:pPr>
            <a:r>
              <a:rPr lang="en-US" sz="1000" noProof="1">
                <a:solidFill>
                  <a:srgbClr val="5A5A5A"/>
                </a:solidFill>
                <a:latin typeface="Liter"/>
                <a:ea typeface="MiSans"/>
              </a:rPr>
              <a:t>· CUCM / Unity Connection / IM&amp;P / Expressway administration guides, cisco.com</a:t>
            </a:r>
            <a:endParaRPr lang="en-US" sz="1000" noProof="1"/>
          </a:p>
          <a:p>
            <a:pPr>
              <a:lnSpc>
                <a:spcPct val="135000"/>
              </a:lnSpc>
              <a:spcBef>
                <a:spcPts val="500"/>
              </a:spcBef>
            </a:pPr>
            <a:r>
              <a:rPr lang="en-US" sz="1000" noProof="1">
                <a:solidFill>
                  <a:srgbClr val="5A5A5A"/>
                </a:solidFill>
                <a:latin typeface="Liter"/>
                <a:ea typeface="MiSans"/>
              </a:rPr>
              <a:t>· UCCX &amp; UCCE product documentation, cisco.com</a:t>
            </a:r>
            <a:endParaRPr lang="en-US" sz="1000" noProof="1"/>
          </a:p>
          <a:p>
            <a:pPr>
              <a:lnSpc>
                <a:spcPct val="135000"/>
              </a:lnSpc>
              <a:spcBef>
                <a:spcPts val="500"/>
              </a:spcBef>
            </a:pPr>
            <a:r>
              <a:rPr lang="en-US" sz="1000" noProof="1">
                <a:solidFill>
                  <a:srgbClr val="5A5A5A"/>
                </a:solidFill>
                <a:latin typeface="Liter"/>
                <a:ea typeface="MiSans"/>
              </a:rPr>
              <a:t>· Webex Calling &amp; Contact Center documentation, </a:t>
            </a:r>
            <a:r>
              <a:rPr lang="en-US" sz="1000" noProof="1" u="sng">
                <a:solidFill>
                  <a:srgbClr val="0563C1"/>
                </a:solidFill>
                <a:latin typeface="Liter"/>
                <a:ea typeface="MiSans"/>
                <a:hlinkClick r:id="rId3"/>
              </a:rPr>
              <a:t>help.webex.com</a:t>
            </a:r>
            <a:endParaRPr lang="en-US" sz="1000" noProof="1"/>
          </a:p>
        </p:txBody>
      </p:sp>
      <p:sp>
        <p:nvSpPr>
          <p:cNvPr id="18" name="footer-rule"/>
          <p:cNvSpPr/>
          <p:nvPr>
            <p:extLst>
              <p:ext uri="{F5677B7D-0D2A-4D9B-9A5C-6D8D7D0E5A5D}">
                <pptd:line encoding="base64url">eyJ2aWV3Qm94IjpbODY0LDFdLCJwb2ludHMiOiIwLDAgODY0LDAifQ</pptd:line>
              </p:ext>
            </p:extLst>
          </p:nvPr>
        </p:nvSpPr>
        <p:spPr>
          <a:xfrm>
            <a:off x="609600" y="6299200"/>
            <a:ext cx="10972800" cy="12700"/>
          </a:xfrm>
          <a:custGeom>
            <a:avLst/>
            <a:gdLst/>
            <a:ahLst/>
            <a:cxnLst/>
            <a:rect l="l" t="t" r="r" b="b"/>
            <a:pathLst>
              <a:path w="864" h="1">
                <a:moveTo>
                  <a:pt x="0" y="0"/>
                </a:moveTo>
                <a:lnTo>
                  <a:pt x="864" y="0"/>
                </a:lnTo>
              </a:path>
            </a:pathLst>
          </a:custGeom>
          <a:noFill/>
          <a:ln w="7620" cap="rnd">
            <a:solidFill>
              <a:srgbClr val="CFCFCF"/>
            </a:solidFill>
            <a:round/>
          </a:ln>
        </p:spPr>
      </p:sp>
      <p:sp>
        <p:nvSpPr>
          <p:cNvPr id="19" name="footer"/>
          <p:cNvSpPr txBox="1"/>
          <p:nvPr/>
        </p:nvSpPr>
        <p:spPr>
          <a:xfrm>
            <a:off x="609600" y="6400800"/>
            <a:ext cx="10972800" cy="177800"/>
          </a:xfrm>
          <a:prstGeom prst="rect">
            <a:avLst/>
          </a:prstGeom>
          <a:noFill/>
          <a:ln>
            <a:noFill/>
          </a:ln>
        </p:spPr>
        <p:txBody>
          <a:bodyPr lIns="0" rIns="0" tIns="0" bIns="0" wrap="none" rtlCol="0"/>
          <a:lstStyle/>
          <a:p>
            <a:pPr>
              <a:lnSpc>
                <a:spcPct val="120000"/>
              </a:lnSpc>
            </a:pPr>
            <a:r>
              <a:rPr lang="en-US" sz="850" noProof="1">
                <a:solidFill>
                  <a:srgbClr val="8C8C8C"/>
                </a:solidFill>
                <a:latin typeface="Liter"/>
                <a:ea typeface="MiSans"/>
              </a:rPr>
              <a:t>Enterprise Voice with Cisco — Technologies, Contact Center &amp; Cloud Migration · capability statements reflect documentation current as of early 2026</a:t>
            </a:r>
            <a:endParaRPr lang="en-US" sz="850" noProof="1"/>
          </a:p>
        </p:txBody>
      </p:sp>
      <p:sp>
        <p:nvSpPr>
          <p:cNvPr id="20" name="cml-footer-bar"/>
          <p:cNvSpPr/>
          <p:nvPr/>
        </p:nvSpPr>
        <p:spPr>
          <a:xfrm>
            <a:off x="0" y="6670000"/>
            <a:ext cx="12192000" cy="640000"/>
          </a:xfrm>
          <a:prstGeom prst="rect">
            <a:avLst/>
          </a:prstGeom>
          <a:solidFill>
            <a:srgbClr val="12161C"/>
          </a:solidFill>
          <a:ln>
            <a:noFill/>
          </a:ln>
        </p:spPr>
        <p:txBody>
          <a:bodyPr/>
          <a:lstStyle/>
          <a:p/>
        </p:txBody>
      </p:sp>
      <p:sp>
        <p:nvSpPr>
          <p:cNvPr id="21" name="cml-footer-rule"/>
          <p:cNvSpPr/>
          <p:nvPr/>
        </p:nvSpPr>
        <p:spPr>
          <a:xfrm>
            <a:off x="0" y="6670000"/>
            <a:ext cx="12192000" cy="19050"/>
          </a:xfrm>
          <a:prstGeom prst="rect">
            <a:avLst/>
          </a:prstGeom>
          <a:solidFill>
            <a:srgbClr val="2DD4BF"/>
          </a:solidFill>
          <a:ln>
            <a:noFill/>
          </a:ln>
        </p:spPr>
        <p:txBody>
          <a:bodyPr/>
          <a:lstStyle/>
          <a:p/>
        </p:txBody>
      </p:sp>
      <p:sp>
        <p:nvSpPr>
          <p:cNvPr id="22"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23"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24" name="cml-footer-icon-github" descr="GitHub">
            <a:hlinkClick r:id="rId5" tooltip="GitHub — https://github.com/cipher0x9"/>
          </p:cNvPr>
          <p:cNvPicPr>
            <a:picLocks noChangeAspect="1"/>
          </p:cNvPicPr>
          <p:nvPr/>
        </p:nvPicPr>
        <p:blipFill>
          <a:blip r:embed="rId4"/>
          <a:stretch>
            <a:fillRect/>
          </a:stretch>
        </p:blipFill>
        <p:spPr>
          <a:xfrm>
            <a:off x="609600" y="7038000"/>
            <a:ext cx="210000" cy="210000"/>
          </a:xfrm>
          <a:prstGeom prst="rect">
            <a:avLst/>
          </a:prstGeom>
        </p:spPr>
      </p:pic>
      <p:sp>
        <p:nvSpPr>
          <p:cNvPr id="25" name="cml-footer-label-github" descr="GitHub">
            <a:hlinkClick r:id="rId5"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26" name="cml-footer-icon-labs" descr="Labs org">
            <a:hlinkClick r:id="rId6" tooltip="Labs org — https://github.com/CypherMonkeyLabs"/>
          </p:cNvPr>
          <p:cNvPicPr>
            <a:picLocks noChangeAspect="1"/>
          </p:cNvPicPr>
          <p:nvPr/>
        </p:nvPicPr>
        <p:blipFill>
          <a:blip r:embed="rId4"/>
          <a:stretch>
            <a:fillRect/>
          </a:stretch>
        </p:blipFill>
        <p:spPr>
          <a:xfrm>
            <a:off x="1658136" y="7038000"/>
            <a:ext cx="210000" cy="210000"/>
          </a:xfrm>
          <a:prstGeom prst="rect">
            <a:avLst/>
          </a:prstGeom>
        </p:spPr>
      </p:pic>
      <p:sp>
        <p:nvSpPr>
          <p:cNvPr id="27" name="cml-footer-label-labs" descr="Labs org">
            <a:hlinkClick r:id="rId6"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8" name="cml-footer-icon-website" descr="Website">
            <a:hlinkClick r:id="rId8" tooltip="Website — https://cyphermonkeylabs.com"/>
          </p:cNvPr>
          <p:cNvPicPr>
            <a:picLocks noChangeAspect="1"/>
          </p:cNvPicPr>
          <p:nvPr/>
        </p:nvPicPr>
        <p:blipFill>
          <a:blip r:embed="rId7"/>
          <a:stretch>
            <a:fillRect/>
          </a:stretch>
        </p:blipFill>
        <p:spPr>
          <a:xfrm>
            <a:off x="2892599" y="7038000"/>
            <a:ext cx="210000" cy="210000"/>
          </a:xfrm>
          <a:prstGeom prst="rect">
            <a:avLst/>
          </a:prstGeom>
        </p:spPr>
      </p:pic>
      <p:sp>
        <p:nvSpPr>
          <p:cNvPr id="29" name="cml-footer-label-website" descr="Website">
            <a:hlinkClick r:id="rId8"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30" name="cml-footer-icon-x" descr="X">
            <a:hlinkClick r:id="rId10" tooltip="X — https://x.com/Cypher0x9"/>
          </p:cNvPr>
          <p:cNvPicPr>
            <a:picLocks noChangeAspect="1"/>
          </p:cNvPicPr>
          <p:nvPr/>
        </p:nvPicPr>
        <p:blipFill>
          <a:blip r:embed="rId9"/>
          <a:stretch>
            <a:fillRect/>
          </a:stretch>
        </p:blipFill>
        <p:spPr>
          <a:xfrm>
            <a:off x="4087439" y="7038000"/>
            <a:ext cx="210000" cy="210000"/>
          </a:xfrm>
          <a:prstGeom prst="rect">
            <a:avLst/>
          </a:prstGeom>
        </p:spPr>
      </p:pic>
      <p:sp>
        <p:nvSpPr>
          <p:cNvPr id="31" name="cml-footer-label-x" descr="X">
            <a:hlinkClick r:id="rId10"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32" name="cml-footer-icon-linkedin" descr="LinkedIn">
            <a:hlinkClick r:id="rId12" tooltip="LinkedIn — https://www.linkedin.com/in/luckylakshmanucwebex"/>
          </p:cNvPr>
          <p:cNvPicPr>
            <a:picLocks noChangeAspect="1"/>
          </p:cNvPicPr>
          <p:nvPr/>
        </p:nvPicPr>
        <p:blipFill>
          <a:blip r:embed="rId11"/>
          <a:stretch>
            <a:fillRect/>
          </a:stretch>
        </p:blipFill>
        <p:spPr>
          <a:xfrm>
            <a:off x="4748878" y="7038000"/>
            <a:ext cx="210000" cy="210000"/>
          </a:xfrm>
          <a:prstGeom prst="rect">
            <a:avLst/>
          </a:prstGeom>
        </p:spPr>
      </p:pic>
      <p:sp>
        <p:nvSpPr>
          <p:cNvPr id="33" name="cml-footer-label-linkedin" descr="LinkedIn">
            <a:hlinkClick r:id="rId12"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34" name="cml-footer-icon-huggingface" descr="Hugging Face">
            <a:hlinkClick r:id="rId14" tooltip="Hugging Face — https://huggingface.co/Cypher0x9"/>
          </p:cNvPr>
          <p:cNvPicPr>
            <a:picLocks noChangeAspect="1"/>
          </p:cNvPicPr>
          <p:nvPr/>
        </p:nvPicPr>
        <p:blipFill>
          <a:blip r:embed="rId13"/>
          <a:stretch>
            <a:fillRect/>
          </a:stretch>
        </p:blipFill>
        <p:spPr>
          <a:xfrm>
            <a:off x="5965054" y="7038000"/>
            <a:ext cx="210000" cy="210000"/>
          </a:xfrm>
          <a:prstGeom prst="rect">
            <a:avLst/>
          </a:prstGeom>
        </p:spPr>
      </p:pic>
      <p:sp>
        <p:nvSpPr>
          <p:cNvPr id="35" name="cml-footer-label-huggingface" descr="Hugging Face">
            <a:hlinkClick r:id="rId14"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B1220"/>
        </a:solidFill>
      </p:bgPr>
    </p:bg>
    <p:spTree>
      <p:nvGrpSpPr>
        <p:cNvPr id="1" name=""/>
        <p:cNvGrpSpPr/>
        <p:nvPr/>
      </p:nvGrpSpPr>
      <p:grpSpPr>
        <a:xfrm>
          <a:off x="0" y="0"/>
          <a:ext cx="0" cy="0"/>
          <a:chOff x="0" y="0"/>
          <a:chExt cx="0" cy="0"/>
        </a:xfrm>
      </p:grpSpPr>
      <p:sp>
        <p:nvSpPr>
          <p:cNvPr id="2" name="cml-close-accent"/>
          <p:cNvSpPr/>
          <p:nvPr/>
        </p:nvSpPr>
        <p:spPr>
          <a:xfrm>
            <a:off x="0" y="0"/>
            <a:ext cx="109728" cy="6670000"/>
          </a:xfrm>
          <a:prstGeom prst="rect">
            <a:avLst/>
          </a:prstGeom>
          <a:solidFill>
            <a:srgbClr val="2DD4BF"/>
          </a:solidFill>
          <a:ln>
            <a:noFill/>
          </a:ln>
        </p:spPr>
        <p:txBody>
          <a:bodyPr/>
          <a:lstStyle/>
          <a:p/>
        </p:txBody>
      </p:sp>
      <p:sp>
        <p:nvSpPr>
          <p:cNvPr id="3" name="cml-close-kicker" descr="Independent student project"/>
          <p:cNvSpPr txBox="1"/>
          <p:nvPr/>
        </p:nvSpPr>
        <p:spPr>
          <a:xfrm>
            <a:off x="720000" y="1280000"/>
            <a:ext cx="8000000" cy="320000"/>
          </a:xfrm>
          <a:prstGeom prst="rect">
            <a:avLst/>
          </a:prstGeom>
          <a:noFill/>
          <a:ln>
            <a:noFill/>
          </a:ln>
        </p:spPr>
        <p:txBody>
          <a:bodyPr lIns="80000" rIns="80000" tIns="20000" bIns="20000" anchor="b" wrap="none" rtlCol="0"/>
          <a:lstStyle/>
          <a:p>
            <a:pPr algn="l"/>
            <a:r>
              <a:rPr lang="en-US" sz="1400" u="none" dirty="0" noProof="1" b="1">
                <a:solidFill>
                  <a:srgbClr val="2DD4BF"/>
                </a:solidFill>
                <a:latin typeface="Liberation Sans"/>
                <a:ea typeface="Liberation Sans"/>
                <a:cs typeface="Liberation Sans"/>
              </a:rPr>
              <a:t>Independent student project</a:t>
            </a:r>
            <a:endParaRPr lang="en-US" sz="1400" u="none"/>
          </a:p>
        </p:txBody>
      </p:sp>
      <p:sp>
        <p:nvSpPr>
          <p:cNvPr id="4" name="cml-close-mark" descr="Cypher Monkey Labs"/>
          <p:cNvSpPr txBox="1"/>
          <p:nvPr/>
        </p:nvSpPr>
        <p:spPr>
          <a:xfrm>
            <a:off x="720000" y="1640000"/>
            <a:ext cx="11000000" cy="780000"/>
          </a:xfrm>
          <a:prstGeom prst="rect">
            <a:avLst/>
          </a:prstGeom>
          <a:noFill/>
          <a:ln>
            <a:noFill/>
          </a:ln>
        </p:spPr>
        <p:txBody>
          <a:bodyPr lIns="80000" rIns="80000" tIns="20000" bIns="20000" anchor="ctr" wrap="none" rtlCol="0"/>
          <a:lstStyle/>
          <a:p>
            <a:pPr algn="l"/>
            <a:r>
              <a:rPr lang="en-US" sz="4000" u="none" dirty="0" noProof="1">
                <a:solidFill>
                  <a:srgbClr val="FFFFFF"/>
                </a:solidFill>
                <a:latin typeface="Liter"/>
                <a:ea typeface="Liter"/>
                <a:cs typeface="Liter"/>
              </a:rPr>
              <a:t>Cypher Monkey Labs</a:t>
            </a:r>
            <a:endParaRPr lang="en-US" sz="4000" u="none"/>
          </a:p>
        </p:txBody>
      </p:sp>
      <p:sp>
        <p:nvSpPr>
          <p:cNvPr id="5" name="cml-close-sub" descr="Enterprise voice, contact center, and cloud migration, for independent study."/>
          <p:cNvSpPr txBox="1"/>
          <p:nvPr/>
        </p:nvSpPr>
        <p:spPr>
          <a:xfrm>
            <a:off x="720000" y="2480000"/>
            <a:ext cx="10800000" cy="620000"/>
          </a:xfrm>
          <a:prstGeom prst="rect">
            <a:avLst/>
          </a:prstGeom>
          <a:noFill/>
          <a:ln>
            <a:noFill/>
          </a:ln>
        </p:spPr>
        <p:txBody>
          <a:bodyPr lIns="80000" rIns="80000" tIns="20000" bIns="20000" anchor="t" wrap="square" rtlCol="0"/>
          <a:lstStyle/>
          <a:p>
            <a:pPr algn="l"/>
            <a:r>
              <a:rPr lang="en-US" sz="1800" u="none" dirty="0" noProof="1">
                <a:solidFill>
                  <a:srgbClr val="E6EDF2"/>
                </a:solidFill>
                <a:latin typeface="Liberation Sans"/>
                <a:ea typeface="Liberation Sans"/>
                <a:cs typeface="Liberation Sans"/>
              </a:rPr>
              <a:t>Enterprise voice, contact center, and cloud migration, for independent study.</a:t>
            </a:r>
            <a:endParaRPr lang="en-US" sz="1800" u="none"/>
          </a:p>
        </p:txBody>
      </p:sp>
      <p:sp>
        <p:nvSpPr>
          <p:cNvPr id="6" name="cml-close-rule"/>
          <p:cNvSpPr/>
          <p:nvPr/>
        </p:nvSpPr>
        <p:spPr>
          <a:xfrm>
            <a:off x="720000" y="3180000"/>
            <a:ext cx="2200000" cy="19050"/>
          </a:xfrm>
          <a:prstGeom prst="rect">
            <a:avLst/>
          </a:prstGeom>
          <a:solidFill>
            <a:srgbClr val="2DD4BF"/>
          </a:solidFill>
          <a:ln>
            <a:noFill/>
          </a:ln>
        </p:spPr>
        <p:txBody>
          <a:bodyPr/>
          <a:lstStyle/>
          <a:p/>
        </p:txBody>
      </p:sp>
      <p:sp>
        <p:nvSpPr>
          <p:cNvPr id="7" name="cml-close-fact-0" descr="63"/>
          <p:cNvSpPr txBox="1"/>
          <p:nvPr/>
        </p:nvSpPr>
        <p:spPr>
          <a:xfrm>
            <a:off x="720000" y="3420000"/>
            <a:ext cx="3300000" cy="820000"/>
          </a:xfrm>
          <a:prstGeom prst="rect">
            <a:avLst/>
          </a:prstGeom>
          <a:noFill/>
          <a:ln>
            <a:noFill/>
          </a:ln>
        </p:spPr>
        <p:txBody>
          <a:bodyPr lIns="80000" rIns="80000" tIns="20000" bIns="20000" anchor="ctr" wrap="none" rtlCol="0"/>
          <a:lstStyle/>
          <a:p>
            <a:pPr algn="l"/>
            <a:r>
              <a:rPr lang="en-US" sz="2800" u="none" dirty="0" noProof="1">
                <a:solidFill>
                  <a:srgbClr val="2DD4BF"/>
                </a:solidFill>
                <a:latin typeface="Liter"/>
                <a:ea typeface="Liter"/>
                <a:cs typeface="Liter"/>
              </a:rPr>
              <a:t>63</a:t>
            </a:r>
            <a:endParaRPr lang="en-US" sz="2800" u="none"/>
          </a:p>
          <a:p>
            <a:pPr algn="l"/>
            <a:r>
              <a:rPr lang="en-US" sz="1400" u="none" dirty="0" noProof="1">
                <a:solidFill>
                  <a:srgbClr val="C5CED6"/>
                </a:solidFill>
                <a:latin typeface="Liberation Sans"/>
                <a:ea typeface="Liberation Sans"/>
                <a:cs typeface="Liberation Sans"/>
              </a:rPr>
              <a:t>slides in this briefing</a:t>
            </a:r>
            <a:endParaRPr lang="en-US" sz="1400" u="none"/>
          </a:p>
        </p:txBody>
      </p:sp>
      <p:sp>
        <p:nvSpPr>
          <p:cNvPr id="8" name="cml-close-fact-1" descr="580"/>
          <p:cNvSpPr txBox="1"/>
          <p:nvPr/>
        </p:nvSpPr>
        <p:spPr>
          <a:xfrm>
            <a:off x="4200000" y="3420000"/>
            <a:ext cx="3300000" cy="820000"/>
          </a:xfrm>
          <a:prstGeom prst="rect">
            <a:avLst/>
          </a:prstGeom>
          <a:noFill/>
          <a:ln>
            <a:noFill/>
          </a:ln>
        </p:spPr>
        <p:txBody>
          <a:bodyPr lIns="80000" rIns="80000" tIns="20000" bIns="20000" anchor="ctr" wrap="none" rtlCol="0"/>
          <a:lstStyle/>
          <a:p>
            <a:pPr algn="l"/>
            <a:r>
              <a:rPr lang="en-US" sz="2800" u="none" dirty="0" noProof="1">
                <a:solidFill>
                  <a:srgbClr val="2DD4BF"/>
                </a:solidFill>
                <a:latin typeface="Liter"/>
                <a:ea typeface="Liter"/>
                <a:cs typeface="Liter"/>
              </a:rPr>
              <a:t>580</a:t>
            </a:r>
            <a:endParaRPr lang="en-US" sz="2800" u="none"/>
          </a:p>
          <a:p>
            <a:pPr algn="l"/>
            <a:r>
              <a:rPr lang="en-US" sz="1400" u="none" dirty="0" noProof="1">
                <a:solidFill>
                  <a:srgbClr val="C5CED6"/>
                </a:solidFill>
                <a:latin typeface="Liberation Sans"/>
                <a:ea typeface="Liberation Sans"/>
                <a:cs typeface="Liberation Sans"/>
              </a:rPr>
              <a:t>sections in the campus</a:t>
            </a:r>
            <a:endParaRPr lang="en-US" sz="1400" u="none"/>
          </a:p>
        </p:txBody>
      </p:sp>
      <p:sp>
        <p:nvSpPr>
          <p:cNvPr id="9" name="cml-close-fact-2" descr="Offline"/>
          <p:cNvSpPr txBox="1"/>
          <p:nvPr/>
        </p:nvSpPr>
        <p:spPr>
          <a:xfrm>
            <a:off x="7680000" y="3420000"/>
            <a:ext cx="3300000" cy="820000"/>
          </a:xfrm>
          <a:prstGeom prst="rect">
            <a:avLst/>
          </a:prstGeom>
          <a:noFill/>
          <a:ln>
            <a:noFill/>
          </a:ln>
        </p:spPr>
        <p:txBody>
          <a:bodyPr lIns="80000" rIns="80000" tIns="20000" bIns="20000" anchor="ctr" wrap="none" rtlCol="0"/>
          <a:lstStyle/>
          <a:p>
            <a:pPr algn="l"/>
            <a:r>
              <a:rPr lang="en-US" sz="2800" u="none" dirty="0" noProof="1">
                <a:solidFill>
                  <a:srgbClr val="2DD4BF"/>
                </a:solidFill>
                <a:latin typeface="Liter"/>
                <a:ea typeface="Liter"/>
                <a:cs typeface="Liter"/>
              </a:rPr>
              <a:t>Offline</a:t>
            </a:r>
            <a:endParaRPr lang="en-US" sz="2800" u="none"/>
          </a:p>
          <a:p>
            <a:pPr algn="l"/>
            <a:r>
              <a:rPr lang="en-US" sz="1400" u="none" dirty="0" noProof="1">
                <a:solidFill>
                  <a:srgbClr val="C5CED6"/>
                </a:solidFill>
                <a:latin typeface="Liberation Sans"/>
                <a:ea typeface="Liberation Sans"/>
                <a:cs typeface="Liberation Sans"/>
              </a:rPr>
              <a:t>open it in the browser</a:t>
            </a:r>
            <a:endParaRPr lang="en-US" sz="1400" u="none"/>
          </a:p>
        </p:txBody>
      </p:sp>
      <p:sp>
        <p:nvSpPr>
          <p:cNvPr id="10" name="cml-close-app" descr="Open the app">
            <a:hlinkClick r:id="rId2" tooltip="Open the app — https://cyphermonkeylabs.com/uc-lab-free-university-mesmerizing/"/>
          </p:cNvPr>
          <p:cNvSpPr txBox="1"/>
          <p:nvPr/>
        </p:nvSpPr>
        <p:spPr>
          <a:xfrm>
            <a:off x="720000" y="4500000"/>
            <a:ext cx="3200000" cy="560000"/>
          </a:xfrm>
          <a:prstGeom prst="roundRect">
            <a:avLst/>
          </a:prstGeom>
          <a:solidFill>
            <a:srgbClr val="0F766E"/>
          </a:solidFill>
          <a:ln>
            <a:noFill/>
          </a:ln>
        </p:spPr>
        <p:txBody>
          <a:bodyPr lIns="80000" rIns="80000" tIns="20000" bIns="20000" anchor="ctr" wrap="none" rtlCol="0"/>
          <a:lstStyle/>
          <a:p>
            <a:pPr algn="ctr"/>
            <a:r>
              <a:rPr lang="en-US" sz="1600" u="none" dirty="0" noProof="1" b="1">
                <a:solidFill>
                  <a:srgbClr val="FFFFFF"/>
                </a:solidFill>
                <a:latin typeface="Liberation Sans"/>
                <a:ea typeface="Liberation Sans"/>
                <a:cs typeface="Liberation Sans"/>
              </a:rPr>
              <a:t>Open the app</a:t>
            </a:r>
            <a:endParaRPr lang="en-US" sz="1600" u="none"/>
          </a:p>
        </p:txBody>
      </p:sp>
      <p:sp>
        <p:nvSpPr>
          <p:cNvPr id="11" name="cml-close-note" descr="This deck is the briefing. The campus is the practice: call flows, cheat sheets,"/>
          <p:cNvSpPr txBox="1"/>
          <p:nvPr/>
        </p:nvSpPr>
        <p:spPr>
          <a:xfrm>
            <a:off x="720000" y="5200000"/>
            <a:ext cx="10400000" cy="700000"/>
          </a:xfrm>
          <a:prstGeom prst="rect">
            <a:avLst/>
          </a:prstGeom>
          <a:noFill/>
          <a:ln>
            <a:noFill/>
          </a:ln>
        </p:spPr>
        <p:txBody>
          <a:bodyPr lIns="80000" rIns="80000" tIns="20000" bIns="20000" anchor="t" wrap="square" rtlCol="0"/>
          <a:lstStyle/>
          <a:p>
            <a:pPr algn="l"/>
            <a:r>
              <a:rPr lang="en-US" sz="1600" u="none" dirty="0" noProof="1">
                <a:solidFill>
                  <a:srgbClr val="E6EDF2"/>
                </a:solidFill>
                <a:latin typeface="Liberation Sans"/>
                <a:ea typeface="Liberation Sans"/>
                <a:cs typeface="Liberation Sans"/>
              </a:rPr>
              <a:t>This deck is the briefing. The campus is the practice: call flows, cheat sheets, and drills you can check.</a:t>
            </a:r>
            <a:endParaRPr lang="en-US" sz="1600" u="none"/>
          </a:p>
        </p:txBody>
      </p:sp>
      <p:sp>
        <p:nvSpPr>
          <p:cNvPr id="12" name="cml-footer-bar"/>
          <p:cNvSpPr/>
          <p:nvPr/>
        </p:nvSpPr>
        <p:spPr>
          <a:xfrm>
            <a:off x="0" y="6670000"/>
            <a:ext cx="12192000" cy="640000"/>
          </a:xfrm>
          <a:prstGeom prst="rect">
            <a:avLst/>
          </a:prstGeom>
          <a:solidFill>
            <a:srgbClr val="12161C"/>
          </a:solidFill>
          <a:ln>
            <a:noFill/>
          </a:ln>
        </p:spPr>
        <p:txBody>
          <a:bodyPr/>
          <a:lstStyle/>
          <a:p/>
        </p:txBody>
      </p:sp>
      <p:sp>
        <p:nvSpPr>
          <p:cNvPr id="13" name="cml-footer-rule"/>
          <p:cNvSpPr/>
          <p:nvPr/>
        </p:nvSpPr>
        <p:spPr>
          <a:xfrm>
            <a:off x="0" y="6670000"/>
            <a:ext cx="12192000" cy="19050"/>
          </a:xfrm>
          <a:prstGeom prst="rect">
            <a:avLst/>
          </a:prstGeom>
          <a:solidFill>
            <a:srgbClr val="2DD4BF"/>
          </a:solidFill>
          <a:ln>
            <a:noFill/>
          </a:ln>
        </p:spPr>
        <p:txBody>
          <a:bodyPr/>
          <a:lstStyle/>
          <a:p/>
        </p:txBody>
      </p:sp>
      <p:sp>
        <p:nvSpPr>
          <p:cNvPr id="14" name="cml-footer-disclaimer" descr="Educational independent student project. Not affiliated with or endorsed by Cisc"/>
          <p:cNvSpPr txBox="1"/>
          <p:nvPr/>
        </p:nvSpPr>
        <p:spPr>
          <a:xfrm>
            <a:off x="529600" y="6698000"/>
            <a:ext cx="11132800" cy="150000"/>
          </a:xfrm>
          <a:prstGeom prst="rect">
            <a:avLst/>
          </a:prstGeom>
          <a:noFill/>
          <a:ln>
            <a:noFill/>
          </a:ln>
        </p:spPr>
        <p:txBody>
          <a:bodyPr lIns="80000" rIns="80000" tIns="20000" bIns="20000" anchor="ctr" wrap="none" rtlCol="0"/>
          <a:lstStyle/>
          <a:p>
            <a:pPr algn="l"/>
            <a:r>
              <a:rPr lang="en-US" sz="1000" u="none" dirty="0" noProof="1">
                <a:solidFill>
                  <a:srgbClr val="C5CED6"/>
                </a:solidFill>
                <a:latin typeface="Liberation Sans"/>
                <a:ea typeface="Liberation Sans"/>
                <a:cs typeface="Liberation Sans"/>
              </a:rPr>
              <a:t>Educational independent student project. Not affiliated with or endorsed by Cisco or any vendor. Trademarks belong to their owners.</a:t>
            </a:r>
            <a:endParaRPr lang="en-US" sz="1000" u="none"/>
          </a:p>
        </p:txBody>
      </p:sp>
      <p:sp>
        <p:nvSpPr>
          <p:cNvPr id="15" name="cml-footer-copy" descr="Cypher Monkey Labs © 2026 CypherMonkeyLabs"/>
          <p:cNvSpPr txBox="1"/>
          <p:nvPr/>
        </p:nvSpPr>
        <p:spPr>
          <a:xfrm>
            <a:off x="529600" y="6848000"/>
            <a:ext cx="10972800" cy="170000"/>
          </a:xfrm>
          <a:prstGeom prst="rect">
            <a:avLst/>
          </a:prstGeom>
          <a:noFill/>
          <a:ln>
            <a:noFill/>
          </a:ln>
        </p:spPr>
        <p:txBody>
          <a:bodyPr lIns="80000" rIns="80000" tIns="20000" bIns="20000" anchor="ctr" wrap="none" rtlCol="0"/>
          <a:lstStyle/>
          <a:p>
            <a:pPr algn="l"/>
            <a:r>
              <a:rPr lang="en-US" sz="1200" u="none" dirty="0" noProof="1" b="1">
                <a:solidFill>
                  <a:srgbClr val="F7F4EF"/>
                </a:solidFill>
                <a:latin typeface="Liberation Sans"/>
                <a:ea typeface="Liberation Sans"/>
                <a:cs typeface="Liberation Sans"/>
              </a:rPr>
              <a:t>Cypher Monkey Labs © 2026 CypherMonkeyLabs</a:t>
            </a:r>
            <a:endParaRPr lang="en-US" sz="1200" u="none"/>
          </a:p>
        </p:txBody>
      </p:sp>
      <p:pic>
        <p:nvPicPr>
          <p:cNvPr id="16" name="cml-footer-icon-github" descr="GitHub">
            <a:hlinkClick r:id="rId4" tooltip="GitHub — https://github.com/cipher0x9"/>
          </p:cNvPr>
          <p:cNvPicPr>
            <a:picLocks noChangeAspect="1"/>
          </p:cNvPicPr>
          <p:nvPr/>
        </p:nvPicPr>
        <p:blipFill>
          <a:blip r:embed="rId3"/>
          <a:stretch>
            <a:fillRect/>
          </a:stretch>
        </p:blipFill>
        <p:spPr>
          <a:xfrm>
            <a:off x="609600" y="7038000"/>
            <a:ext cx="210000" cy="210000"/>
          </a:xfrm>
          <a:prstGeom prst="rect">
            <a:avLst/>
          </a:prstGeom>
        </p:spPr>
      </p:pic>
      <p:sp>
        <p:nvSpPr>
          <p:cNvPr id="17" name="cml-footer-label-github" descr="GitHub">
            <a:hlinkClick r:id="rId4" tooltip="GitHub — https://github.com/cipher0x9"/>
          </p:cNvPr>
          <p:cNvSpPr txBox="1"/>
          <p:nvPr/>
        </p:nvSpPr>
        <p:spPr>
          <a:xfrm>
            <a:off x="809600" y="7038000"/>
            <a:ext cx="60853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GitHub</a:t>
            </a:r>
            <a:endParaRPr lang="en-US" sz="1200" u="none"/>
          </a:p>
        </p:txBody>
      </p:sp>
      <p:pic>
        <p:nvPicPr>
          <p:cNvPr id="18" name="cml-footer-icon-labs" descr="Labs org">
            <a:hlinkClick r:id="rId5" tooltip="Labs org — https://github.com/CypherMonkeyLabs"/>
          </p:cNvPr>
          <p:cNvPicPr>
            <a:picLocks noChangeAspect="1"/>
          </p:cNvPicPr>
          <p:nvPr/>
        </p:nvPicPr>
        <p:blipFill>
          <a:blip r:embed="rId3"/>
          <a:stretch>
            <a:fillRect/>
          </a:stretch>
        </p:blipFill>
        <p:spPr>
          <a:xfrm>
            <a:off x="1658136" y="7038000"/>
            <a:ext cx="210000" cy="210000"/>
          </a:xfrm>
          <a:prstGeom prst="rect">
            <a:avLst/>
          </a:prstGeom>
        </p:spPr>
      </p:pic>
      <p:sp>
        <p:nvSpPr>
          <p:cNvPr id="19" name="cml-footer-label-labs" descr="Labs org">
            <a:hlinkClick r:id="rId5" tooltip="Labs org — https://github.com/CypherMonkeyLabs"/>
          </p:cNvPr>
          <p:cNvSpPr txBox="1"/>
          <p:nvPr/>
        </p:nvSpPr>
        <p:spPr>
          <a:xfrm>
            <a:off x="1858136" y="7038000"/>
            <a:ext cx="79446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Labs org</a:t>
            </a:r>
            <a:endParaRPr lang="en-US" sz="1200" u="none"/>
          </a:p>
        </p:txBody>
      </p:sp>
      <p:pic>
        <p:nvPicPr>
          <p:cNvPr id="20" name="cml-footer-icon-website" descr="Website">
            <a:hlinkClick r:id="rId7" tooltip="Website — https://cyphermonkeylabs.com"/>
          </p:cNvPr>
          <p:cNvPicPr>
            <a:picLocks noChangeAspect="1"/>
          </p:cNvPicPr>
          <p:nvPr/>
        </p:nvPicPr>
        <p:blipFill>
          <a:blip r:embed="rId6"/>
          <a:stretch>
            <a:fillRect/>
          </a:stretch>
        </p:blipFill>
        <p:spPr>
          <a:xfrm>
            <a:off x="2892599" y="7038000"/>
            <a:ext cx="210000" cy="210000"/>
          </a:xfrm>
          <a:prstGeom prst="rect">
            <a:avLst/>
          </a:prstGeom>
        </p:spPr>
      </p:pic>
      <p:sp>
        <p:nvSpPr>
          <p:cNvPr id="21" name="cml-footer-label-website" descr="Website">
            <a:hlinkClick r:id="rId7" tooltip="Website — https://cyphermonkeylabs.com"/>
          </p:cNvPr>
          <p:cNvSpPr txBox="1"/>
          <p:nvPr/>
        </p:nvSpPr>
        <p:spPr>
          <a:xfrm>
            <a:off x="3092599" y="7038000"/>
            <a:ext cx="754840"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Website</a:t>
            </a:r>
            <a:endParaRPr lang="en-US" sz="1200" u="none"/>
          </a:p>
        </p:txBody>
      </p:sp>
      <p:pic>
        <p:nvPicPr>
          <p:cNvPr id="22" name="cml-footer-icon-x" descr="X">
            <a:hlinkClick r:id="rId9" tooltip="X — https://x.com/Cypher0x9"/>
          </p:cNvPr>
          <p:cNvPicPr>
            <a:picLocks noChangeAspect="1"/>
          </p:cNvPicPr>
          <p:nvPr/>
        </p:nvPicPr>
        <p:blipFill>
          <a:blip r:embed="rId8"/>
          <a:stretch>
            <a:fillRect/>
          </a:stretch>
        </p:blipFill>
        <p:spPr>
          <a:xfrm>
            <a:off x="4087439" y="7038000"/>
            <a:ext cx="210000" cy="210000"/>
          </a:xfrm>
          <a:prstGeom prst="rect">
            <a:avLst/>
          </a:prstGeom>
        </p:spPr>
      </p:pic>
      <p:sp>
        <p:nvSpPr>
          <p:cNvPr id="23" name="cml-footer-label-x" descr="X">
            <a:hlinkClick r:id="rId9" tooltip="X — https://x.com/Cypher0x9"/>
          </p:cNvPr>
          <p:cNvSpPr txBox="1"/>
          <p:nvPr/>
        </p:nvSpPr>
        <p:spPr>
          <a:xfrm>
            <a:off x="4287439" y="7038000"/>
            <a:ext cx="221439"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X</a:t>
            </a:r>
            <a:endParaRPr lang="en-US" sz="1200" u="none"/>
          </a:p>
        </p:txBody>
      </p:sp>
      <p:pic>
        <p:nvPicPr>
          <p:cNvPr id="24" name="cml-footer-icon-linkedin" descr="LinkedIn">
            <a:hlinkClick r:id="rId11" tooltip="LinkedIn — https://www.linkedin.com/in/luckylakshmanucwebex"/>
          </p:cNvPr>
          <p:cNvPicPr>
            <a:picLocks noChangeAspect="1"/>
          </p:cNvPicPr>
          <p:nvPr/>
        </p:nvPicPr>
        <p:blipFill>
          <a:blip r:embed="rId10"/>
          <a:stretch>
            <a:fillRect/>
          </a:stretch>
        </p:blipFill>
        <p:spPr>
          <a:xfrm>
            <a:off x="4748878" y="7038000"/>
            <a:ext cx="210000" cy="210000"/>
          </a:xfrm>
          <a:prstGeom prst="rect">
            <a:avLst/>
          </a:prstGeom>
        </p:spPr>
      </p:pic>
      <p:sp>
        <p:nvSpPr>
          <p:cNvPr id="25" name="cml-footer-label-linkedin" descr="LinkedIn">
            <a:hlinkClick r:id="rId11" tooltip="LinkedIn — https://www.linkedin.com/in/luckylakshmanucwebex"/>
          </p:cNvPr>
          <p:cNvSpPr txBox="1"/>
          <p:nvPr/>
        </p:nvSpPr>
        <p:spPr>
          <a:xfrm>
            <a:off x="4948878" y="7038000"/>
            <a:ext cx="776176"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LinkedIn</a:t>
            </a:r>
            <a:endParaRPr lang="en-US" sz="1200" u="none"/>
          </a:p>
        </p:txBody>
      </p:sp>
      <p:pic>
        <p:nvPicPr>
          <p:cNvPr id="26" name="cml-footer-icon-huggingface" descr="Hugging Face">
            <a:hlinkClick r:id="rId13" tooltip="Hugging Face — https://huggingface.co/Cypher0x9"/>
          </p:cNvPr>
          <p:cNvPicPr>
            <a:picLocks noChangeAspect="1"/>
          </p:cNvPicPr>
          <p:nvPr/>
        </p:nvPicPr>
        <p:blipFill>
          <a:blip r:embed="rId12"/>
          <a:stretch>
            <a:fillRect/>
          </a:stretch>
        </p:blipFill>
        <p:spPr>
          <a:xfrm>
            <a:off x="5965054" y="7038000"/>
            <a:ext cx="210000" cy="210000"/>
          </a:xfrm>
          <a:prstGeom prst="rect">
            <a:avLst/>
          </a:prstGeom>
        </p:spPr>
      </p:pic>
      <p:sp>
        <p:nvSpPr>
          <p:cNvPr id="27" name="cml-footer-label-huggingface" descr="Hugging Face">
            <a:hlinkClick r:id="rId13" tooltip="Hugging Face — https://huggingface.co/Cypher0x9"/>
          </p:cNvPr>
          <p:cNvSpPr txBox="1"/>
          <p:nvPr/>
        </p:nvSpPr>
        <p:spPr>
          <a:xfrm>
            <a:off x="6165054" y="7038000"/>
            <a:ext cx="1144983" cy="210000"/>
          </a:xfrm>
          <a:prstGeom prst="rect">
            <a:avLst/>
          </a:prstGeom>
          <a:noFill/>
          <a:ln>
            <a:noFill/>
          </a:ln>
        </p:spPr>
        <p:txBody>
          <a:bodyPr lIns="80000" rIns="80000" tIns="20000" bIns="20000" anchor="ctr" wrap="none" rtlCol="0"/>
          <a:lstStyle/>
          <a:p>
            <a:pPr algn="l"/>
            <a:r>
              <a:rPr lang="en-US" sz="1200" u="none" dirty="0" noProof="1">
                <a:solidFill>
                  <a:srgbClr val="F7F4EF"/>
                </a:solidFill>
                <a:latin typeface="Liberation Sans"/>
                <a:ea typeface="Liberation Sans"/>
                <a:cs typeface="Liberation Sans"/>
              </a:rPr>
              <a:t>Hugging Face</a:t>
            </a:r>
            <a:endParaRPr lang="en-US" sz="1200" u="none"/>
          </a:p>
        </p:txBody>
      </p:sp>
    </p:spTree>
  </p:cSld>
  <p:clrMapOvr>
    <a:masterClrMapping/>
  </p:clrMapOvr>
  <p:transition spd="fast" advClick="1">
    <p:split orient="horz" dir="out"/>
  </p:transition>
</p:sld>
</file>

<file path=ppt/theme/theme1.xml><?xml version="1.0" encoding="utf-8"?>
<a:theme xmlns:a="http://schemas.openxmlformats.org/drawingml/2006/main" name="PPTD">
  <a:themeElements>
    <a:clrScheme name="PPTD">
      <a:dk1>
        <a:srgbClr val="000000"/>
      </a:dk1>
      <a:lt1>
        <a:srgbClr val="FFFFFF"/>
      </a:lt1>
      <a:dk2>
        <a:srgbClr val="1F2937"/>
      </a:dk2>
      <a:lt2>
        <a:srgbClr val="F3F4F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PTD">
      <a:majorFont>
        <a:latin typeface="MiSans"/>
        <a:ea typeface="MiSans"/>
        <a:cs typeface="MiSans"/>
      </a:majorFont>
      <a:minorFont>
        <a:latin typeface="MiSans"/>
        <a:ea typeface="MiSans"/>
        <a:cs typeface="MiSans"/>
      </a:minorFont>
    </a:fontScheme>
    <a:fmtScheme name="PPTD">
      <a:fillStyleLst>
        <a:solidFill>
          <a:schemeClr val="accent1"/>
        </a:solidFill>
        <a:solidFill>
          <a:schemeClr val="accent2"/>
        </a:solidFill>
        <a:solidFill>
          <a:schemeClr val="accent3"/>
        </a:solidFill>
      </a:fillStyleLst>
      <a:lnStyleLst>
        <a:ln w="6350" cap="flat" cmpd="sng" algn="ctr">
          <a:solidFill>
            <a:schemeClr val="accent1"/>
          </a:solidFill>
          <a:prstDash val="solid"/>
        </a:ln>
        <a:ln w="12700" cap="flat" cmpd="sng" algn="ctr">
          <a:solidFill>
            <a:schemeClr val="accent1"/>
          </a:solidFill>
          <a:prstDash val="solid"/>
        </a:ln>
        <a:ln w="19050" cap="flat" cmpd="sng" algn="ctr">
          <a:solidFill>
            <a:schemeClr val="accent1"/>
          </a:solidFill>
          <a:prstDash val="solid"/>
        </a:ln>
      </a:lnStyleLst>
      <a:effectStyleLst>
        <a:effectStyle>
          <a:effectLst/>
        </a:effectStyle>
        <a:effectStyle>
          <a:effectLst/>
        </a:effectStyle>
        <a:effectStyle>
          <a:effectLst/>
        </a:effectStyle>
      </a:effectStyleLst>
      <a:bgFillStyleLst>
        <a:solidFill>
          <a:schemeClr val="lt1"/>
        </a:solidFill>
        <a:solidFill>
          <a:schemeClr val="lt2"/>
        </a:solidFill>
        <a:solidFill>
          <a:schemeClr val="dk1"/>
        </a:solidFill>
      </a:bgFillStyleLst>
    </a:fmtScheme>
  </a:themeElements>
</a:theme>
</file>

<file path=docProps/app.xml><?xml version="1.0" encoding="utf-8"?>
<Properties xmlns="http://schemas.openxmlformats.org/officeDocument/2006/extended-properties">
  <Slides>63</Slides>
</Properties>
</file>

<file path=docProps/core.xml><?xml version="1.0" encoding="utf-8"?>
<cp:coreProperties xmlns:dc="http://purl.org/dc/elements/1.1/" xmlns:cp="http://schemas.openxmlformats.org/package/2006/metadata/core-properties">
  <dc:title>Enterprise Voice with Cisco — Technologies, Contact Center &amp; Cloud Migration</dc:title>
  <dc:subject>Enterprise Voice with Cisco — Technologies, Contact Center &amp; Cloud Migration</dc:subject>
  <dc:creator>CYPHER0X9</dc:creator>
</cp:coreProperties>
</file>